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728655" cy="466344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280160" y="1645920"/>
            <a:ext cx="4114800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D4FF"/>
                </a:solidFill>
              </a:defRPr>
            </a:pPr>
            <a:r>
              <a:t>⚡ TELECOM DIGITAL TWIN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240280"/>
            <a:ext cx="9601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Digital Twin Adapters &amp; Standards</a:t>
            </a:r>
          </a:p>
          <a:p>
            <a:pPr>
              <a:spcBef>
                <a:spcPts val="1200"/>
              </a:spcBef>
              <a:defRPr sz="1600">
                <a:solidFill>
                  <a:srgbClr val="C084FC"/>
                </a:solidFill>
              </a:defRPr>
            </a:pPr>
            <a:r>
              <a:t>How Intent, ETSI TeraFlowSDN, NS-3 Co-Simulation, and Ceragon Microwave Hardware Interconnect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93192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300">
                <a:solidFill>
                  <a:srgbClr val="00D4FF"/>
                </a:solidFill>
              </a:rPr>
              <a:t>• What are the Adapters?</a:t>
            </a:r>
            <a:r>
              <a:rPr sz="1300">
                <a:solidFill>
                  <a:srgbClr val="94A3B8"/>
                </a:solidFill>
              </a:rPr>
              <a:t> Software translators bridging heterogeneous timing, data formats, and control protocols.</a:t>
            </a:r>
          </a:p>
          <a:p>
            <a:pPr>
              <a:spcBef>
                <a:spcPts val="600"/>
              </a:spcBef>
            </a:pPr>
            <a:r>
              <a:rPr b="1" sz="1300">
                <a:solidFill>
                  <a:srgbClr val="00D4FF"/>
                </a:solidFill>
              </a:rPr>
              <a:t>• International Standards:</a:t>
            </a:r>
            <a:r>
              <a:rPr sz="1300">
                <a:solidFill>
                  <a:srgbClr val="94A3B8"/>
                </a:solidFill>
              </a:rPr>
              <a:t> Anchored in TM Forum TMF921, 3GPP TS 28.561, ITU-T Y.3090, IETF DTI, and RFC 8040 RESTCONF.</a:t>
            </a:r>
          </a:p>
          <a:p>
            <a:pPr>
              <a:spcBef>
                <a:spcPts val="600"/>
              </a:spcBef>
            </a:pPr>
            <a:r>
              <a:rPr b="1" sz="1300">
                <a:solidFill>
                  <a:srgbClr val="00D4FF"/>
                </a:solidFill>
              </a:rPr>
              <a:t>• Closed-Loop Automation:</a:t>
            </a:r>
            <a:r>
              <a:rPr sz="1300">
                <a:solidFill>
                  <a:srgbClr val="94A3B8"/>
                </a:solidFill>
              </a:rPr>
              <a:t> Zero-risk What-If discrete prediction prior to physical hardware 2-phase commit actuation.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516636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Ceragon Networks &amp; ETSI TeraFlowSDN Research • Standalone &amp; Production Hybrid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D4FF"/>
                </a:solidFill>
              </a:defRPr>
            </a:pPr>
            <a:r>
              <a:t>THE PROBLEM &amp; ARCHITECTURAL NEED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The Core Problem: Why Do We Need Adapters?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10728655" cy="868680"/>
          </a:xfrm>
          <a:prstGeom prst="roundRect">
            <a:avLst/>
          </a:prstGeom>
          <a:solidFill>
            <a:srgbClr val="1A2639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ctr">
              <a:defRPr sz="1300" b="1">
                <a:solidFill>
                  <a:srgbClr val="F8FAFC"/>
                </a:solidFill>
              </a:defRPr>
            </a:pPr>
            <a:r>
              <a:t>💡 In a Telecom Digital Twin, components speak completely different languages and operate at vastly different timescales. Adapters are the critical translators that bridge this semantic and temporal chasm.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2523744" cy="384048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sz="1400" b="1">
                <a:solidFill>
                  <a:srgbClr val="C084FC"/>
                </a:solidFill>
              </a:defRPr>
            </a:pPr>
            <a:r>
              <a:t>1. Declarative Intent</a:t>
            </a:r>
          </a:p>
          <a:p>
            <a:pPr>
              <a:spcBef>
                <a:spcPts val="400"/>
              </a:spcBef>
              <a:defRPr sz="1100" b="1">
                <a:solidFill>
                  <a:srgbClr val="F8FAFC"/>
                </a:solidFill>
              </a:defRPr>
            </a:pPr>
            <a:r>
              <a:t>Human Operator / SLA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94A3B8"/>
                </a:solidFill>
              </a:rPr>
              <a:t>Speaks:
</a:t>
            </a:r>
            <a:r>
              <a:rPr sz="1000">
                <a:solidFill>
                  <a:srgbClr val="F8FAFC"/>
                </a:solidFill>
              </a:rPr>
              <a:t>Natural Language / JSON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94A3B8"/>
                </a:solidFill>
              </a:rPr>
              <a:t>Timescale:
</a:t>
            </a:r>
            <a:r>
              <a:rPr sz="1000">
                <a:solidFill>
                  <a:srgbClr val="F8FAFC"/>
                </a:solidFill>
              </a:rPr>
              <a:t>Minutes to Days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94A3B8"/>
                </a:solidFill>
              </a:rPr>
              <a:t>Key Data:
</a:t>
            </a:r>
            <a:r>
              <a:rPr sz="1000">
                <a:solidFill>
                  <a:srgbClr val="F8FAFC"/>
                </a:solidFill>
              </a:rPr>
              <a:t>"Ensure URLLC latency &lt; 1.5ms and 99.999% availability during storms"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65576" y="2560320"/>
            <a:ext cx="2523744" cy="384048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sz="1400" b="1">
                <a:solidFill>
                  <a:srgbClr val="00D4FF"/>
                </a:solidFill>
              </a:defRPr>
            </a:pPr>
            <a:r>
              <a:t>2. SDN Controller</a:t>
            </a:r>
          </a:p>
          <a:p>
            <a:pPr>
              <a:spcBef>
                <a:spcPts val="400"/>
              </a:spcBef>
              <a:defRPr sz="1100" b="1">
                <a:solidFill>
                  <a:srgbClr val="F8FAFC"/>
                </a:solidFill>
              </a:defRPr>
            </a:pPr>
            <a:r>
              <a:t>ETSI TeraFlowSDN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94A3B8"/>
                </a:solidFill>
              </a:rPr>
              <a:t>Speaks:
</a:t>
            </a:r>
            <a:r>
              <a:rPr sz="1000">
                <a:solidFill>
                  <a:srgbClr val="F8FAFC"/>
                </a:solidFill>
              </a:rPr>
              <a:t>Context DB, gRPC, CSPF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94A3B8"/>
                </a:solidFill>
              </a:rPr>
              <a:t>Timescale:
</a:t>
            </a:r>
            <a:r>
              <a:rPr sz="1000">
                <a:solidFill>
                  <a:srgbClr val="F8FAFC"/>
                </a:solidFill>
              </a:rPr>
              <a:t>Seconds (Control Plane)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94A3B8"/>
                </a:solidFill>
              </a:rPr>
              <a:t>Key Data:
</a:t>
            </a:r>
            <a:r>
              <a:rPr sz="1000">
                <a:solidFill>
                  <a:srgbClr val="F8FAFC"/>
                </a:solidFill>
              </a:rPr>
              <a:t>Device UUIDs, Endpoints, Topology Graphs, TI-LFA backup paths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2560320"/>
            <a:ext cx="2523744" cy="384048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3. Discrete Simulator</a:t>
            </a:r>
          </a:p>
          <a:p>
            <a:pPr>
              <a:spcBef>
                <a:spcPts val="400"/>
              </a:spcBef>
              <a:defRPr sz="1100" b="1">
                <a:solidFill>
                  <a:srgbClr val="F8FAFC"/>
                </a:solidFill>
              </a:defRPr>
            </a:pPr>
            <a:r>
              <a:t>NS-3 Discrete Core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94A3B8"/>
                </a:solidFill>
              </a:rPr>
              <a:t>Speaks:
</a:t>
            </a:r>
            <a:r>
              <a:rPr sz="1000">
                <a:solidFill>
                  <a:srgbClr val="F8FAFC"/>
                </a:solidFill>
              </a:rPr>
              <a:t>C++ Event Queue &amp; Packets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94A3B8"/>
                </a:solidFill>
              </a:rPr>
              <a:t>Timescale:
</a:t>
            </a:r>
            <a:r>
              <a:rPr sz="1000">
                <a:solidFill>
                  <a:srgbClr val="F8FAFC"/>
                </a:solidFill>
              </a:rPr>
              <a:t>Microseconds (t = 0.000s)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94A3B8"/>
                </a:solidFill>
              </a:rPr>
              <a:t>Key Data:
</a:t>
            </a:r>
            <a:r>
              <a:rPr sz="1000">
                <a:solidFill>
                  <a:srgbClr val="F8FAFC"/>
                </a:solidFill>
              </a:rPr>
              <a:t>QueueDisc buffer drops, WiFi EDCA AC_VO, link propagation delay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33688" y="2560320"/>
            <a:ext cx="2523744" cy="384048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4. Physical Hardware</a:t>
            </a:r>
          </a:p>
          <a:p>
            <a:pPr>
              <a:spcBef>
                <a:spcPts val="400"/>
              </a:spcBef>
              <a:defRPr sz="1100" b="1">
                <a:solidFill>
                  <a:srgbClr val="F8FAFC"/>
                </a:solidFill>
              </a:defRPr>
            </a:pPr>
            <a:r>
              <a:t>Ceragon MH-T261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94A3B8"/>
                </a:solidFill>
              </a:rPr>
              <a:t>Speaks:
</a:t>
            </a:r>
            <a:r>
              <a:rPr sz="1000">
                <a:solidFill>
                  <a:srgbClr val="F8FAFC"/>
                </a:solidFill>
              </a:rPr>
              <a:t>RFC 8040 RESTCONF &amp; PHY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94A3B8"/>
                </a:solidFill>
              </a:rPr>
              <a:t>Timescale:
</a:t>
            </a:r>
            <a:r>
              <a:rPr sz="1000">
                <a:solidFill>
                  <a:srgbClr val="F8FAFC"/>
                </a:solidFill>
              </a:rPr>
              <a:t>Sub-millisecond Hardware</a:t>
            </a:r>
          </a:p>
          <a:p>
            <a:pPr>
              <a:spcBef>
                <a:spcPts val="800"/>
              </a:spcBef>
            </a:pPr>
            <a:r>
              <a:rPr sz="1000" b="1">
                <a:solidFill>
                  <a:srgbClr val="94A3B8"/>
                </a:solidFill>
              </a:rPr>
              <a:t>Key Data:
</a:t>
            </a:r>
            <a:r>
              <a:rPr sz="1000">
                <a:solidFill>
                  <a:srgbClr val="F8FAFC"/>
                </a:solidFill>
              </a:rPr>
              <a:t>V-Band 60.48 GHz, ACM MCS 0-9, PHY RSSI/SNR, RF registers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D4FF"/>
                </a:solidFill>
              </a:defRPr>
            </a:pPr>
            <a:r>
              <a:t>INTERNATIONAL STANDARDS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Standards for Digital Twin APIs We Use &amp; What They Are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29000" cy="233172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/>
            <a:r>
              <a:rPr sz="1300" b="1">
                <a:solidFill>
                  <a:srgbClr val="10B981"/>
                </a:solidFill>
              </a:rPr>
              <a:t>3GPP TS 28.561  </a:t>
            </a:r>
            <a:r>
              <a:rPr sz="900" b="1">
                <a:solidFill>
                  <a:srgbClr val="94A3B8"/>
                </a:solidFill>
              </a:rPr>
              <a:t>[PRIMARY APPROVED ANCHOR]</a:t>
            </a:r>
          </a:p>
          <a:p>
            <a:pPr>
              <a:spcBef>
                <a:spcPts val="200"/>
              </a:spcBef>
              <a:defRPr sz="1100" b="1">
                <a:solidFill>
                  <a:srgbClr val="F8FAFC"/>
                </a:solidFill>
              </a:defRPr>
            </a:pPr>
            <a:r>
              <a:t>NDT Management Service &amp; NdtJob Model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94A3B8"/>
                </a:solidFill>
              </a:rPr>
              <a:t>Standard: </a:t>
            </a:r>
            <a:r>
              <a:rPr sz="950">
                <a:solidFill>
                  <a:srgbClr val="F8FAFC"/>
                </a:solidFill>
              </a:rPr>
              <a:t>Approved 3GPP Rel-18/19 specification standardizing the NDT_MnS, NdtJob model, and simulation result semantics.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00D4FF"/>
                </a:solidFill>
              </a:rPr>
              <a:t>In Our Platform: </a:t>
            </a:r>
            <a:r>
              <a:rPr sz="950">
                <a:solidFill>
                  <a:srgbClr val="F8FAFC"/>
                </a:solidFill>
              </a:rPr>
              <a:t>Primary Anchor for TeraFlow-to-NS-3: TFS instantiates an NdtSimulationJob, runs scoped co-simulation, and ingests standardized SimulationResult (PDB, PER, breach prediction).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9976" y="1554480"/>
            <a:ext cx="3429000" cy="233172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/>
            <a:r>
              <a:rPr sz="1300" b="1">
                <a:solidFill>
                  <a:srgbClr val="00D4FF"/>
                </a:solidFill>
              </a:rPr>
              <a:t>ITU-T Q.5040  </a:t>
            </a:r>
            <a:r>
              <a:rPr sz="900" b="1">
                <a:solidFill>
                  <a:srgbClr val="94A3B8"/>
                </a:solidFill>
              </a:rPr>
              <a:t>[FUTURE SIGNALING PROTOCOL]</a:t>
            </a:r>
          </a:p>
          <a:p>
            <a:pPr>
              <a:spcBef>
                <a:spcPts val="200"/>
              </a:spcBef>
              <a:defRPr sz="1100" b="1">
                <a:solidFill>
                  <a:srgbClr val="F8FAFC"/>
                </a:solidFill>
              </a:defRPr>
            </a:pPr>
            <a:r>
              <a:t>Signaling Architecture &amp; Control for DTN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94A3B8"/>
                </a:solidFill>
              </a:rPr>
              <a:t>Standard: </a:t>
            </a:r>
            <a:r>
              <a:rPr sz="950">
                <a:solidFill>
                  <a:srgbClr val="F8FAFC"/>
                </a:solidFill>
              </a:rPr>
              <a:t>ITU-T SG11 standard defining signaling procedures for simulation task invocation (Sim-Task-Req), execution control, and KPI streaming.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00D4FF"/>
                </a:solidFill>
              </a:rPr>
              <a:t>In Our Platform: </a:t>
            </a:r>
            <a:r>
              <a:rPr sz="950">
                <a:solidFill>
                  <a:srgbClr val="F8FAFC"/>
                </a:solidFill>
              </a:rPr>
              <a:t>The likely future signaling standard over the wire for our REST/JSON and SSH RPC bridge between TeraFlowSDN and NS-3 on cersrv-029.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28431" y="1554480"/>
            <a:ext cx="3429000" cy="233172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/>
            <a:r>
              <a:rPr sz="1300" b="1">
                <a:solidFill>
                  <a:srgbClr val="C084FC"/>
                </a:solidFill>
              </a:rPr>
              <a:t>ITU-T Y.3090 / Y.3092  </a:t>
            </a:r>
            <a:r>
              <a:rPr sz="900" b="1">
                <a:solidFill>
                  <a:srgbClr val="94A3B8"/>
                </a:solidFill>
              </a:rPr>
              <a:t>[DTN ARCH &amp; MMEF]</a:t>
            </a:r>
          </a:p>
          <a:p>
            <a:pPr>
              <a:spcBef>
                <a:spcPts val="200"/>
              </a:spcBef>
              <a:defRPr sz="1100" b="1">
                <a:solidFill>
                  <a:srgbClr val="F8FAFC"/>
                </a:solidFill>
              </a:defRPr>
            </a:pPr>
            <a:r>
              <a:t>DTN Architecture &amp; Model Management (MMEF)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94A3B8"/>
                </a:solidFill>
              </a:rPr>
              <a:t>Standard: </a:t>
            </a:r>
            <a:r>
              <a:rPr sz="950">
                <a:solidFill>
                  <a:srgbClr val="F8FAFC"/>
                </a:solidFill>
              </a:rPr>
              <a:t>ITU-T SG13 3-layer DTN model (Y.3090) and Model Management &amp; Execution Framework (Y.3092) for model fidelity selection.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00D4FF"/>
                </a:solidFill>
              </a:rPr>
              <a:t>In Our Platform: </a:t>
            </a:r>
            <a:r>
              <a:rPr sz="950">
                <a:solidFill>
                  <a:srgbClr val="F8FAFC"/>
                </a:solidFill>
              </a:rPr>
              <a:t>Dictates our 5-Tier Simulation Resolution Governor (balancing model accuracy vs computation time) and shadow datastore sync.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69080"/>
            <a:ext cx="3429000" cy="233172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/>
            <a:r>
              <a:rPr sz="1300" b="1">
                <a:solidFill>
                  <a:srgbClr val="C084FC"/>
                </a:solidFill>
              </a:rPr>
              <a:t>TM Forum TMF921  </a:t>
            </a:r>
            <a:r>
              <a:rPr sz="900" b="1">
                <a:solidFill>
                  <a:srgbClr val="94A3B8"/>
                </a:solidFill>
              </a:rPr>
              <a:t>[BUSINESS &amp; SLA]</a:t>
            </a:r>
          </a:p>
          <a:p>
            <a:pPr>
              <a:spcBef>
                <a:spcPts val="200"/>
              </a:spcBef>
              <a:defRPr sz="1100" b="1">
                <a:solidFill>
                  <a:srgbClr val="F8FAFC"/>
                </a:solidFill>
              </a:defRPr>
            </a:pPr>
            <a:r>
              <a:t>Intent Management REST API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94A3B8"/>
                </a:solidFill>
              </a:rPr>
              <a:t>Standard: </a:t>
            </a:r>
            <a:r>
              <a:rPr sz="950">
                <a:solidFill>
                  <a:srgbClr val="F8FAFC"/>
                </a:solidFill>
              </a:rPr>
              <a:t>REST API standard for expressing declarative network intent and SLA expectations.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00D4FF"/>
                </a:solidFill>
              </a:rPr>
              <a:t>In Our Platform: </a:t>
            </a:r>
            <a:r>
              <a:rPr sz="950">
                <a:solidFill>
                  <a:srgbClr val="F8FAFC"/>
                </a:solidFill>
              </a:rPr>
              <a:t>Operator defines latency (&lt; 1.5ms) and availability without writing low-level scripts. Tracks intent state: Acknowledged → In Evaluation → Compliant.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9976" y="4069080"/>
            <a:ext cx="3429000" cy="233172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/>
            <a:r>
              <a:rPr sz="1300" b="1">
                <a:solidFill>
                  <a:srgbClr val="00D4FF"/>
                </a:solidFill>
              </a:rPr>
              <a:t>IETF RFC 8040 / 7950  </a:t>
            </a:r>
            <a:r>
              <a:rPr sz="900" b="1">
                <a:solidFill>
                  <a:srgbClr val="94A3B8"/>
                </a:solidFill>
              </a:rPr>
              <a:t>[HARDWARE SBI]</a:t>
            </a:r>
          </a:p>
          <a:p>
            <a:pPr>
              <a:spcBef>
                <a:spcPts val="200"/>
              </a:spcBef>
              <a:defRPr sz="1100" b="1">
                <a:solidFill>
                  <a:srgbClr val="F8FAFC"/>
                </a:solidFill>
              </a:defRPr>
            </a:pPr>
            <a:r>
              <a:t>RESTCONF Protocol &amp; YANG 1.1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94A3B8"/>
                </a:solidFill>
              </a:rPr>
              <a:t>Standard: </a:t>
            </a:r>
            <a:r>
              <a:rPr sz="950">
                <a:solidFill>
                  <a:srgbClr val="F8FAFC"/>
                </a:solidFill>
              </a:rPr>
              <a:t>IETF standard for HTTP-based network device management accessing YANG data stores.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00D4FF"/>
                </a:solidFill>
              </a:rPr>
              <a:t>In Our Platform: </a:t>
            </a:r>
            <a:r>
              <a:rPr sz="950">
                <a:solidFill>
                  <a:srgbClr val="F8FAFC"/>
                </a:solidFill>
              </a:rPr>
              <a:t>Southbound interface to Ceragon MH-T261 (192.168.1.225:80). Provides Candidate Datastore staging, diff validation, and 2-Phase Commit (2PC).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8431" y="4069080"/>
            <a:ext cx="3429000" cy="233172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/>
          <a:lstStyle/>
          <a:p>
            <a:pPr algn="ctr"/>
            <a:r>
              <a:rPr sz="1300" b="1">
                <a:solidFill>
                  <a:srgbClr val="C084FC"/>
                </a:solidFill>
              </a:rPr>
              <a:t>ETSI TeraFlowSDN APIs  </a:t>
            </a:r>
            <a:r>
              <a:rPr sz="900" b="1">
                <a:solidFill>
                  <a:srgbClr val="94A3B8"/>
                </a:solidFill>
              </a:rPr>
              <a:t>[SDN CONTROL]</a:t>
            </a:r>
          </a:p>
          <a:p>
            <a:pPr>
              <a:spcBef>
                <a:spcPts val="200"/>
              </a:spcBef>
              <a:defRPr sz="1100" b="1">
                <a:solidFill>
                  <a:srgbClr val="F8FAFC"/>
                </a:solidFill>
              </a:defRPr>
            </a:pPr>
            <a:r>
              <a:t>Cloud-Native SDN Controller Microservices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94A3B8"/>
                </a:solidFill>
              </a:rPr>
              <a:t>Standard: </a:t>
            </a:r>
            <a:r>
              <a:rPr sz="950">
                <a:solidFill>
                  <a:srgbClr val="F8FAFC"/>
                </a:solidFill>
              </a:rPr>
              <a:t>ETSI standard cloud-native gRPC microservices pipeline for autonomous transport networks.</a:t>
            </a:r>
          </a:p>
          <a:p>
            <a:pPr>
              <a:spcBef>
                <a:spcPts val="400"/>
              </a:spcBef>
            </a:pPr>
            <a:r>
              <a:rPr b="1" sz="950">
                <a:solidFill>
                  <a:srgbClr val="00D4FF"/>
                </a:solidFill>
              </a:rPr>
              <a:t>In Our Platform: </a:t>
            </a:r>
            <a:r>
              <a:rPr sz="950">
                <a:solidFill>
                  <a:srgbClr val="F8FAFC"/>
                </a:solidFill>
              </a:rPr>
              <a:t>Exposes Context Service (gRPC :10010), Service/PCE (gRPC :10030), Device Driver (gRPC :10020), and Monitoring Telemetry Daemon (gRPC :10040).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D4FF"/>
                </a:solidFill>
              </a:defRPr>
            </a:pPr>
            <a:r>
              <a:t>HOW THE ADAPTER 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Adapter 1: TeraFlow-to-NS-3 Simulation Adapter (3GPP TS 28.561 &amp; Q.5040)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6583680" cy="489204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400" b="1">
                <a:solidFill>
                  <a:srgbClr val="00D4FF"/>
                </a:solidFill>
              </a:defRPr>
            </a:pPr>
            <a:r>
              <a:t>🔁 Step-by-Step Functional Flow (3GPP TS 28.561 &amp; Q.5040)</a:t>
            </a:r>
          </a:p>
          <a:p>
            <a:pPr>
              <a:spcBef>
                <a:spcPts val="400"/>
              </a:spcBef>
            </a:pPr>
            <a:r>
              <a:rPr sz="1150" b="1">
                <a:solidFill>
                  <a:srgbClr val="C084FC"/>
                </a:solidFill>
              </a:rPr>
              <a:t>
Step 1: TFS Context → 3GPP NDTI State Sync
</a:t>
            </a:r>
            <a:r>
              <a:rPr sz="1050">
                <a:solidFill>
                  <a:srgbClr val="F8FAFC"/>
                </a:solidFill>
              </a:rPr>
              <a:t>The adapter queries ETSI TeraFlowSDN (:8088 Context) to populate the active 3GPP Network Digital Twin Instance (NDTI) with live 34-node topology, link capacities, and Ceragon RF metrics (RSSI -58 dBm, MCS 8).</a:t>
            </a:r>
          </a:p>
          <a:p>
            <a:pPr>
              <a:spcBef>
                <a:spcPts val="400"/>
              </a:spcBef>
            </a:pPr>
            <a:r>
              <a:rPr sz="1150" b="1">
                <a:solidFill>
                  <a:srgbClr val="10B981"/>
                </a:solidFill>
              </a:rPr>
              <a:t>
Step 2: 3GPP NdtJob Creation &amp; Y.3092 Scoping
</a:t>
            </a:r>
            <a:r>
              <a:rPr sz="1050">
                <a:solidFill>
                  <a:srgbClr val="F8FAFC"/>
                </a:solidFill>
              </a:rPr>
              <a:t>Instantiates a standardized 3GPP NdtSimulationJob. The ITU-T Y.3092 Governor automatically scopes the graph to Tier 4: URLLC Micro-Packet (23 nodes, 95% fidelity) executing in ~1150ms.</a:t>
            </a:r>
          </a:p>
          <a:p>
            <a:pPr>
              <a:spcBef>
                <a:spcPts val="400"/>
              </a:spcBef>
            </a:pPr>
            <a:r>
              <a:rPr sz="1150" b="1">
                <a:solidFill>
                  <a:srgbClr val="00D4FF"/>
                </a:solidFill>
              </a:rPr>
              <a:t>
Step 3: Q.5040 Simulation Task Signaling
</a:t>
            </a:r>
            <a:r>
              <a:rPr sz="1050">
                <a:solidFill>
                  <a:srgbClr val="F8FAFC"/>
                </a:solidFill>
              </a:rPr>
              <a:t>Dispatches task to discrete core on cersrv-029 following the ITU-T Q.5040 signaling pattern (Sim-Task-Req), injecting a 3.5x bulk traffic surge (bufferbloat) or ITU-R P.838 rain fade.</a:t>
            </a:r>
          </a:p>
          <a:p>
            <a:pPr>
              <a:spcBef>
                <a:spcPts val="400"/>
              </a:spcBef>
            </a:pPr>
            <a:r>
              <a:rPr sz="1150" b="1">
                <a:solidFill>
                  <a:srgbClr val="F59E0B"/>
                </a:solidFill>
              </a:rPr>
              <a:t>
Step 4: 3GPP SimulationResult Semantics &amp; Trace Ingestion
</a:t>
            </a:r>
            <a:r>
              <a:rPr sz="1050">
                <a:solidFill>
                  <a:srgbClr val="F8FAFC"/>
                </a:solidFill>
              </a:rPr>
              <a:t>Ingests standardized 3GPP SimulationResult semantics (predicted PDB latency, PER loss, queue depth, slaBreachPredicted verdict) and discrete NetAnim trace to gate physical actuation.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25512" y="1508760"/>
            <a:ext cx="3931920" cy="489204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t>⚙️ Key Implementation Features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00D4FF"/>
                </a:solidFill>
              </a:rPr>
              <a:t>
• 3GPP TS 28.561 NDT_MnS: </a:t>
            </a:r>
            <a:r>
              <a:rPr sz="1000">
                <a:solidFill>
                  <a:srgbClr val="94A3B8"/>
                </a:solidFill>
              </a:rPr>
              <a:t>Implements approved 3GPP NDT management service operations: job parameterization, target subnetwork scoping, and simulation result semantics.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00D4FF"/>
                </a:solidFill>
              </a:rPr>
              <a:t>
• ITU-T Q.5040 Signaling: </a:t>
            </a:r>
            <a:r>
              <a:rPr sz="1000">
                <a:solidFill>
                  <a:srgbClr val="94A3B8"/>
                </a:solidFill>
              </a:rPr>
              <a:t>Adopts the emerging Q.5040 task invocation and report signaling pattern between ETSI TeraFlowSDN and the remote NS-3 simulation engine.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00D4FF"/>
                </a:solidFill>
              </a:rPr>
              <a:t>
• Multi-Tier Y.3092 Governor: </a:t>
            </a:r>
            <a:r>
              <a:rPr sz="1000">
                <a:solidFill>
                  <a:srgbClr val="94A3B8"/>
                </a:solidFill>
              </a:rPr>
              <a:t>5 Resolution Tiers (Macro-Topology 25%, Queue Dynamics 55%, Physical RF 75%, URLLC 95%, Green Energy 20%).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00D4FF"/>
                </a:solidFill>
              </a:rPr>
              <a:t>
• NetAnim Discrete Replay: </a:t>
            </a:r>
            <a:r>
              <a:rPr sz="1000">
                <a:solidFill>
                  <a:srgbClr val="94A3B8"/>
                </a:solidFill>
              </a:rPr>
              <a:t>Instruments AnimationInterface for real timeline playback (0.000s - 2.500s) with 10 visual buffer slots and tail-drop alerts.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00D4FF"/>
                </a:solidFill>
              </a:rPr>
              <a:t>
• Remote Execution Core: </a:t>
            </a:r>
            <a:r>
              <a:rPr sz="1000">
                <a:solidFill>
                  <a:srgbClr val="94A3B8"/>
                </a:solidFill>
              </a:rPr>
              <a:t>Dispatches via SSH/JSON to ns-3.45 on efid@cersrv-029; falls back to analytical local simulation for zero-dependency standalone mode.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00D4FF"/>
                </a:solidFill>
              </a:rPr>
              <a:t>
• Multi-Tier Governor: </a:t>
            </a:r>
            <a:r>
              <a:rPr sz="1000">
                <a:solidFill>
                  <a:srgbClr val="94A3B8"/>
                </a:solidFill>
              </a:rPr>
              <a:t>5 Resolution Tiers (Macro-Topology 25%, Queue Dynamics 55%, Physical RF 75%, URLLC 95%, Green Energy 20%).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00D4FF"/>
                </a:solidFill>
              </a:rPr>
              <a:t>
• NetAnim XML Output: </a:t>
            </a:r>
            <a:r>
              <a:rPr sz="1000">
                <a:solidFill>
                  <a:srgbClr val="94A3B8"/>
                </a:solidFill>
              </a:rPr>
              <a:t>Instruments AnimationInterface for real timeline playback (0.000s - 2.500s) with 10 visual buffer slots and tail-drop alerts.</a:t>
            </a:r>
          </a:p>
          <a:p>
            <a:pPr>
              <a:spcBef>
                <a:spcPts val="400"/>
              </a:spcBef>
            </a:pPr>
            <a:r>
              <a:rPr sz="1050" b="1">
                <a:solidFill>
                  <a:srgbClr val="00D4FF"/>
                </a:solidFill>
              </a:rPr>
              <a:t>
• Deterministic TSN Mapping: </a:t>
            </a:r>
            <a:r>
              <a:rPr sz="1000">
                <a:solidFill>
                  <a:srgbClr val="94A3B8"/>
                </a:solidFill>
              </a:rPr>
              <a:t>Maps 802.1Q PCP Class 6 &amp; EDCA AC_VO into PfifoFast Band 0 priority queues.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D4FF"/>
                </a:solidFill>
              </a:defRPr>
            </a:pPr>
            <a:r>
              <a:t>PHYSICAL ACTUATION &amp; TELEMETRY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Adapter 2: TFS Southbound &amp; Hardware Driver Adapter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429000" cy="393192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C084FC"/>
                </a:solidFill>
              </a:defRPr>
            </a:pPr>
            <a:r>
              <a:t>📝 STAGE 1</a:t>
            </a:r>
          </a:p>
          <a:p>
            <a:pPr>
              <a:spcBef>
                <a:spcPts val="300"/>
              </a:spcBef>
              <a:defRPr sz="1300" b="1">
                <a:solidFill>
                  <a:srgbClr val="F8FAFC"/>
                </a:solidFill>
              </a:defRPr>
            </a:pPr>
            <a:r>
              <a:t>Candidate Datastore Staging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Translates AI Decision Engine output into concrete YANG configuration rules staged in ETSI TeraFlowSDN's Candidate Datastore (RFC 8040).</a:t>
            </a:r>
          </a:p>
          <a:p>
            <a:pPr>
              <a:spcBef>
                <a:spcPts val="400"/>
              </a:spcBef>
              <a:defRPr sz="950">
                <a:solidFill>
                  <a:srgbClr val="F8FAFC"/>
                </a:solidFill>
              </a:defRPr>
            </a:pPr>
            <a:r>
              <a:t>• Target Device: Ceragon MH-T261 (UUID f676623c...)</a:t>
            </a:r>
          </a:p>
          <a:p>
            <a:pPr>
              <a:spcBef>
                <a:spcPts val="400"/>
              </a:spcBef>
              <a:defRPr sz="950">
                <a:solidFill>
                  <a:srgbClr val="F8FAFC"/>
                </a:solidFill>
              </a:defRPr>
            </a:pPr>
            <a:r>
              <a:t>• ACM Floor Hardened: MCS 0 → MCS 4 (≥ 500 Mbps min)</a:t>
            </a:r>
          </a:p>
          <a:p>
            <a:pPr>
              <a:spcBef>
                <a:spcPts val="400"/>
              </a:spcBef>
              <a:defRPr sz="950">
                <a:solidFill>
                  <a:srgbClr val="F8FAFC"/>
                </a:solidFill>
              </a:defRPr>
            </a:pPr>
            <a:r>
              <a:t>• QoS Queue: FIFO → IEEE 802.1Q PCP Class 6 (PfifoFast)</a:t>
            </a:r>
          </a:p>
          <a:p>
            <a:pPr>
              <a:spcBef>
                <a:spcPts val="400"/>
              </a:spcBef>
              <a:defRPr sz="950">
                <a:solidFill>
                  <a:srgbClr val="F8FAFC"/>
                </a:solidFill>
              </a:defRPr>
            </a:pPr>
            <a:r>
              <a:t>• Carrier Frequency: 60.48 GHz → 64.80 GHz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9976" y="1508760"/>
            <a:ext cx="3429000" cy="393192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🛡️ STAGE 2</a:t>
            </a:r>
          </a:p>
          <a:p>
            <a:pPr>
              <a:spcBef>
                <a:spcPts val="300"/>
              </a:spcBef>
              <a:defRPr sz="1300" b="1">
                <a:solidFill>
                  <a:srgbClr val="F8FAFC"/>
                </a:solidFill>
              </a:defRPr>
            </a:pPr>
            <a:r>
              <a:t>Pre-Flight Safety Envelope Gate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Before touching physical production traffic, 3GPP TS 28.561 requires verification of the candidate configuration against live constraints.</a:t>
            </a:r>
          </a:p>
          <a:p>
            <a:pPr>
              <a:spcBef>
                <a:spcPts val="400"/>
              </a:spcBef>
              <a:defRPr sz="950">
                <a:solidFill>
                  <a:srgbClr val="F8FAFC"/>
                </a:solidFill>
              </a:defRPr>
            </a:pPr>
            <a:r>
              <a:t>• Gate 1: Latency Bound Pass (Predicted 1.12ms ≤ 1.5ms)</a:t>
            </a:r>
          </a:p>
          <a:p>
            <a:pPr>
              <a:spcBef>
                <a:spcPts val="400"/>
              </a:spcBef>
              <a:defRPr sz="950">
                <a:solidFill>
                  <a:srgbClr val="F8FAFC"/>
                </a:solidFill>
              </a:defRPr>
            </a:pPr>
            <a:r>
              <a:t>• Gate 2: Queue Stability Pass (Buffer occupancy &lt; 40%)</a:t>
            </a:r>
          </a:p>
          <a:p>
            <a:pPr>
              <a:spcBef>
                <a:spcPts val="400"/>
              </a:spcBef>
              <a:defRPr sz="950">
                <a:solidFill>
                  <a:srgbClr val="F8FAFC"/>
                </a:solidFill>
              </a:defRPr>
            </a:pPr>
            <a:r>
              <a:t>• Gate 3: Hardware Capability Pass (MH-T261 supports MCS 4)</a:t>
            </a:r>
          </a:p>
          <a:p>
            <a:pPr>
              <a:spcBef>
                <a:spcPts val="400"/>
              </a:spcBef>
              <a:defRPr sz="950">
                <a:solidFill>
                  <a:srgbClr val="F8FAFC"/>
                </a:solidFill>
              </a:defRPr>
            </a:pPr>
            <a:r>
              <a:t>• Gate 4: Spectral Mask Pass (64.80 GHz approved in V-Band)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28432" y="1508760"/>
            <a:ext cx="3429000" cy="393192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🚀 STAGE 3</a:t>
            </a:r>
          </a:p>
          <a:p>
            <a:pPr>
              <a:spcBef>
                <a:spcPts val="300"/>
              </a:spcBef>
              <a:defRPr sz="1300" b="1">
                <a:solidFill>
                  <a:srgbClr val="F8FAFC"/>
                </a:solidFill>
              </a:defRPr>
            </a:pPr>
            <a:r>
              <a:t>RFC 8040 RESTCONF 2PC Commit</a:t>
            </a:r>
          </a:p>
          <a:p>
            <a:pPr>
              <a:spcBef>
                <a:spcPts val="600"/>
              </a:spcBef>
              <a:defRPr sz="1000">
                <a:solidFill>
                  <a:srgbClr val="94A3B8"/>
                </a:solidFill>
              </a:defRPr>
            </a:pPr>
            <a:r>
              <a:t>Executes Two-Phase Commit transaction directly over HTTP/RESTCONF to physical transceiver socket 192.168.1.225:80.</a:t>
            </a:r>
          </a:p>
          <a:p>
            <a:pPr>
              <a:spcBef>
                <a:spcPts val="400"/>
              </a:spcBef>
              <a:defRPr sz="950">
                <a:solidFill>
                  <a:srgbClr val="F8FAFC"/>
                </a:solidFill>
              </a:defRPr>
            </a:pPr>
            <a:r>
              <a:t>• Phase 1 (Prepare): PATCH candidate datastore via RESTCONF</a:t>
            </a:r>
          </a:p>
          <a:p>
            <a:pPr>
              <a:spcBef>
                <a:spcPts val="400"/>
              </a:spcBef>
              <a:defRPr sz="950">
                <a:solidFill>
                  <a:srgbClr val="F8FAFC"/>
                </a:solidFill>
              </a:defRPr>
            </a:pPr>
            <a:r>
              <a:t>• Phase 2 (Commit): POST ietf-netconf:commit operation</a:t>
            </a:r>
          </a:p>
          <a:p>
            <a:pPr>
              <a:spcBef>
                <a:spcPts val="400"/>
              </a:spcBef>
              <a:defRPr sz="950">
                <a:solidFill>
                  <a:srgbClr val="F8FAFC"/>
                </a:solidFill>
              </a:defRPr>
            </a:pPr>
            <a:r>
              <a:t>• Telemetry Verification: Continuous RFC 8040 poll</a:t>
            </a:r>
          </a:p>
          <a:p>
            <a:pPr>
              <a:spcBef>
                <a:spcPts val="400"/>
              </a:spcBef>
              <a:defRPr sz="950">
                <a:solidFill>
                  <a:srgbClr val="F8FAFC"/>
                </a:solidFill>
              </a:defRPr>
            </a:pPr>
            <a:r>
              <a:t>• Instant Rollback: Automatic 2PC revert if health checks fail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577840"/>
            <a:ext cx="10728655" cy="8229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🔒 Zero-Outage Guarantee: By combining Candidate Datastore staging, Pre-Flight discrete validation, and 2-Phase Commit, the adapter ensures that bad configurations are rejected in software before they can impact customer SLA.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D4FF"/>
                </a:solidFill>
              </a:defRPr>
            </a:pPr>
            <a:r>
              <a:t>ARCHITECTURE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Summary: End-to-End Closed-Loop Operational Value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429000" cy="329184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00" b="1">
                <a:solidFill>
                  <a:srgbClr val="00D4FF"/>
                </a:solidFill>
              </a:defRPr>
            </a:pPr>
            <a:r>
              <a:t>🛡️ Zero-Risk What-If Validation</a:t>
            </a:r>
          </a:p>
          <a:p>
            <a:pPr>
              <a:spcBef>
                <a:spcPts val="400"/>
              </a:spcBef>
              <a:defRPr sz="1100" b="1">
                <a:solidFill>
                  <a:srgbClr val="F8FAFC"/>
                </a:solidFill>
              </a:defRPr>
            </a:pPr>
            <a:r>
              <a:t>Predictive Discrete Simulation</a:t>
            </a:r>
          </a:p>
          <a:p>
            <a:pPr>
              <a:spcBef>
                <a:spcPts val="1000"/>
              </a:spcBef>
              <a:defRPr sz="1050">
                <a:solidFill>
                  <a:srgbClr val="94A3B8"/>
                </a:solidFill>
              </a:defRPr>
            </a:pPr>
            <a:r>
              <a:t>Operators can test severe perturbations (3.5x bulk surges, category-5 tropical rain fade, fiber link cuts) in a microsecond-accurate digital twin without putting live production circuits at risk.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9976" y="1508760"/>
            <a:ext cx="3429000" cy="329184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00" b="1">
                <a:solidFill>
                  <a:srgbClr val="C084FC"/>
                </a:solidFill>
              </a:defRPr>
            </a:pPr>
            <a:r>
              <a:t>🌐 Standardized Multi-Vendor Interoperability</a:t>
            </a:r>
          </a:p>
          <a:p>
            <a:pPr>
              <a:spcBef>
                <a:spcPts val="400"/>
              </a:spcBef>
              <a:defRPr sz="1100" b="1">
                <a:solidFill>
                  <a:srgbClr val="F8FAFC"/>
                </a:solidFill>
              </a:defRPr>
            </a:pPr>
            <a:r>
              <a:t>Anchored in 3GPP, ITU-T &amp; IETF</a:t>
            </a:r>
          </a:p>
          <a:p>
            <a:pPr>
              <a:spcBef>
                <a:spcPts val="1000"/>
              </a:spcBef>
              <a:defRPr sz="1050">
                <a:solidFill>
                  <a:srgbClr val="94A3B8"/>
                </a:solidFill>
              </a:defRPr>
            </a:pPr>
            <a:r>
              <a:t>Zero proprietary lock-in. Built entirely on open telecom specifications: TM Forum TMF921 Intent API, 3GPP TS 28.561 NDT lifecycle, ITU-T Y.3090, IETF DTI, and RFC 8040 RESTCONF.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28432" y="1508760"/>
            <a:ext cx="3429000" cy="3291840"/>
          </a:xfrm>
          <a:prstGeom prst="roundRect">
            <a:avLst/>
          </a:prstGeom>
          <a:solidFill>
            <a:srgbClr val="1A263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⚡ Sub-Second Autonomous Closed Loop</a:t>
            </a:r>
          </a:p>
          <a:p>
            <a:pPr>
              <a:spcBef>
                <a:spcPts val="400"/>
              </a:spcBef>
              <a:defRPr sz="1100" b="1">
                <a:solidFill>
                  <a:srgbClr val="F8FAFC"/>
                </a:solidFill>
              </a:defRPr>
            </a:pPr>
            <a:r>
              <a:t>Autonomous Self-Healing Transport</a:t>
            </a:r>
          </a:p>
          <a:p>
            <a:pPr>
              <a:spcBef>
                <a:spcPts val="1000"/>
              </a:spcBef>
              <a:defRPr sz="1050">
                <a:solidFill>
                  <a:srgbClr val="94A3B8"/>
                </a:solidFill>
              </a:defRPr>
            </a:pPr>
            <a:r>
              <a:t>Replaces hours of manual CLI troubleshooting with autonomous, closed-loop assurance: SLA intent is ingested, simulated in NS-3, safety-verified, and actuated via TFS in ~1.9 to 2.2 seconds total.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983480"/>
            <a:ext cx="10728655" cy="1417320"/>
          </a:xfrm>
          <a:prstGeom prst="roundRect">
            <a:avLst/>
          </a:prstGeom>
          <a:solidFill>
            <a:srgbClr val="1A2639"/>
          </a:solidFill>
          <a:ln w="12700">
            <a:solidFill>
              <a:srgbClr val="2D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/>
          <a:lstStyle/>
          <a:p>
            <a:pPr algn="ctr">
              <a:defRPr sz="1200" b="1">
                <a:solidFill>
                  <a:srgbClr val="00D4FF"/>
                </a:solidFill>
              </a:defRPr>
            </a:pPr>
            <a:r>
              <a:t>📋 Digital Twin Adapter Quick Reference Table</a:t>
            </a: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F8FAFC"/>
                </a:solidFill>
              </a:rPr>
              <a:t>• Intent Adapter:</a:t>
            </a:r>
            <a:r>
              <a:rPr sz="1000">
                <a:solidFill>
                  <a:srgbClr val="94A3B8"/>
                </a:solidFill>
              </a:rPr>
              <a:t> Translates Natural Language / SLA bounds into TFS Service &amp; CSPF requests (TM Forum TMF921).</a:t>
            </a: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F8FAFC"/>
                </a:solidFill>
              </a:rPr>
              <a:t>• Simulation Adapter:</a:t>
            </a:r>
            <a:r>
              <a:rPr sz="1000">
                <a:solidFill>
                  <a:srgbClr val="94A3B8"/>
                </a:solidFill>
              </a:rPr>
              <a:t> Syncs TFS live graph into NS-3 C++ discrete engine, scopes fidelity (Tiers 1-5), and outputs microsecond traces.</a:t>
            </a: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F8FAFC"/>
                </a:solidFill>
              </a:rPr>
              <a:t>• Southbound Driver:</a:t>
            </a:r>
            <a:r>
              <a:rPr sz="1000">
                <a:solidFill>
                  <a:srgbClr val="94A3B8"/>
                </a:solidFill>
              </a:rPr>
              <a:t> Manages candidate datastore diffs and 2-phase commits to Ceragon MH-T261 via RFC 8040 RESTCONF.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