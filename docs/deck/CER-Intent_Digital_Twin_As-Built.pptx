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4.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0B1D33"/>
                </a:solidFill>
                <a:latin typeface="Arial"/>
              </a:defRPr>
            </a:pPr>
            <a:r>
              <a:rPr sz="1100" b="0" i="0" u="none" strike="noStrike">
                <a:solidFill>
                  <a:srgbClr val="0B1D33"/>
                </a:solidFill>
                <a:latin typeface="Arial"/>
              </a:rPr>
              <a:t>Architect strategies chosen (audit log)</a:t>
            </a:r>
          </a:p>
        </c:rich>
      </c:tx>
      <c:layout/>
      <c:overlay val="0"/>
    </c:title>
    <c:autoTitleDeleted val="0"/>
    <c:plotArea>
      <c:layout/>
      <c:barChart>
        <c:barDir val="bar"/>
        <c:grouping val="clustered"/>
        <c:varyColors val="0"/>
        <c:ser>
          <c:idx val="0"/>
          <c:order val="0"/>
          <c:tx>
            <c:strRef>
              <c:f>Sheet1!$B$1</c:f>
              <c:strCache>
                <c:ptCount val="1"/>
                <c:pt idx="0">
                  <c:v>Plans</c:v>
                </c:pt>
              </c:strCache>
            </c:strRef>
          </c:tx>
          <c:spPr>
            <a:solidFill>
              <a:srgbClr val="7C5CFF"/>
            </a:solidFill>
            <a:effectLst/>
          </c:spPr>
          <c:invertIfNegative val="0"/>
          <c:dLbls>
            <c:numFmt formatCode="#,##0" sourceLinked="0"/>
            <c:txPr>
              <a:bodyPr/>
              <a:lstStyle/>
              <a:p>
                <a:pPr>
                  <a:defRPr b="0" i="0" strike="noStrike" sz="1000" u="none">
                    <a:solidFill>
                      <a:srgbClr val="1A2B3C"/>
                    </a:solidFill>
                    <a:latin typeface="Arial"/>
                  </a:defRPr>
                </a:pPr>
              </a:p>
            </c:txPr>
            <c:showLegendKey val="0"/>
            <c:showVal val="1"/>
            <c:showCatName val="0"/>
            <c:showSerName val="0"/>
            <c:showPercent val="0"/>
            <c:showBubbleSize val="0"/>
            <c:showLeaderLines val="0"/>
          </c:dLbls>
          <c:cat>
            <c:multiLvlStrRef>
              <c:f>Sheet1!$A$2:$A$6</c:f>
              <c:multiLvlStrCache>
                <c:ptCount val="5"/>
                <c:lvl>
                  <c:pt idx="0">
                    <c:v>MRMC Script Upgrade</c:v>
                  </c:pt>
                  <c:pt idx="1">
                    <c:v>1+1 HSB Protection</c:v>
                  </c:pt>
                  <c:pt idx="2">
                    <c:v>ACM Floor Hardening Rain</c:v>
                  </c:pt>
                  <c:pt idx="3">
                    <c:v>TX Power Adjustment</c:v>
                  </c:pt>
                  <c:pt idx="4">
                    <c:v>Network Already Efficient</c:v>
                  </c:pt>
                </c:lvl>
              </c:multiLvlStrCache>
            </c:multiLvlStrRef>
          </c:cat>
          <c:val>
            <c:numRef>
              <c:f>Sheet1!$B$2:$B$6</c:f>
              <c:numCache>
                <c:formatCode>General</c:formatCode>
                <c:ptCount val="5"/>
                <c:pt idx="0">
                  <c:v>22</c:v>
                </c:pt>
                <c:pt idx="1">
                  <c:v>9</c:v>
                </c:pt>
                <c:pt idx="2">
                  <c:v>6</c:v>
                </c:pt>
                <c:pt idx="3">
                  <c:v>4</c:v>
                </c:pt>
                <c:pt idx="4">
                  <c:v>1</c:v>
                </c:pt>
              </c:numCache>
            </c:numRef>
          </c:val>
        </c:ser>
        <c:dLbls>
          <c:numFmt formatCode="#,##0" sourceLinked="0"/>
          <c:txPr>
            <a:bodyPr/>
            <a:lstStyle/>
            <a:p>
              <a:pPr>
                <a:defRPr b="0" i="0" strike="noStrike" sz="1000" u="none">
                  <a:solidFill>
                    <a:srgbClr val="1A2B3C"/>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950" b="0" i="0" u="none" strike="noStrike">
                <a:solidFill>
                  <a:srgbClr val="1A2B3C"/>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0B1D33"/>
                </a:solidFill>
                <a:latin typeface="Arial"/>
              </a:defRPr>
            </a:pPr>
            <a:r>
              <a:rPr sz="1100" b="0" i="0" u="none" strike="noStrike">
                <a:solidFill>
                  <a:srgbClr val="0B1D33"/>
                </a:solidFill>
                <a:latin typeface="Arial"/>
              </a:rPr>
              <a:t>Configuration applies by backend</a:t>
            </a:r>
          </a:p>
        </c:rich>
      </c:tx>
      <c:layout/>
      <c:overlay val="0"/>
    </c:title>
    <c:autoTitleDeleted val="0"/>
    <c:plotArea>
      <c:layout/>
      <c:barChart>
        <c:barDir val="bar"/>
        <c:grouping val="stacked"/>
        <c:varyColors val="0"/>
        <c:ser>
          <c:idx val="0"/>
          <c:order val="0"/>
          <c:tx>
            <c:strRef>
              <c:f>Sheet1!$B$1</c:f>
              <c:strCache>
                <c:ptCount val="1"/>
                <c:pt idx="0">
                  <c:v>Succeeded</c:v>
                </c:pt>
              </c:strCache>
            </c:strRef>
          </c:tx>
          <c:spPr>
            <a:solidFill>
              <a:srgbClr val="22A06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TeraFlow</c:v>
                  </c:pt>
                  <c:pt idx="1">
                    <c:v>Simulated</c:v>
                  </c:pt>
                  <c:pt idx="2">
                    <c:v>IP50CXML</c:v>
                  </c:pt>
                </c:lvl>
              </c:multiLvlStrCache>
            </c:multiLvlStrRef>
          </c:cat>
          <c:val>
            <c:numRef>
              <c:f>Sheet1!$B$2:$B$4</c:f>
              <c:numCache>
                <c:formatCode>General</c:formatCode>
                <c:ptCount val="3"/>
                <c:pt idx="0">
                  <c:v>1026</c:v>
                </c:pt>
                <c:pt idx="1">
                  <c:v>80</c:v>
                </c:pt>
                <c:pt idx="2">
                  <c:v>2</c:v>
                </c:pt>
              </c:numCache>
            </c:numRef>
          </c:val>
        </c:ser>
        <c:ser>
          <c:idx val="1"/>
          <c:order val="1"/>
          <c:tx>
            <c:strRef>
              <c:f>Sheet1!$C$1</c:f>
              <c:strCache>
                <c:ptCount val="1"/>
                <c:pt idx="0">
                  <c:v>Failed</c:v>
                </c:pt>
              </c:strCache>
            </c:strRef>
          </c:tx>
          <c:spPr>
            <a:solidFill>
              <a:srgbClr val="D64545"/>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TeraFlow</c:v>
                  </c:pt>
                  <c:pt idx="1">
                    <c:v>Simulated</c:v>
                  </c:pt>
                  <c:pt idx="2">
                    <c:v>IP50CXML</c:v>
                  </c:pt>
                </c:lvl>
              </c:multiLvlStrCache>
            </c:multiLvlStrRef>
          </c:cat>
          <c:val>
            <c:numRef>
              <c:f>Sheet1!$C$2:$C$4</c:f>
              <c:numCache>
                <c:formatCode>General</c:formatCode>
                <c:ptCount val="3"/>
                <c:pt idx="0">
                  <c:v>35</c:v>
                </c:pt>
                <c:pt idx="1">
                  <c:v>0</c:v>
                </c:pt>
                <c:pt idx="2">
                  <c:v>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0"/>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1A2B3C"/>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6EB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A6B7D"/>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50">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0B1D33"/>
                </a:solidFill>
                <a:latin typeface="Arial"/>
              </a:defRPr>
            </a:pPr>
            <a:r>
              <a:rPr sz="1100" b="0" i="0" u="none" strike="noStrike">
                <a:solidFill>
                  <a:srgbClr val="0B1D33"/>
                </a:solidFill>
                <a:latin typeface="Arial"/>
              </a:rPr>
              <a:t>Intents parsed per month</a:t>
            </a:r>
          </a:p>
        </c:rich>
      </c:tx>
      <c:layout/>
      <c:overlay val="0"/>
    </c:title>
    <c:autoTitleDeleted val="0"/>
    <c:plotArea>
      <c:layout/>
      <c:barChart>
        <c:barDir val="col"/>
        <c:grouping val="clustered"/>
        <c:varyColors val="0"/>
        <c:ser>
          <c:idx val="0"/>
          <c:order val="0"/>
          <c:tx>
            <c:strRef>
              <c:f>Sheet1!$B$1</c:f>
              <c:strCache>
                <c:ptCount val="1"/>
                <c:pt idx="0">
                  <c:v>Intents</c:v>
                </c:pt>
              </c:strCache>
            </c:strRef>
          </c:tx>
          <c:spPr>
            <a:solidFill>
              <a:srgbClr val="7C5CFF"/>
            </a:solidFill>
            <a:effectLst/>
          </c:spPr>
          <c:invertIfNegative val="0"/>
          <c:dLbls>
            <c:numFmt formatCode="#,##0" sourceLinked="0"/>
            <c:txPr>
              <a:bodyPr/>
              <a:lstStyle/>
              <a:p>
                <a:pPr>
                  <a:defRPr b="0" i="0" strike="noStrike" sz="1000" u="none">
                    <a:solidFill>
                      <a:srgbClr val="1A2B3C"/>
                    </a:solidFill>
                    <a:latin typeface="Arial"/>
                  </a:defRPr>
                </a:pPr>
              </a:p>
            </c:txPr>
            <c:showLegendKey val="0"/>
            <c:showVal val="1"/>
            <c:showCatName val="0"/>
            <c:showSerName val="0"/>
            <c:showPercent val="0"/>
            <c:showBubbleSize val="0"/>
            <c:showLeaderLines val="0"/>
          </c:dLbls>
          <c:cat>
            <c:multiLvlStrRef>
              <c:f>Sheet1!$A$2:$A$5</c:f>
              <c:multiLvlStrCache>
                <c:ptCount val="4"/>
                <c:lvl>
                  <c:pt idx="0">
                    <c:v>2026-04</c:v>
                  </c:pt>
                  <c:pt idx="1">
                    <c:v>2026-06</c:v>
                  </c:pt>
                  <c:pt idx="2">
                    <c:v>2026-07</c:v>
                  </c:pt>
                  <c:pt idx="3">
                    <c:v>2026-09</c:v>
                  </c:pt>
                </c:lvl>
              </c:multiLvlStrCache>
            </c:multiLvlStrRef>
          </c:cat>
          <c:val>
            <c:numRef>
              <c:f>Sheet1!$B$2:$B$5</c:f>
              <c:numCache>
                <c:formatCode>General</c:formatCode>
                <c:ptCount val="4"/>
                <c:pt idx="0">
                  <c:v>40</c:v>
                </c:pt>
                <c:pt idx="1">
                  <c:v>1</c:v>
                </c:pt>
                <c:pt idx="2">
                  <c:v>6</c:v>
                </c:pt>
                <c:pt idx="3">
                  <c:v>5</c:v>
                </c:pt>
              </c:numCache>
            </c:numRef>
          </c:val>
        </c:ser>
        <c:dLbls>
          <c:numFmt formatCode="#,##0" sourceLinked="0"/>
          <c:txPr>
            <a:bodyPr/>
            <a:lstStyle/>
            <a:p>
              <a:pPr>
                <a:defRPr b="0" i="0" strike="noStrike" sz="1000" u="none">
                  <a:solidFill>
                    <a:srgbClr val="1A2B3C"/>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1A2B3C"/>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50" b="0" i="0" u="none" strike="noStrike">
                <a:solidFill>
                  <a:srgbClr val="0B1D33"/>
                </a:solidFill>
                <a:latin typeface="Arial"/>
              </a:defRPr>
            </a:pPr>
            <a:r>
              <a:rPr sz="1050" b="0" i="0" u="none" strike="noStrike">
                <a:solidFill>
                  <a:srgbClr val="0B1D33"/>
                </a:solidFill>
                <a:latin typeface="Arial"/>
              </a:rPr>
              <a:t>Hop-1 rate vs rain attenuation (Mbps, scenario rule)</a:t>
            </a:r>
          </a:p>
        </c:rich>
      </c:tx>
      <c:layout/>
      <c:overlay val="0"/>
    </c:title>
    <c:autoTitleDeleted val="0"/>
    <c:plotArea>
      <c:layout/>
      <c:barChart>
        <c:barDir val="col"/>
        <c:grouping val="clustered"/>
        <c:varyColors val="0"/>
        <c:ser>
          <c:idx val="0"/>
          <c:order val="0"/>
          <c:tx>
            <c:strRef>
              <c:f>Sheet1!$B$1</c:f>
              <c:strCache>
                <c:ptCount val="1"/>
                <c:pt idx="0">
                  <c:v>Rate</c:v>
                </c:pt>
              </c:strCache>
            </c:strRef>
          </c:tx>
          <c:spPr>
            <a:solidFill>
              <a:srgbClr val="22A06B"/>
            </a:solidFill>
            <a:effectLst/>
          </c:spPr>
          <c:invertIfNegative val="0"/>
          <c:dLbls>
            <c:numFmt formatCode="#,##0" sourceLinked="0"/>
            <c:txPr>
              <a:bodyPr/>
              <a:lstStyle/>
              <a:p>
                <a:pPr>
                  <a:defRPr b="0" i="0" strike="noStrike" sz="1000" u="none">
                    <a:solidFill>
                      <a:srgbClr val="1A2B3C"/>
                    </a:solidFill>
                    <a:latin typeface="Arial"/>
                  </a:defRPr>
                </a:pPr>
              </a:p>
            </c:txPr>
            <c:showLegendKey val="0"/>
            <c:showVal val="1"/>
            <c:showCatName val="0"/>
            <c:showSerName val="0"/>
            <c:showPercent val="0"/>
            <c:showBubbleSize val="0"/>
            <c:showLeaderLines val="0"/>
          </c:dLbls>
          <c:dPt>
            <c:idx val="0"/>
            <c:invertIfNegative val="0"/>
            <c:bubble3D val="0"/>
            <c:spPr>
              <a:solidFill>
                <a:srgbClr val="22A06B"/>
              </a:solidFill>
              <a:effectLst/>
            </c:spPr>
          </c:dPt>
          <c:dPt>
            <c:idx val="1"/>
            <c:invertIfNegative val="0"/>
            <c:bubble3D val="0"/>
            <c:spPr>
              <a:solidFill>
                <a:srgbClr val="E8912D"/>
              </a:solidFill>
              <a:effectLst/>
            </c:spPr>
          </c:dPt>
          <c:dPt>
            <c:idx val="2"/>
            <c:invertIfNegative val="0"/>
            <c:bubble3D val="0"/>
            <c:spPr>
              <a:solidFill>
                <a:srgbClr val="E8912D"/>
              </a:solidFill>
              <a:effectLst/>
            </c:spPr>
          </c:dPt>
          <c:dPt>
            <c:idx val="3"/>
            <c:invertIfNegative val="0"/>
            <c:bubble3D val="0"/>
            <c:spPr>
              <a:solidFill>
                <a:srgbClr val="E8912D"/>
              </a:solidFill>
              <a:effectLst/>
            </c:spPr>
          </c:dPt>
          <c:dPt>
            <c:idx val="4"/>
            <c:invertIfNegative val="0"/>
            <c:bubble3D val="0"/>
            <c:spPr>
              <a:solidFill>
                <a:srgbClr val="D64545"/>
              </a:solidFill>
              <a:effectLst/>
            </c:spPr>
          </c:dPt>
          <c:cat>
            <c:multiLvlStrRef>
              <c:f>Sheet1!$A$2:$A$6</c:f>
              <c:multiLvlStrCache>
                <c:ptCount val="5"/>
                <c:lvl>
                  <c:pt idx="0">
                    <c:v>0 dB</c:v>
                  </c:pt>
                  <c:pt idx="1">
                    <c:v>&lt; 8 dB</c:v>
                  </c:pt>
                  <c:pt idx="2">
                    <c:v>8–15 dB</c:v>
                  </c:pt>
                  <c:pt idx="3">
                    <c:v>15–25 dB</c:v>
                  </c:pt>
                  <c:pt idx="4">
                    <c:v>≥ 25 dB</c:v>
                  </c:pt>
                </c:lvl>
              </c:multiLvlStrCache>
            </c:multiLvlStrRef>
          </c:cat>
          <c:val>
            <c:numRef>
              <c:f>Sheet1!$B$2:$B$6</c:f>
              <c:numCache>
                <c:formatCode>General</c:formatCode>
                <c:ptCount val="5"/>
                <c:pt idx="0">
                  <c:v>1000</c:v>
                </c:pt>
                <c:pt idx="1">
                  <c:v>750</c:v>
                </c:pt>
                <c:pt idx="2">
                  <c:v>500</c:v>
                </c:pt>
                <c:pt idx="3">
                  <c:v>250</c:v>
                </c:pt>
                <c:pt idx="4">
                  <c:v>100</c:v>
                </c:pt>
              </c:numCache>
            </c:numRef>
          </c:val>
        </c:ser>
        <c:dLbls>
          <c:numFmt formatCode="#,##0" sourceLinked="0"/>
          <c:txPr>
            <a:bodyPr/>
            <a:lstStyle/>
            <a:p>
              <a:pPr>
                <a:defRPr b="0" i="0" strike="noStrike" sz="1000" u="none">
                  <a:solidFill>
                    <a:srgbClr val="1A2B3C"/>
                  </a:solidFill>
                  <a:latin typeface="Arial"/>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1A2B3C"/>
                </a:solidFill>
                <a:latin typeface="Arial"/>
              </a:defRPr>
            </a:pPr>
            <a:endParaRPr lang="en-US"/>
          </a:p>
        </c:txPr>
        <c:crossAx val="2094734552"/>
        <c:crosses val="autoZero"/>
        <c:auto val="1"/>
        <c:lblAlgn val="ctr"/>
        <c:noMultiLvlLbl val="1"/>
      </c:catAx>
      <c:valAx>
        <c:axId val="2094734552"/>
        <c:scaling>
          <c:orientation val="minMax"/>
          <c:max val="115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documents the system as it is built, not as it was first pitched. Each capability carries one of four statuses: IMPLEMENTED (works end to end in code), PARTIAL (real code with known limits), MOCK (the UI or API returns hard-coded or simulated values), PLANNED (only in docs or slides).
Sources: code review of efidvir/cer-intent (commit f2c3fea), efidvir/tfs-ns3-digital-twin (a9ccad6) and efidvir/teraflowsdn (1e91cf2), plus the CER-Intent audit log data/audit_log.jsonl. Numbers on the operating-data slide are produced by docs/deck/audit_stats.py.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an intent-driven, twin-validated closed loop for microwave and millimetre-wave transport in 5G/6G networks, built on the open-source ETSI TeraFlowSDN controller, the ns-3 simulator and Ceragon MH-T261 radios.
Why: (1) at 60-80 GHz, rain attenuation drives adaptive modulation down; the ns-3 scenario models hop-1 rate falling from 1 Gbps to 100 Mbps under heavy rain. (2) Radio changes are done per device and a mistake lands on live traffic. (3) Intent, SDN, simulator and radio speak different protocols on timescales from microseconds to days. (4) AI agents, such as reinforcement-learning policies, need an isolated place to train and be validated.
Goals and where they stand: G1 intents reach TFS and the radio driver (PARTIAL: key mismatch, canned read-back). G2 the ns-3 scenario runs over SSH but its results do not gate commits yet (PARTIAL). G3 verify and rollback after commit are not implemented (PLANNED). G4 RESTCONF/YANG is real; TMF921, TS 28.561 and CAPIF are labels (PARTIAL). G5 no ML in the loop yet (PLANNED). The gap register and roadmap later in the deck show how each goal gets closed.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Unchanged from the earlier deck: the four parts run on timescales from microseconds (ns-3 events) to days (operator intent). The adapters described next translate protocol and time between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CER-Intent (cer-intent/run.py, cer_intent/api/server.py) serves REST and Socket.IO on :5000 and writes to TeraFlowSDN with PUT /tfs-api/device/{uuid} carrying CONFIGACTION_SET rules (cer_intent/device/adapter.py TeraFlowAdapter, device/tfs_client.py). Clients default to TERAFLOW_URL=http://localhost:8088; the TFS NBI service listens on 8080 (teraflowsdn/manifests/nbiservice.yaml), so 8088 is a local port-forward or proxy.
TeraFlowSDN is deployed with microk8s via my_deploy.sh with only context, device, pathcomp, service, nbi and webui. The Ceragon driver (DEVICEDRIVER_CERAGON = 22) pushes RESTCONF to the MH-T261 at 192.168.1.225 (manifests/ceragon_mh_t261_descriptor.json).
ns-3.45 runs on cersrv-029: tsn_simulation_runner.py SSHes to efid@cersrv-029 and parses JSON between ===TSN_METRICS_START/END===. If SSH fails, it returns constants that are still labelled as ns-3 output, hence PARTIAL.
tfs_digital_twin_api.py (:9100) computes what-if results with closed-form formulas; ns3_tfs_runtime_bridge.py (:9099) polls TFS every second and writes ns3_link_state.json, which no ns-3 program reads. Hence MOCK.
The red dashed path: the dashboard's 'physical write' is a GET of https://192.168.1.225:80/restconf/ds/ietf-datastores:candidate used as a health probe (web_dashboard.py, cer_intent/api/digital_twin_routes.py).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cer-intent: core package cer_intent/ (parser, schema, validator, yang_builder, translators, architect, device adapters, assurance, api). tfs_unity/ is a copy of the tfs-ns3-digital-twin repo; ceragon_tfs_adapter/ is an installable package; tfs_upstream_contribution/ holds the proposed TFS driver patch.
tfs-ns3-digital-twin: Python modules exist at the repo root and again in src/. Five are identical; tsn_simulation_runner.py has diverged (404 lines at root, 236 in src/). Tests: 22 pass (python -m pytest tests).
teraflowsdn: one squashed commit. Custom code is src/device/service/drivers/ceragon/ (CeragonDriver.py, client.py, templates.py, models.py, Tools.py, 51 YANG files), proto enum DEVICEDRIVER_CERAGON = 22, device type ceragon-wireless, and two descriptors in manifests/. The README calls this TFS 7.0; the code does not confirm a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Parse (cer_intent/intent_parser.py): Google Gemini (GEMINI_MODEL, default gemini-1.5-flash) with a schema prompt and three few-shot examples; without a key it falls back to regex/keyword rules; JSON input skips parsing. Eight intent types: capacity, qos, modulation, resilience, slice, energy, sync, security (intent_schema.py, Pydantic).
2 Validate (intent_validator.py): topology and the DEVICE_CAPABILITIES hardware matrix.
3 Plan (architect/agent.py): nine rule-based skills score strategies by a heuristic confidence; the conflict resolver is a mock with time.sleep(0.1). PARTIAL because the 'AI architect' is rules, not a model.
4 Approve: POST /api/v1/intent returns 202 awaiting_approval unless always_apply; POST /intents/&lt;id&gt;/approve resumes.
5 Apply: ArchitectExecutor or legacy translators, then adapter.apply_all (TeraFlowAdapter, DirectRESTAdapter, SimulatedAdapter, IP-50C XML).
Chart: counts of 'Architect plan created: &lt;strategy&gt;' events in data/audit_log.jsonl (audit_stats.py). Quotes are verbatim inputs from the same log.
Roadmap: add pluggable parsers (on-prem Qwen, Claude) next to Gemini, and grow the skill bank to cover more transport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numbers come from cer-intent/data/audit_log.jsonl (1,444 events, 2026-04-13 – 2026-09-23) via docs/deck/audit_stats.py.
TeraFlowAdapter: 1026 succeeded, 35 failed. Failures: 'Cannot reach TeraFlow SDN at http://localhost:8088' (32) and HTTP 500 from the NBI (3). 'Succeeded' means the TFS NBI accepted the config rule; it does not prove the radio changed, because the Ceragon driver's read-back is canned (see the hardware slide).
SimulatedAdapter 80 and IP-50C XML 2 applies are local simulations or files.
Parse-to-last-apply is measured only for the 22 intents whose applies carry the intent id; the median is 396 ms and the maximum 1076 s, because the long spans include waiting for human approval.
One drift event was recorded: 'SNR 11.9 dB on link-A-F may not sustain min modulation 64QAM' (the reconciler works on synthetic telemetry).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Deployed components: teraflowsdn/my_deploy.sh exports TFS_COMPONENTS='context device pathcomp service nbi webui'. Ports from manifests/*service.yaml: context 1010, device 2020, service 3030, pathcomp 10020, nbi 8080, webui 8004.
Not deployed but available in the tree: monitoring 7070, kpi_manager 30010, kpi_value_api/writer 30020/30030, telemetry 30050/30060, analytics 30080/30090, automation 30200, forecaster 10040, plus Kafka. These are the natural hosts for streamed KPIs and Python analytics.
The old dashboard's gRPC ports 10010/10020/10030/10040 come from mock JSON in web_dashboard.py get_tfs_microservice_state() and cer_intent/api/digital_twin_routes.py.
NBI calls: cer_intent/device/tfs_client.py and tfs_api_client.py. Writes are PUT /tfs-api/device/{uuid} with CONFIGACTION_SET custom rules; slices go to POST /tfs-api/context/admin/slices. The dashboard's POST /tfs-api/device/{uuid}/config is not a TFS endpoint.
Ceragon: proto/context.proto DEVICEDRIVER_CERAGON = 22; src/device/service/drivers/__init__.py registers it (needs LOAD_ALL_DEVICE_DRIVERS); descriptor manifests/ceragon_mh_t261_descriptor.json. The WebUI device form has no Ceragon checkbox, so devices are added by descriptor.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Scenario: tfs-ns3-digital-twin/simulation/tsn_wifi_ceragon.cc (ns-3.45). Two stations to two 802.11n APs (HtMcs7), then C0 -60 GHz 1 Gbps 0.15 ms- C1 -10 Gbps 0.02 ms- C2 -80 GHz 10 Gbps 0.10 ms- C3 to the sink.
Traffic: TSN flow 128 B at 1.024 Mbps (one packet per ms) with ToS 0xC0, mapped to PfifoFast band 0 and Wi-Fi AC_VO. There is no 802.1Q VLAN/PCP tagging in the simulation; the 'PCP 6' label in the old deck comes from dashboard mock JSON. Best effort: 1400 B at 150 Mbps times the surge factor.
Rain: rainLossDb steps hop-1 rate to 750/500/250/100 Mbps at the 8/15/25 dB thresholds; this is a rule, not an ACM model. FlowMonitor results are printed as JSON between ===TSN_METRICS_START/END=== and parsed by tsn_simulation_runner.py over SSH (efid@cersrv-029, 25 s timeout). The Wi-Fi contention, retry and airtime numbers in that JSON are hard-coded.
Fallback: if SSH fails the runner returns constants (0.93 ms TSN with QoS, 6.83 / 8.12 ms without) and still labels them as ns-3 output. MOCK.
Second path: tfs_topology_to_ns3.py generates a C++ program from the TFS topology (one point-to-point link per TFS link, /30 subnets, optional 500 Mbps OnOff traffic, NetAnim). It produces no metrics yet.
The simulation resolution governor (simulation_resolution_governor.py) picks a tier and scales node counts; its per-tier latencies (75, 350, 650, 1150, 35 ms) are constants, not measurements.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teraflowsdn/src/device/service/drivers/ceragon/client.py: stage_candidate() PATCHes /restconf/ds/ietf-datastores:candidate; on failure apply_* calls discard_candidate() (POST /restconf/operations/ietf-netconf:discard-changes); otherwise commit_candidate() POSTs /restconf/operations/ietf-netconf:commit. Payloads come from templates.py: radio-bridge-tg:radio, ietf-interfaces sub-interfaces for VLAN slices, radio-bridge-tg-acm:acm-configuration for the ACM floor. CeragonDriver.SetConfig routes by resource key (/radio, /frequency, /operating_parameters, /slice, /vlan, /modulation, /acm, /rain).
Gaps: there is no verification after commit and no rollback of a committed change. get_device_state() (lines 95-195) returns hard-coded values (60.48 GHz, SNR 28.5, RSSI -42) and discards the live ietf-interfaces GET. SubscribeState/UnsubscribeState/DeleteConfig return True without doing anything.
Key mismatch: CER-Intent sends /interface[name=...]/modulation with min/max modulation, while the driver's modulation branch reads mrmc_script_id, tx_frequency and tx_power_dbm. Most intents therefore change nothing on the radio.
The old deck's 'two-phase commit with automatic rollback', the four pre-flight gates and the RESTCONF wire log came from static JSON in web_dashboard.py and cer_intent/api/digital_twin_routes.py (which also label the device 'siklu-radio').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cer_intent/assurance/telemetry_simulator.py generates sinusoidal load and SNR every 5 s; assurance/reconciler.py checks every 10 s (capacity below 80% of target with utilisation above 90%, latency more than 5 ms over target, SNR below 12 dB) and sets DRIFT plus a Socket.IO intent_drift event. It never re-applies; REMEDIATED is never set. The architect receives empty telemetry because app.telemetry_snapshot is never set.
Target: every candidate change becomes an ns-3 what-if job, the pre-flight gates are computed from its KPIs instead of constant PASS strings, the driver commits, live telemetry verifies the result, and a committed change is rolled back if KPIs regress. The old '~1.9–2.2 s end-to-end' figure is not backed by any log; measure the real loop time once it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RFC 8040: teraflowsdn/src/device/service/drivers/ceragon/client.py and cer-intent/ceragon_tfs_adapter. RFC 7950: 51 YANG files in drivers/ceragon/schemas/yang (radio-bridge-tg-*, IEEE 802.1Q, IETF, Clixon). RFC 8345: TFS has an ietf_network NBI plugin (src/nbi/service/ietf_network) but CER-Intent reads TFS's own topology_details JSON instead.
RFC 6241: cer_intent/yang_builder.py builds NETCONF XML; ncclient is a dependency but never used to send it.
TMF921: CER-Intent's intent model is a custom Pydantic schema; tfs_digital_twin_api.py POST /api/v1/tmf/tmf921/intent stores the payload and returns 'acknowledged' with no TMF resource model or lifecycle. TMF639 is a minimal GET projection.
TS 28.561: only the NDTI states (NULL, INITIALIZING, SYNCHRONIZED, UPDATING, EXECUTING_EXPERIMENT, TERMINATED) in tfs_digital_twin_api.py; the NdtJob model exists only in generate_deck.py. CAPIF: a static JSON descriptor without OAuth or mTLS.
Y.3090 is a label on /dti/sync; Y.3092 and Q.5040 appear only in slides and a commit message. YANG-Push and gNMI are claimed in docs only. P.838: approximate k and alpha at 60 GHz in formulas.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① CER-Intent agents to TFS (northbound): today TFS native REST (PUT /tfs-api/device, POST slices). Adopt TM Forum TMF921 or 3GPP TS 28.312 for the intent itself, and hand TFS standard service requests through its existing IETF L3NM (RFC 9182), L2NM (RFC 9291) and network-slice (RFC 9543 framework) NBI plugins.
② CER-Intent to the digital twin: today SSH to cersrv-029 plus a custom REST API on :9100. Adopt 3GPP TS 28.561 NDTJob/NDTReport over TS 28.532 operations, which ITU-T Y.3092 calls NDT-m, and expose it through CAPIF (TS 29.222).
③ TFS and the twin: today REST polling every second. Adopt RFC 8345 topology (TFS ietf_network NBI) and RFC 8561 microwave link data for the ns-3 model, and YANG-Push (RFC 8641) or gNMI streaming into TFS KPI/Kafka (Y.3092 NDT-p). Model physics from ITU-R P.838, P.676 and P.530.
④ TFS to the radio: today RESTCONF (RFC 8040) on the NMDA candidate datastore (RFC 8527 path /restconf/ds/ietf-datastores:candidate) with NETCONF commit/discard operations and vendor radio-bridge-tg YANG. Adopt RFC 8561 / ONF TR-532 models, YANG-Push telemetry, TLS 1.3 and NACM.
Full list with statuses: docs/STANDARDS_BY_INTERFACE.md.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Tags: IN USE = our code uses it today; IN TFS = TeraFlowSDN ships it but we do not use it yet; ADOPT = recommended for this interface; EMERGING = still being standardised; DE FACTO = open-source or vendor convention.
Notes: TS 28.312 is 3GPP's intent-driven management service; RFC 8527 defines the /restconf/ds/&lt;datastore&gt; paths our driver uses; calling NETCONF commit/discard through RESTCONF operations is a vendor mapping, not part of RFC 8040. MCP (Model Context Protocol) is a de facto way to expose TFS and twin operations as tools for LLM agents.
Details and rationale for every entry: docs/STANDARDS_BY_INTERFACE.md.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the TFS to ns-3 link should go. Job control: 3GPP TS 28.561 models each what-if as an NDTJob managed through TS 28.532 REST operations (ITU-T Y.3092 NDT-m). State sync: TFS already ships KPI manager, telemetry and Kafka components that are not yet deployed; YANG-Push (RFC 8641) or gNMI would feed them from the radios (Y.3092 NDT-p). Shared models: TFS's ietf_network NBI plugin exposes RFC 8345 topology, which the ns-3 generator could read instead of TFS's own JSON.
Emerging: 3GPP Release 20 NDT phase 2 (study TR 28.883), ITU-T Q.SDTN (SG11, under study, target around December 2026), Y.3093/Y.3094, IRTF NMRG drafts, O-RAN nGRG digital-twin research.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tsn_simulation_runner.py returns constants when SSH fails and labels them 'ns-3.45-discrete-event (Simulation Engine)'.
2. The run-loop POSTs to /tfs-api/device/{uuid}/config (not a TFS endpoint) and sets applied_to_tfs = True on exception (cer_intent/api/digital_twin_routes.py, web_dashboard.py). The TFS status check counts HTTP 404/500 as ONLINE.
3. CER-Intent sends /interface[name=...]/modulation {min,max}; the driver reads mrmc_script_id, tx_frequency, tx_power_dbm and /device/operating_parameters frequency_mhz, tx_power_dbm.
4. ceragon/client.py get_device_state() returns hard-coded MH-T261 values.
5. Descriptors and defaults use admin/admin over HTTP; requests use verify=False; the restconf-wire endpoint echoes credentials; CORS * and Flask debug on by default.
6. SubscribeState/UnsubscribeState return True.
7. telemetry_simulator.py is sinusoidal; reconciler never re-applies.
8. validate_and_close_loop passes target_ghz (64.8) as frequency_mhz and 2000 as channel_id.
9. No tests for cer_intent/ (only ceragon_tfs_adapter and the driver patch have tests).
10. Root and src/ copies (tsn_simulation_runner diverged), tfs_unity/ vendored copy, c:\CER_Intent paths in several modules, ns-3 host hard-coded to efid@cersrv-029.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1 closes the high-risk gaps in the gap register so the demo shows only real or labelled data.
Phase 2 turns the what-if into a real job: expose ns-3 runs through a TS 28.561-style NDTJob API, compute the pre-flight gates from the simulated KPIs, stream radio telemetry into TFS's KPI/telemetry/Kafka components, verify after commit and roll back on regression. Add pluggable intent parsers next to Gemini: an on-prem Qwen model for air-gapped sites and Claude via the Anthropic API, selected by configuration with the regex parser as the last fallback. Then measure the true end-to-end loop time.
Phase 3: expand the architect's skill bank well beyond today's nine skills to cover transport knowledge (ACM and MRMC planning, rain and multipath fade margins, XPIC and space diversity, 1+1 HSB and ring protection, LAG and multi-band aggregation, QoS and slicing, synchronisation, energy saving, capacity planning). Feed the ns-3 generator from RFC 8345 topology, split twin interfaces per Y.3092, and wrap scenarios as ns3-ai Gymnasium environments so RL agents (for example the MARL-RIC MAPPO policy) train and are gated per TS 28.105 and Y.3181 before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today: the intent pipeline with Gemini and rule parsing, the TFS NBI integration, the ns-3.45 TSN scenario over SSH, the TFS to ns-3 generator and the Ceragon RESTCONF stage/commit/discard driver. The gap register lists what is mocked. The roadmap turns the demo into a working closed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image" Target="../media/image-5-13.png"/><Relationship Id="rId14" Type="http://schemas.openxmlformats.org/officeDocument/2006/relationships/image" Target="../media/image-5-14.png"/><Relationship Id="rId15" Type="http://schemas.openxmlformats.org/officeDocument/2006/relationships/image" Target="../media/image-5-15.png"/><Relationship Id="rId16" Type="http://schemas.openxmlformats.org/officeDocument/2006/relationships/image" Target="../media/image-5-16.png"/><Relationship Id="rId17" Type="http://schemas.openxmlformats.org/officeDocument/2006/relationships/image" Target="../media/image-5-17.png"/><Relationship Id="rId18" Type="http://schemas.openxmlformats.org/officeDocument/2006/relationships/image" Target="../media/image-5-18.png"/><Relationship Id="rId19" Type="http://schemas.openxmlformats.org/officeDocument/2006/relationships/slideLayout" Target="../slideLayouts/slideLayout1.xml"/><Relationship Id="rId2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6" Type="http://schemas.openxmlformats.org/officeDocument/2006/relationships/chart" Target="/ppt/charts/chart1.xml"/><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777240"/>
            <a:ext cx="5303520" cy="274320"/>
          </a:xfrm>
          <a:prstGeom prst="rect">
            <a:avLst/>
          </a:prstGeom>
          <a:noFill/>
          <a:ln/>
        </p:spPr>
        <p:txBody>
          <a:bodyPr wrap="square" lIns="0" tIns="0" rIns="0" bIns="0" rtlCol="0" anchor="t"/>
          <a:lstStyle/>
          <a:p>
            <a:pPr indent="0" marL="0">
              <a:buNone/>
            </a:pPr>
            <a:r>
              <a:rPr lang="en-US" sz="1100" b="1" spc="300" kern="0" dirty="0">
                <a:solidFill>
                  <a:srgbClr val="0FA3B1"/>
                </a:solidFill>
                <a:latin typeface="Arial" pitchFamily="34" charset="0"/>
                <a:ea typeface="Arial" pitchFamily="34" charset="-122"/>
                <a:cs typeface="Arial" pitchFamily="34" charset="-120"/>
              </a:rPr>
              <a:t>TELECOM DIGITAL TWIN · AS-BUILT REVIEW</a:t>
            </a:r>
            <a:endParaRPr lang="en-US" sz="1100" dirty="0"/>
          </a:p>
        </p:txBody>
      </p:sp>
      <p:sp>
        <p:nvSpPr>
          <p:cNvPr id="3" name="Text 1"/>
          <p:cNvSpPr txBox="1"/>
          <p:nvPr/>
        </p:nvSpPr>
        <p:spPr>
          <a:xfrm>
            <a:off x="548640" y="1143000"/>
            <a:ext cx="5303520" cy="82296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CER-Intent Digital Twin</a:t>
            </a:r>
            <a:endParaRPr lang="en-US" sz="3800" dirty="0"/>
          </a:p>
        </p:txBody>
      </p:sp>
      <p:sp>
        <p:nvSpPr>
          <p:cNvPr id="4" name="Text 2"/>
          <p:cNvSpPr txBox="1"/>
          <p:nvPr/>
        </p:nvSpPr>
        <p:spPr>
          <a:xfrm>
            <a:off x="548640" y="2057400"/>
            <a:ext cx="5029200" cy="731520"/>
          </a:xfrm>
          <a:prstGeom prst="rect">
            <a:avLst/>
          </a:prstGeom>
          <a:noFill/>
          <a:ln/>
        </p:spPr>
        <p:txBody>
          <a:bodyPr wrap="square" lIns="0" tIns="0" rIns="0" bIns="0" rtlCol="0" anchor="t"/>
          <a:lstStyle/>
          <a:p>
            <a:pPr indent="0" marL="0">
              <a:buNone/>
            </a:pPr>
            <a:r>
              <a:rPr lang="en-US" sz="1500" dirty="0">
                <a:solidFill>
                  <a:srgbClr val="C9D6E3"/>
                </a:solidFill>
                <a:latin typeface="Calibri" pitchFamily="34" charset="0"/>
                <a:ea typeface="Calibri" pitchFamily="34" charset="-122"/>
                <a:cs typeface="Calibri" pitchFamily="34" charset="-120"/>
              </a:rPr>
              <a:t>Architecture, what works today, and the roadmap for TeraFlowSDN, ns-3 and Ceragon microwave hardware</a:t>
            </a:r>
            <a:endParaRPr lang="en-US" sz="1500" dirty="0"/>
          </a:p>
        </p:txBody>
      </p:sp>
      <p:sp>
        <p:nvSpPr>
          <p:cNvPr id="5" name="Shape 3"/>
          <p:cNvSpPr/>
          <p:nvPr/>
        </p:nvSpPr>
        <p:spPr>
          <a:xfrm>
            <a:off x="548640" y="3017520"/>
            <a:ext cx="960120" cy="201168"/>
          </a:xfrm>
          <a:prstGeom prst="roundRect">
            <a:avLst>
              <a:gd name="adj" fmla="val 50000"/>
            </a:avLst>
          </a:prstGeom>
          <a:solidFill>
            <a:srgbClr val="22A06B"/>
          </a:solidFill>
          <a:ln w="12700">
            <a:solidFill>
              <a:srgbClr val="22A06B"/>
            </a:solidFill>
            <a:prstDash val="solid"/>
          </a:ln>
        </p:spPr>
      </p:sp>
      <p:sp>
        <p:nvSpPr>
          <p:cNvPr id="6" name="Text 4"/>
          <p:cNvSpPr txBox="1"/>
          <p:nvPr/>
        </p:nvSpPr>
        <p:spPr>
          <a:xfrm>
            <a:off x="548640" y="3017520"/>
            <a:ext cx="960120" cy="201168"/>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Arial" pitchFamily="34" charset="0"/>
                <a:ea typeface="Arial" pitchFamily="34" charset="-122"/>
                <a:cs typeface="Arial" pitchFamily="34" charset="-120"/>
              </a:rPr>
              <a:t>IMPLEMENTED</a:t>
            </a:r>
            <a:endParaRPr lang="en-US" sz="700" dirty="0"/>
          </a:p>
        </p:txBody>
      </p:sp>
      <p:sp>
        <p:nvSpPr>
          <p:cNvPr id="7" name="Text 5"/>
          <p:cNvSpPr txBox="1"/>
          <p:nvPr/>
        </p:nvSpPr>
        <p:spPr>
          <a:xfrm>
            <a:off x="1645920" y="3017520"/>
            <a:ext cx="3657600" cy="201168"/>
          </a:xfrm>
          <a:prstGeom prst="rect">
            <a:avLst/>
          </a:prstGeom>
          <a:noFill/>
          <a:ln/>
        </p:spPr>
        <p:txBody>
          <a:bodyPr wrap="square" lIns="0" tIns="0" rIns="0" bIns="0" rtlCol="0" anchor="ctr"/>
          <a:lstStyle/>
          <a:p>
            <a:pPr indent="0" marL="0">
              <a:buNone/>
            </a:pPr>
            <a:r>
              <a:rPr lang="en-US" sz="1050" dirty="0">
                <a:solidFill>
                  <a:srgbClr val="C9D6E3"/>
                </a:solidFill>
                <a:latin typeface="Calibri" pitchFamily="34" charset="0"/>
                <a:ea typeface="Calibri" pitchFamily="34" charset="-122"/>
                <a:cs typeface="Calibri" pitchFamily="34" charset="-120"/>
              </a:rPr>
              <a:t>works end to end in code</a:t>
            </a:r>
            <a:endParaRPr lang="en-US" sz="1050" dirty="0"/>
          </a:p>
        </p:txBody>
      </p:sp>
      <p:sp>
        <p:nvSpPr>
          <p:cNvPr id="8" name="Shape 6"/>
          <p:cNvSpPr/>
          <p:nvPr/>
        </p:nvSpPr>
        <p:spPr>
          <a:xfrm>
            <a:off x="548640" y="3310128"/>
            <a:ext cx="960120" cy="201168"/>
          </a:xfrm>
          <a:prstGeom prst="roundRect">
            <a:avLst>
              <a:gd name="adj" fmla="val 50000"/>
            </a:avLst>
          </a:prstGeom>
          <a:solidFill>
            <a:srgbClr val="E8912D"/>
          </a:solidFill>
          <a:ln w="12700">
            <a:solidFill>
              <a:srgbClr val="E8912D"/>
            </a:solidFill>
            <a:prstDash val="solid"/>
          </a:ln>
        </p:spPr>
      </p:sp>
      <p:sp>
        <p:nvSpPr>
          <p:cNvPr id="9" name="Text 7"/>
          <p:cNvSpPr txBox="1"/>
          <p:nvPr/>
        </p:nvSpPr>
        <p:spPr>
          <a:xfrm>
            <a:off x="548640" y="3310128"/>
            <a:ext cx="960120" cy="201168"/>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Arial" pitchFamily="34" charset="0"/>
                <a:ea typeface="Arial" pitchFamily="34" charset="-122"/>
                <a:cs typeface="Arial" pitchFamily="34" charset="-120"/>
              </a:rPr>
              <a:t>PARTIAL</a:t>
            </a:r>
            <a:endParaRPr lang="en-US" sz="700" dirty="0"/>
          </a:p>
        </p:txBody>
      </p:sp>
      <p:sp>
        <p:nvSpPr>
          <p:cNvPr id="10" name="Text 8"/>
          <p:cNvSpPr txBox="1"/>
          <p:nvPr/>
        </p:nvSpPr>
        <p:spPr>
          <a:xfrm>
            <a:off x="1645920" y="3310128"/>
            <a:ext cx="3657600" cy="201168"/>
          </a:xfrm>
          <a:prstGeom prst="rect">
            <a:avLst/>
          </a:prstGeom>
          <a:noFill/>
          <a:ln/>
        </p:spPr>
        <p:txBody>
          <a:bodyPr wrap="square" lIns="0" tIns="0" rIns="0" bIns="0" rtlCol="0" anchor="ctr"/>
          <a:lstStyle/>
          <a:p>
            <a:pPr indent="0" marL="0">
              <a:buNone/>
            </a:pPr>
            <a:r>
              <a:rPr lang="en-US" sz="1050" dirty="0">
                <a:solidFill>
                  <a:srgbClr val="C9D6E3"/>
                </a:solidFill>
                <a:latin typeface="Calibri" pitchFamily="34" charset="0"/>
                <a:ea typeface="Calibri" pitchFamily="34" charset="-122"/>
                <a:cs typeface="Calibri" pitchFamily="34" charset="-120"/>
              </a:rPr>
              <a:t>real code, with limits</a:t>
            </a:r>
            <a:endParaRPr lang="en-US" sz="1050" dirty="0"/>
          </a:p>
        </p:txBody>
      </p:sp>
      <p:sp>
        <p:nvSpPr>
          <p:cNvPr id="11" name="Shape 9"/>
          <p:cNvSpPr/>
          <p:nvPr/>
        </p:nvSpPr>
        <p:spPr>
          <a:xfrm>
            <a:off x="548640" y="3602736"/>
            <a:ext cx="960120" cy="201168"/>
          </a:xfrm>
          <a:prstGeom prst="roundRect">
            <a:avLst>
              <a:gd name="adj" fmla="val 50000"/>
            </a:avLst>
          </a:prstGeom>
          <a:solidFill>
            <a:srgbClr val="D64545"/>
          </a:solidFill>
          <a:ln w="12700">
            <a:solidFill>
              <a:srgbClr val="D64545"/>
            </a:solidFill>
            <a:prstDash val="solid"/>
          </a:ln>
        </p:spPr>
      </p:sp>
      <p:sp>
        <p:nvSpPr>
          <p:cNvPr id="12" name="Text 10"/>
          <p:cNvSpPr txBox="1"/>
          <p:nvPr/>
        </p:nvSpPr>
        <p:spPr>
          <a:xfrm>
            <a:off x="548640" y="3602736"/>
            <a:ext cx="960120" cy="201168"/>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Arial" pitchFamily="34" charset="0"/>
                <a:ea typeface="Arial" pitchFamily="34" charset="-122"/>
                <a:cs typeface="Arial" pitchFamily="34" charset="-120"/>
              </a:rPr>
              <a:t>MOCK</a:t>
            </a:r>
            <a:endParaRPr lang="en-US" sz="700" dirty="0"/>
          </a:p>
        </p:txBody>
      </p:sp>
      <p:sp>
        <p:nvSpPr>
          <p:cNvPr id="13" name="Text 11"/>
          <p:cNvSpPr txBox="1"/>
          <p:nvPr/>
        </p:nvSpPr>
        <p:spPr>
          <a:xfrm>
            <a:off x="1645920" y="3602736"/>
            <a:ext cx="3657600" cy="201168"/>
          </a:xfrm>
          <a:prstGeom prst="rect">
            <a:avLst/>
          </a:prstGeom>
          <a:noFill/>
          <a:ln/>
        </p:spPr>
        <p:txBody>
          <a:bodyPr wrap="square" lIns="0" tIns="0" rIns="0" bIns="0" rtlCol="0" anchor="ctr"/>
          <a:lstStyle/>
          <a:p>
            <a:pPr indent="0" marL="0">
              <a:buNone/>
            </a:pPr>
            <a:r>
              <a:rPr lang="en-US" sz="1050" dirty="0">
                <a:solidFill>
                  <a:srgbClr val="C9D6E3"/>
                </a:solidFill>
                <a:latin typeface="Calibri" pitchFamily="34" charset="0"/>
                <a:ea typeface="Calibri" pitchFamily="34" charset="-122"/>
                <a:cs typeface="Calibri" pitchFamily="34" charset="-120"/>
              </a:rPr>
              <a:t>hard-coded or simulated output</a:t>
            </a:r>
            <a:endParaRPr lang="en-US" sz="1050" dirty="0"/>
          </a:p>
        </p:txBody>
      </p:sp>
      <p:sp>
        <p:nvSpPr>
          <p:cNvPr id="14" name="Shape 12"/>
          <p:cNvSpPr/>
          <p:nvPr/>
        </p:nvSpPr>
        <p:spPr>
          <a:xfrm>
            <a:off x="548640" y="3895344"/>
            <a:ext cx="960120" cy="201168"/>
          </a:xfrm>
          <a:prstGeom prst="roundRect">
            <a:avLst>
              <a:gd name="adj" fmla="val 50000"/>
            </a:avLst>
          </a:prstGeom>
          <a:solidFill>
            <a:srgbClr val="FFFFFF"/>
          </a:solidFill>
          <a:ln w="12700">
            <a:solidFill>
              <a:srgbClr val="9AA7B4"/>
            </a:solidFill>
            <a:prstDash val="dash"/>
          </a:ln>
        </p:spPr>
      </p:sp>
      <p:sp>
        <p:nvSpPr>
          <p:cNvPr id="15" name="Text 13"/>
          <p:cNvSpPr txBox="1"/>
          <p:nvPr/>
        </p:nvSpPr>
        <p:spPr>
          <a:xfrm>
            <a:off x="548640" y="3895344"/>
            <a:ext cx="960120" cy="201168"/>
          </a:xfrm>
          <a:prstGeom prst="rect">
            <a:avLst/>
          </a:prstGeom>
          <a:noFill/>
          <a:ln/>
        </p:spPr>
        <p:txBody>
          <a:bodyPr wrap="square" lIns="0" tIns="0" rIns="0" bIns="0" rtlCol="0" anchor="ctr"/>
          <a:lstStyle/>
          <a:p>
            <a:pPr algn="ctr" indent="0" marL="0">
              <a:buNone/>
            </a:pPr>
            <a:r>
              <a:rPr lang="en-US" sz="700" b="1" spc="50" kern="0" dirty="0">
                <a:solidFill>
                  <a:srgbClr val="5A6B7D"/>
                </a:solidFill>
                <a:latin typeface="Arial" pitchFamily="34" charset="0"/>
                <a:ea typeface="Arial" pitchFamily="34" charset="-122"/>
                <a:cs typeface="Arial" pitchFamily="34" charset="-120"/>
              </a:rPr>
              <a:t>PLANNED</a:t>
            </a:r>
            <a:endParaRPr lang="en-US" sz="700" dirty="0"/>
          </a:p>
        </p:txBody>
      </p:sp>
      <p:sp>
        <p:nvSpPr>
          <p:cNvPr id="16" name="Text 14"/>
          <p:cNvSpPr txBox="1"/>
          <p:nvPr/>
        </p:nvSpPr>
        <p:spPr>
          <a:xfrm>
            <a:off x="1645920" y="3895344"/>
            <a:ext cx="3657600" cy="201168"/>
          </a:xfrm>
          <a:prstGeom prst="rect">
            <a:avLst/>
          </a:prstGeom>
          <a:noFill/>
          <a:ln/>
        </p:spPr>
        <p:txBody>
          <a:bodyPr wrap="square" lIns="0" tIns="0" rIns="0" bIns="0" rtlCol="0" anchor="ctr"/>
          <a:lstStyle/>
          <a:p>
            <a:pPr indent="0" marL="0">
              <a:buNone/>
            </a:pPr>
            <a:r>
              <a:rPr lang="en-US" sz="1050" dirty="0">
                <a:solidFill>
                  <a:srgbClr val="C9D6E3"/>
                </a:solidFill>
                <a:latin typeface="Calibri" pitchFamily="34" charset="0"/>
                <a:ea typeface="Calibri" pitchFamily="34" charset="-122"/>
                <a:cs typeface="Calibri" pitchFamily="34" charset="-120"/>
              </a:rPr>
              <a:t>design or docs only</a:t>
            </a:r>
            <a:endParaRPr lang="en-US" sz="1050" dirty="0"/>
          </a:p>
        </p:txBody>
      </p:sp>
      <p:sp>
        <p:nvSpPr>
          <p:cNvPr id="17" name="Text 15"/>
          <p:cNvSpPr txBox="1"/>
          <p:nvPr/>
        </p:nvSpPr>
        <p:spPr>
          <a:xfrm>
            <a:off x="548640" y="4526280"/>
            <a:ext cx="8046720" cy="274320"/>
          </a:xfrm>
          <a:prstGeom prst="rect">
            <a:avLst/>
          </a:prstGeom>
          <a:noFill/>
          <a:ln/>
        </p:spPr>
        <p:txBody>
          <a:bodyPr wrap="square" lIns="0" tIns="0" rIns="0" bIns="0" rtlCol="0" anchor="t"/>
          <a:lstStyle/>
          <a:p>
            <a:pPr indent="0" marL="0">
              <a:buNone/>
            </a:pPr>
            <a:r>
              <a:rPr lang="en-US" sz="1000" dirty="0">
                <a:solidFill>
                  <a:srgbClr val="8FA3B8"/>
                </a:solidFill>
                <a:latin typeface="Calibri" pitchFamily="34" charset="0"/>
                <a:ea typeface="Calibri" pitchFamily="34" charset="-122"/>
                <a:cs typeface="Calibri" pitchFamily="34" charset="-120"/>
              </a:rPr>
              <a:t>Based on cer-intent @f2c3fea · tfs-ns3-digital-twin @a9ccad6 · teraflowsdn @1e91cf2 · September 2026</a:t>
            </a:r>
            <a:endParaRPr lang="en-US" sz="1000" dirty="0"/>
          </a:p>
        </p:txBody>
      </p:sp>
      <p:sp>
        <p:nvSpPr>
          <p:cNvPr id="18" name="Shape 16"/>
          <p:cNvSpPr/>
          <p:nvPr/>
        </p:nvSpPr>
        <p:spPr>
          <a:xfrm>
            <a:off x="6583680" y="1051560"/>
            <a:ext cx="0" cy="2743200"/>
          </a:xfrm>
          <a:prstGeom prst="line">
            <a:avLst/>
          </a:prstGeom>
          <a:noFill/>
          <a:ln w="25400">
            <a:solidFill>
              <a:srgbClr val="3A5575"/>
            </a:solidFill>
            <a:prstDash val="dash"/>
          </a:ln>
        </p:spPr>
      </p:sp>
      <p:sp>
        <p:nvSpPr>
          <p:cNvPr id="19" name="Shape 17"/>
          <p:cNvSpPr/>
          <p:nvPr/>
        </p:nvSpPr>
        <p:spPr>
          <a:xfrm>
            <a:off x="6309360" y="777240"/>
            <a:ext cx="548640" cy="548640"/>
          </a:xfrm>
          <a:prstGeom prst="ellipse">
            <a:avLst/>
          </a:prstGeom>
          <a:solidFill>
            <a:srgbClr val="7C5CFF"/>
          </a:solidFill>
          <a:ln w="12700">
            <a:solidFill>
              <a:srgbClr val="7C5CFF"/>
            </a:solidFill>
            <a:prstDash val="solid"/>
          </a:ln>
        </p:spPr>
      </p:sp>
      <p:pic>
        <p:nvPicPr>
          <p:cNvPr id="20" name="Image 0" descr="preencoded.png">    </p:cNvPr>
          <p:cNvPicPr>
            <a:picLocks noChangeAspect="1"/>
          </p:cNvPicPr>
          <p:nvPr/>
        </p:nvPicPr>
        <p:blipFill>
          <a:blip r:embed="rId1"/>
          <a:stretch>
            <a:fillRect/>
          </a:stretch>
        </p:blipFill>
        <p:spPr>
          <a:xfrm>
            <a:off x="6446520" y="914400"/>
            <a:ext cx="274320" cy="274320"/>
          </a:xfrm>
          <a:prstGeom prst="rect">
            <a:avLst/>
          </a:prstGeom>
        </p:spPr>
      </p:pic>
      <p:sp>
        <p:nvSpPr>
          <p:cNvPr id="21" name="Text 18"/>
          <p:cNvSpPr txBox="1"/>
          <p:nvPr/>
        </p:nvSpPr>
        <p:spPr>
          <a:xfrm>
            <a:off x="7022592" y="822960"/>
            <a:ext cx="2011680" cy="256032"/>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CER-Intent</a:t>
            </a:r>
            <a:endParaRPr lang="en-US" sz="1300" dirty="0"/>
          </a:p>
        </p:txBody>
      </p:sp>
      <p:sp>
        <p:nvSpPr>
          <p:cNvPr id="22" name="Text 19"/>
          <p:cNvSpPr txBox="1"/>
          <p:nvPr/>
        </p:nvSpPr>
        <p:spPr>
          <a:xfrm>
            <a:off x="7022592" y="1069848"/>
            <a:ext cx="2011680" cy="228600"/>
          </a:xfrm>
          <a:prstGeom prst="rect">
            <a:avLst/>
          </a:prstGeom>
          <a:noFill/>
          <a:ln/>
        </p:spPr>
        <p:txBody>
          <a:bodyPr wrap="square" lIns="0" tIns="0" rIns="0" bIns="0" rtlCol="0" anchor="t"/>
          <a:lstStyle/>
          <a:p>
            <a:pPr indent="0" marL="0">
              <a:buNone/>
            </a:pPr>
            <a:r>
              <a:rPr lang="en-US" sz="1050" dirty="0">
                <a:solidFill>
                  <a:srgbClr val="8FA3B8"/>
                </a:solidFill>
                <a:latin typeface="Calibri" pitchFamily="34" charset="0"/>
                <a:ea typeface="Calibri" pitchFamily="34" charset="-122"/>
                <a:cs typeface="Calibri" pitchFamily="34" charset="-120"/>
              </a:rPr>
              <a:t>intent → config</a:t>
            </a:r>
            <a:endParaRPr lang="en-US" sz="1050" dirty="0"/>
          </a:p>
        </p:txBody>
      </p:sp>
      <p:sp>
        <p:nvSpPr>
          <p:cNvPr id="23" name="Shape 20"/>
          <p:cNvSpPr/>
          <p:nvPr/>
        </p:nvSpPr>
        <p:spPr>
          <a:xfrm>
            <a:off x="6309360" y="1691640"/>
            <a:ext cx="548640" cy="548640"/>
          </a:xfrm>
          <a:prstGeom prst="ellipse">
            <a:avLst/>
          </a:prstGeom>
          <a:solidFill>
            <a:srgbClr val="0FA3B1"/>
          </a:solidFill>
          <a:ln w="12700">
            <a:solidFill>
              <a:srgbClr val="0FA3B1"/>
            </a:solidFill>
            <a:prstDash val="solid"/>
          </a:ln>
        </p:spPr>
      </p:sp>
      <p:pic>
        <p:nvPicPr>
          <p:cNvPr id="24" name="Image 1" descr="preencoded.png">    </p:cNvPr>
          <p:cNvPicPr>
            <a:picLocks noChangeAspect="1"/>
          </p:cNvPicPr>
          <p:nvPr/>
        </p:nvPicPr>
        <p:blipFill>
          <a:blip r:embed="rId2"/>
          <a:stretch>
            <a:fillRect/>
          </a:stretch>
        </p:blipFill>
        <p:spPr>
          <a:xfrm>
            <a:off x="6446520" y="1828800"/>
            <a:ext cx="274320" cy="274320"/>
          </a:xfrm>
          <a:prstGeom prst="rect">
            <a:avLst/>
          </a:prstGeom>
        </p:spPr>
      </p:pic>
      <p:sp>
        <p:nvSpPr>
          <p:cNvPr id="25" name="Text 21"/>
          <p:cNvSpPr txBox="1"/>
          <p:nvPr/>
        </p:nvSpPr>
        <p:spPr>
          <a:xfrm>
            <a:off x="7022592" y="1737360"/>
            <a:ext cx="2011680" cy="256032"/>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TeraFlowSDN</a:t>
            </a:r>
            <a:endParaRPr lang="en-US" sz="1300" dirty="0"/>
          </a:p>
        </p:txBody>
      </p:sp>
      <p:sp>
        <p:nvSpPr>
          <p:cNvPr id="26" name="Text 22"/>
          <p:cNvSpPr txBox="1"/>
          <p:nvPr/>
        </p:nvSpPr>
        <p:spPr>
          <a:xfrm>
            <a:off x="7022592" y="1984248"/>
            <a:ext cx="2011680" cy="228600"/>
          </a:xfrm>
          <a:prstGeom prst="rect">
            <a:avLst/>
          </a:prstGeom>
          <a:noFill/>
          <a:ln/>
        </p:spPr>
        <p:txBody>
          <a:bodyPr wrap="square" lIns="0" tIns="0" rIns="0" bIns="0" rtlCol="0" anchor="t"/>
          <a:lstStyle/>
          <a:p>
            <a:pPr indent="0" marL="0">
              <a:buNone/>
            </a:pPr>
            <a:r>
              <a:rPr lang="en-US" sz="1050" dirty="0">
                <a:solidFill>
                  <a:srgbClr val="8FA3B8"/>
                </a:solidFill>
                <a:latin typeface="Calibri" pitchFamily="34" charset="0"/>
                <a:ea typeface="Calibri" pitchFamily="34" charset="-122"/>
                <a:cs typeface="Calibri" pitchFamily="34" charset="-120"/>
              </a:rPr>
              <a:t>SDN controller</a:t>
            </a:r>
            <a:endParaRPr lang="en-US" sz="1050" dirty="0"/>
          </a:p>
        </p:txBody>
      </p:sp>
      <p:sp>
        <p:nvSpPr>
          <p:cNvPr id="27" name="Shape 23"/>
          <p:cNvSpPr/>
          <p:nvPr/>
        </p:nvSpPr>
        <p:spPr>
          <a:xfrm>
            <a:off x="6309360" y="2606040"/>
            <a:ext cx="548640" cy="548640"/>
          </a:xfrm>
          <a:prstGeom prst="ellipse">
            <a:avLst/>
          </a:prstGeom>
          <a:solidFill>
            <a:srgbClr val="E8912D"/>
          </a:solidFill>
          <a:ln w="12700">
            <a:solidFill>
              <a:srgbClr val="E8912D"/>
            </a:solidFill>
            <a:prstDash val="solid"/>
          </a:ln>
        </p:spPr>
      </p:sp>
      <p:pic>
        <p:nvPicPr>
          <p:cNvPr id="28" name="Image 2" descr="preencoded.png">    </p:cNvPr>
          <p:cNvPicPr>
            <a:picLocks noChangeAspect="1"/>
          </p:cNvPicPr>
          <p:nvPr/>
        </p:nvPicPr>
        <p:blipFill>
          <a:blip r:embed="rId3"/>
          <a:stretch>
            <a:fillRect/>
          </a:stretch>
        </p:blipFill>
        <p:spPr>
          <a:xfrm>
            <a:off x="6446520" y="2743200"/>
            <a:ext cx="274320" cy="274320"/>
          </a:xfrm>
          <a:prstGeom prst="rect">
            <a:avLst/>
          </a:prstGeom>
        </p:spPr>
      </p:pic>
      <p:sp>
        <p:nvSpPr>
          <p:cNvPr id="29" name="Text 24"/>
          <p:cNvSpPr txBox="1"/>
          <p:nvPr/>
        </p:nvSpPr>
        <p:spPr>
          <a:xfrm>
            <a:off x="7022592" y="2651760"/>
            <a:ext cx="2011680" cy="256032"/>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ns-3.45</a:t>
            </a:r>
            <a:endParaRPr lang="en-US" sz="1300" dirty="0"/>
          </a:p>
        </p:txBody>
      </p:sp>
      <p:sp>
        <p:nvSpPr>
          <p:cNvPr id="30" name="Text 25"/>
          <p:cNvSpPr txBox="1"/>
          <p:nvPr/>
        </p:nvSpPr>
        <p:spPr>
          <a:xfrm>
            <a:off x="7022592" y="2898648"/>
            <a:ext cx="2011680" cy="228600"/>
          </a:xfrm>
          <a:prstGeom prst="rect">
            <a:avLst/>
          </a:prstGeom>
          <a:noFill/>
          <a:ln/>
        </p:spPr>
        <p:txBody>
          <a:bodyPr wrap="square" lIns="0" tIns="0" rIns="0" bIns="0" rtlCol="0" anchor="t"/>
          <a:lstStyle/>
          <a:p>
            <a:pPr indent="0" marL="0">
              <a:buNone/>
            </a:pPr>
            <a:r>
              <a:rPr lang="en-US" sz="1050" dirty="0">
                <a:solidFill>
                  <a:srgbClr val="8FA3B8"/>
                </a:solidFill>
                <a:latin typeface="Calibri" pitchFamily="34" charset="0"/>
                <a:ea typeface="Calibri" pitchFamily="34" charset="-122"/>
                <a:cs typeface="Calibri" pitchFamily="34" charset="-120"/>
              </a:rPr>
              <a:t>discrete-event twin</a:t>
            </a:r>
            <a:endParaRPr lang="en-US" sz="1050" dirty="0"/>
          </a:p>
        </p:txBody>
      </p:sp>
      <p:sp>
        <p:nvSpPr>
          <p:cNvPr id="31" name="Shape 26"/>
          <p:cNvSpPr/>
          <p:nvPr/>
        </p:nvSpPr>
        <p:spPr>
          <a:xfrm>
            <a:off x="6309360" y="3520440"/>
            <a:ext cx="548640" cy="548640"/>
          </a:xfrm>
          <a:prstGeom prst="ellipse">
            <a:avLst/>
          </a:prstGeom>
          <a:solidFill>
            <a:srgbClr val="22A06B"/>
          </a:solidFill>
          <a:ln w="12700">
            <a:solidFill>
              <a:srgbClr val="22A06B"/>
            </a:solidFill>
            <a:prstDash val="solid"/>
          </a:ln>
        </p:spPr>
      </p:sp>
      <p:pic>
        <p:nvPicPr>
          <p:cNvPr id="32" name="Image 3" descr="preencoded.png">    </p:cNvPr>
          <p:cNvPicPr>
            <a:picLocks noChangeAspect="1"/>
          </p:cNvPicPr>
          <p:nvPr/>
        </p:nvPicPr>
        <p:blipFill>
          <a:blip r:embed="rId4"/>
          <a:stretch>
            <a:fillRect/>
          </a:stretch>
        </p:blipFill>
        <p:spPr>
          <a:xfrm>
            <a:off x="6446520" y="3657600"/>
            <a:ext cx="274320" cy="274320"/>
          </a:xfrm>
          <a:prstGeom prst="rect">
            <a:avLst/>
          </a:prstGeom>
        </p:spPr>
      </p:pic>
      <p:sp>
        <p:nvSpPr>
          <p:cNvPr id="33" name="Text 27"/>
          <p:cNvSpPr txBox="1"/>
          <p:nvPr/>
        </p:nvSpPr>
        <p:spPr>
          <a:xfrm>
            <a:off x="7022592" y="3566160"/>
            <a:ext cx="2011680" cy="256032"/>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Ceragon MH-T261</a:t>
            </a:r>
            <a:endParaRPr lang="en-US" sz="1300" dirty="0"/>
          </a:p>
        </p:txBody>
      </p:sp>
      <p:sp>
        <p:nvSpPr>
          <p:cNvPr id="34" name="Text 28"/>
          <p:cNvSpPr txBox="1"/>
          <p:nvPr/>
        </p:nvSpPr>
        <p:spPr>
          <a:xfrm>
            <a:off x="7022592" y="3813048"/>
            <a:ext cx="2011680" cy="228600"/>
          </a:xfrm>
          <a:prstGeom prst="rect">
            <a:avLst/>
          </a:prstGeom>
          <a:noFill/>
          <a:ln/>
        </p:spPr>
        <p:txBody>
          <a:bodyPr wrap="square" lIns="0" tIns="0" rIns="0" bIns="0" rtlCol="0" anchor="t"/>
          <a:lstStyle/>
          <a:p>
            <a:pPr indent="0" marL="0">
              <a:buNone/>
            </a:pPr>
            <a:r>
              <a:rPr lang="en-US" sz="1050" dirty="0">
                <a:solidFill>
                  <a:srgbClr val="8FA3B8"/>
                </a:solidFill>
                <a:latin typeface="Calibri" pitchFamily="34" charset="0"/>
                <a:ea typeface="Calibri" pitchFamily="34" charset="-122"/>
                <a:cs typeface="Calibri" pitchFamily="34" charset="-120"/>
              </a:rPr>
              <a:t>60 GHz radio</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000" b="1" spc="200" kern="0" dirty="0">
                <a:solidFill>
                  <a:srgbClr val="0FA3B1"/>
                </a:solidFill>
                <a:latin typeface="Arial" pitchFamily="34" charset="0"/>
                <a:ea typeface="Arial" pitchFamily="34" charset="-122"/>
                <a:cs typeface="Arial" pitchFamily="34" charset="-120"/>
              </a:rPr>
              <a:t>MOTIVATION</a:t>
            </a:r>
            <a:endParaRPr lang="en-US" sz="10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400" b="1" dirty="0">
                <a:solidFill>
                  <a:srgbClr val="0B1D33"/>
                </a:solidFill>
                <a:latin typeface="Arial" pitchFamily="34" charset="0"/>
                <a:ea typeface="Arial" pitchFamily="34" charset="-122"/>
                <a:cs typeface="Arial" pitchFamily="34" charset="-120"/>
              </a:rPr>
              <a:t>Why this project exists</a:t>
            </a:r>
            <a:endParaRPr lang="en-US" sz="2400" dirty="0"/>
          </a:p>
        </p:txBody>
      </p:sp>
      <p:sp>
        <p:nvSpPr>
          <p:cNvPr id="4" name="Shape 2"/>
          <p:cNvSpPr/>
          <p:nvPr/>
        </p:nvSpPr>
        <p:spPr>
          <a:xfrm>
            <a:off x="457200" y="1188720"/>
            <a:ext cx="8229600" cy="566928"/>
          </a:xfrm>
          <a:prstGeom prst="roundRect">
            <a:avLst>
              <a:gd name="adj" fmla="val 12903"/>
            </a:avLst>
          </a:prstGeom>
          <a:solidFill>
            <a:srgbClr val="0B1D33"/>
          </a:solidFill>
          <a:ln w="12700">
            <a:solidFill>
              <a:srgbClr val="0B1D33"/>
            </a:solidFill>
            <a:prstDash val="solid"/>
          </a:ln>
        </p:spPr>
      </p:sp>
      <p:sp>
        <p:nvSpPr>
          <p:cNvPr id="5" name="Text 3"/>
          <p:cNvSpPr txBox="1"/>
          <p:nvPr/>
        </p:nvSpPr>
        <p:spPr>
          <a:xfrm>
            <a:off x="640080" y="1188720"/>
            <a:ext cx="7863840" cy="566928"/>
          </a:xfrm>
          <a:prstGeom prst="rect">
            <a:avLst/>
          </a:prstGeom>
          <a:noFill/>
          <a:ln/>
        </p:spPr>
        <p:txBody>
          <a:bodyPr wrap="square" lIns="0" tIns="0" rIns="0" bIns="0" rtlCol="0" anchor="ctr"/>
          <a:lstStyle/>
          <a:p>
            <a:pPr indent="0" marL="0">
              <a:buNone/>
            </a:pPr>
            <a:r>
              <a:rPr lang="en-US" sz="1150" b="1" dirty="0">
                <a:solidFill>
                  <a:srgbClr val="0FA3B1"/>
                </a:solidFill>
                <a:latin typeface="Calibri" pitchFamily="34" charset="0"/>
                <a:ea typeface="Calibri" pitchFamily="34" charset="-122"/>
                <a:cs typeface="Calibri" pitchFamily="34" charset="-120"/>
              </a:rPr>
              <a:t>Purpose: </a:t>
            </a:r>
            <a:pPr indent="0" marL="0">
              <a:buNone/>
            </a:pPr>
            <a:r>
              <a:rPr lang="en-US" sz="1150" dirty="0">
                <a:solidFill>
                  <a:srgbClr val="FFFFFF"/>
                </a:solidFill>
                <a:latin typeface="Calibri" pitchFamily="34" charset="0"/>
                <a:ea typeface="Calibri" pitchFamily="34" charset="-122"/>
                <a:cs typeface="Calibri" pitchFamily="34" charset="-120"/>
              </a:rPr>
              <a:t>let operators state what they want in plain words, test it in a digital twin, and only then change the live microwave network, automatically and safely.</a:t>
            </a:r>
            <a:endParaRPr lang="en-US" sz="1150" dirty="0"/>
          </a:p>
        </p:txBody>
      </p:sp>
      <p:sp>
        <p:nvSpPr>
          <p:cNvPr id="6" name="Text 4"/>
          <p:cNvSpPr txBox="1"/>
          <p:nvPr/>
        </p:nvSpPr>
        <p:spPr>
          <a:xfrm>
            <a:off x="457200" y="1920240"/>
            <a:ext cx="3657600" cy="201168"/>
          </a:xfrm>
          <a:prstGeom prst="rect">
            <a:avLst/>
          </a:prstGeom>
          <a:noFill/>
          <a:ln/>
        </p:spPr>
        <p:txBody>
          <a:bodyPr wrap="square" lIns="0" tIns="0" rIns="0" bIns="0" rtlCol="0" anchor="t"/>
          <a:lstStyle/>
          <a:p>
            <a:pPr indent="0" marL="0">
              <a:buNone/>
            </a:pPr>
            <a:r>
              <a:rPr lang="en-US" sz="900" b="1" spc="150" kern="0" dirty="0">
                <a:solidFill>
                  <a:srgbClr val="D64545"/>
                </a:solidFill>
                <a:latin typeface="Calibri" pitchFamily="34" charset="0"/>
                <a:ea typeface="Calibri" pitchFamily="34" charset="-122"/>
                <a:cs typeface="Calibri" pitchFamily="34" charset="-120"/>
              </a:rPr>
              <a:t>WHY</a:t>
            </a:r>
            <a:endParaRPr lang="en-US" sz="900" dirty="0"/>
          </a:p>
        </p:txBody>
      </p:sp>
      <p:sp>
        <p:nvSpPr>
          <p:cNvPr id="7" name="Shape 5"/>
          <p:cNvSpPr/>
          <p:nvPr/>
        </p:nvSpPr>
        <p:spPr>
          <a:xfrm>
            <a:off x="457200" y="2231136"/>
            <a:ext cx="420624" cy="420624"/>
          </a:xfrm>
          <a:prstGeom prst="ellipse">
            <a:avLst/>
          </a:prstGeom>
          <a:solidFill>
            <a:srgbClr val="D64545"/>
          </a:solidFill>
          <a:ln w="12700">
            <a:solidFill>
              <a:srgbClr val="D64545"/>
            </a:solidFill>
            <a:prstDash val="solid"/>
          </a:ln>
        </p:spPr>
      </p:sp>
      <p:pic>
        <p:nvPicPr>
          <p:cNvPr id="8" name="Image 0" descr="preencoded.png">    </p:cNvPr>
          <p:cNvPicPr>
            <a:picLocks noChangeAspect="1"/>
          </p:cNvPicPr>
          <p:nvPr/>
        </p:nvPicPr>
        <p:blipFill>
          <a:blip r:embed="rId1"/>
          <a:stretch>
            <a:fillRect/>
          </a:stretch>
        </p:blipFill>
        <p:spPr>
          <a:xfrm>
            <a:off x="562356" y="2336292"/>
            <a:ext cx="210312" cy="210312"/>
          </a:xfrm>
          <a:prstGeom prst="rect">
            <a:avLst/>
          </a:prstGeom>
        </p:spPr>
      </p:pic>
      <p:sp>
        <p:nvSpPr>
          <p:cNvPr id="9" name="Text 6"/>
          <p:cNvSpPr txBox="1"/>
          <p:nvPr/>
        </p:nvSpPr>
        <p:spPr>
          <a:xfrm>
            <a:off x="1005840" y="2194560"/>
            <a:ext cx="3017520" cy="237744"/>
          </a:xfrm>
          <a:prstGeom prst="rect">
            <a:avLst/>
          </a:prstGeom>
          <a:noFill/>
          <a:ln/>
        </p:spPr>
        <p:txBody>
          <a:bodyPr wrap="square" lIns="0" tIns="0" rIns="0" bIns="0" rtlCol="0" anchor="t"/>
          <a:lstStyle/>
          <a:p>
            <a:pPr indent="0" marL="0">
              <a:buNone/>
            </a:pPr>
            <a:r>
              <a:rPr lang="en-US" sz="1100" b="1" dirty="0">
                <a:solidFill>
                  <a:srgbClr val="1A2B3C"/>
                </a:solidFill>
                <a:latin typeface="Arial" pitchFamily="34" charset="0"/>
                <a:ea typeface="Arial" pitchFamily="34" charset="-122"/>
                <a:cs typeface="Arial" pitchFamily="34" charset="-120"/>
              </a:rPr>
              <a:t>Weather moves capacity</a:t>
            </a:r>
            <a:endParaRPr lang="en-US" sz="1100" dirty="0"/>
          </a:p>
        </p:txBody>
      </p:sp>
      <p:sp>
        <p:nvSpPr>
          <p:cNvPr id="10" name="Text 7"/>
          <p:cNvSpPr txBox="1"/>
          <p:nvPr/>
        </p:nvSpPr>
        <p:spPr>
          <a:xfrm>
            <a:off x="1005840" y="2441448"/>
            <a:ext cx="3063240" cy="347472"/>
          </a:xfrm>
          <a:prstGeom prst="rect">
            <a:avLst/>
          </a:prstGeom>
          <a:noFill/>
          <a:ln/>
        </p:spPr>
        <p:txBody>
          <a:bodyPr wrap="square" lIns="0" tIns="0" rIns="0" bIns="0" rtlCol="0" anchor="t"/>
          <a:lstStyle/>
          <a:p>
            <a:pPr indent="0" marL="0">
              <a:buNone/>
            </a:pPr>
            <a:r>
              <a:rPr lang="en-US" sz="950" dirty="0">
                <a:solidFill>
                  <a:srgbClr val="5A6B7D"/>
                </a:solidFill>
                <a:latin typeface="Calibri" pitchFamily="34" charset="0"/>
                <a:ea typeface="Calibri" pitchFamily="34" charset="-122"/>
                <a:cs typeface="Calibri" pitchFamily="34" charset="-120"/>
              </a:rPr>
              <a:t>Rain fade at 60–80 GHz can cut a link from 1 Gbps to 100 Mbps.</a:t>
            </a:r>
            <a:endParaRPr lang="en-US" sz="950" dirty="0"/>
          </a:p>
        </p:txBody>
      </p:sp>
      <p:sp>
        <p:nvSpPr>
          <p:cNvPr id="11" name="Shape 8"/>
          <p:cNvSpPr/>
          <p:nvPr/>
        </p:nvSpPr>
        <p:spPr>
          <a:xfrm>
            <a:off x="457200" y="2871216"/>
            <a:ext cx="420624" cy="420624"/>
          </a:xfrm>
          <a:prstGeom prst="ellipse">
            <a:avLst/>
          </a:prstGeom>
          <a:solidFill>
            <a:srgbClr val="D64545"/>
          </a:solidFill>
          <a:ln w="12700">
            <a:solidFill>
              <a:srgbClr val="D64545"/>
            </a:solidFill>
            <a:prstDash val="solid"/>
          </a:ln>
        </p:spPr>
      </p:sp>
      <p:pic>
        <p:nvPicPr>
          <p:cNvPr id="12" name="Image 1" descr="preencoded.png">    </p:cNvPr>
          <p:cNvPicPr>
            <a:picLocks noChangeAspect="1"/>
          </p:cNvPicPr>
          <p:nvPr/>
        </p:nvPicPr>
        <p:blipFill>
          <a:blip r:embed="rId2"/>
          <a:stretch>
            <a:fillRect/>
          </a:stretch>
        </p:blipFill>
        <p:spPr>
          <a:xfrm>
            <a:off x="562356" y="2976372"/>
            <a:ext cx="210312" cy="210312"/>
          </a:xfrm>
          <a:prstGeom prst="rect">
            <a:avLst/>
          </a:prstGeom>
        </p:spPr>
      </p:pic>
      <p:sp>
        <p:nvSpPr>
          <p:cNvPr id="13" name="Text 9"/>
          <p:cNvSpPr txBox="1"/>
          <p:nvPr/>
        </p:nvSpPr>
        <p:spPr>
          <a:xfrm>
            <a:off x="1005840" y="2834640"/>
            <a:ext cx="3017520" cy="237744"/>
          </a:xfrm>
          <a:prstGeom prst="rect">
            <a:avLst/>
          </a:prstGeom>
          <a:noFill/>
          <a:ln/>
        </p:spPr>
        <p:txBody>
          <a:bodyPr wrap="square" lIns="0" tIns="0" rIns="0" bIns="0" rtlCol="0" anchor="t"/>
          <a:lstStyle/>
          <a:p>
            <a:pPr indent="0" marL="0">
              <a:buNone/>
            </a:pPr>
            <a:r>
              <a:rPr lang="en-US" sz="1100" b="1" dirty="0">
                <a:solidFill>
                  <a:srgbClr val="1A2B3C"/>
                </a:solidFill>
                <a:latin typeface="Arial" pitchFamily="34" charset="0"/>
                <a:ea typeface="Arial" pitchFamily="34" charset="-122"/>
                <a:cs typeface="Arial" pitchFamily="34" charset="-120"/>
              </a:rPr>
              <a:t>Changes are manual and risky</a:t>
            </a:r>
            <a:endParaRPr lang="en-US" sz="1100" dirty="0"/>
          </a:p>
        </p:txBody>
      </p:sp>
      <p:sp>
        <p:nvSpPr>
          <p:cNvPr id="14" name="Text 10"/>
          <p:cNvSpPr txBox="1"/>
          <p:nvPr/>
        </p:nvSpPr>
        <p:spPr>
          <a:xfrm>
            <a:off x="1005840" y="3081528"/>
            <a:ext cx="3063240" cy="347472"/>
          </a:xfrm>
          <a:prstGeom prst="rect">
            <a:avLst/>
          </a:prstGeom>
          <a:noFill/>
          <a:ln/>
        </p:spPr>
        <p:txBody>
          <a:bodyPr wrap="square" lIns="0" tIns="0" rIns="0" bIns="0" rtlCol="0" anchor="t"/>
          <a:lstStyle/>
          <a:p>
            <a:pPr indent="0" marL="0">
              <a:buNone/>
            </a:pPr>
            <a:r>
              <a:rPr lang="en-US" sz="950" dirty="0">
                <a:solidFill>
                  <a:srgbClr val="5A6B7D"/>
                </a:solidFill>
                <a:latin typeface="Calibri" pitchFamily="34" charset="0"/>
                <a:ea typeface="Calibri" pitchFamily="34" charset="-122"/>
                <a:cs typeface="Calibri" pitchFamily="34" charset="-120"/>
              </a:rPr>
              <a:t>CLI work per radio; a bad change hits live traffic.</a:t>
            </a:r>
            <a:endParaRPr lang="en-US" sz="950" dirty="0"/>
          </a:p>
        </p:txBody>
      </p:sp>
      <p:sp>
        <p:nvSpPr>
          <p:cNvPr id="15" name="Shape 11"/>
          <p:cNvSpPr/>
          <p:nvPr/>
        </p:nvSpPr>
        <p:spPr>
          <a:xfrm>
            <a:off x="457200" y="3511296"/>
            <a:ext cx="420624" cy="420624"/>
          </a:xfrm>
          <a:prstGeom prst="ellipse">
            <a:avLst/>
          </a:prstGeom>
          <a:solidFill>
            <a:srgbClr val="D64545"/>
          </a:solidFill>
          <a:ln w="12700">
            <a:solidFill>
              <a:srgbClr val="D64545"/>
            </a:solidFill>
            <a:prstDash val="solid"/>
          </a:ln>
        </p:spPr>
      </p:sp>
      <p:pic>
        <p:nvPicPr>
          <p:cNvPr id="16" name="Image 2" descr="preencoded.png">    </p:cNvPr>
          <p:cNvPicPr>
            <a:picLocks noChangeAspect="1"/>
          </p:cNvPicPr>
          <p:nvPr/>
        </p:nvPicPr>
        <p:blipFill>
          <a:blip r:embed="rId3"/>
          <a:stretch>
            <a:fillRect/>
          </a:stretch>
        </p:blipFill>
        <p:spPr>
          <a:xfrm>
            <a:off x="562356" y="3616452"/>
            <a:ext cx="210312" cy="210312"/>
          </a:xfrm>
          <a:prstGeom prst="rect">
            <a:avLst/>
          </a:prstGeom>
        </p:spPr>
      </p:pic>
      <p:sp>
        <p:nvSpPr>
          <p:cNvPr id="17" name="Text 12"/>
          <p:cNvSpPr txBox="1"/>
          <p:nvPr/>
        </p:nvSpPr>
        <p:spPr>
          <a:xfrm>
            <a:off x="1005840" y="3474720"/>
            <a:ext cx="3017520" cy="237744"/>
          </a:xfrm>
          <a:prstGeom prst="rect">
            <a:avLst/>
          </a:prstGeom>
          <a:noFill/>
          <a:ln/>
        </p:spPr>
        <p:txBody>
          <a:bodyPr wrap="square" lIns="0" tIns="0" rIns="0" bIns="0" rtlCol="0" anchor="t"/>
          <a:lstStyle/>
          <a:p>
            <a:pPr indent="0" marL="0">
              <a:buNone/>
            </a:pPr>
            <a:r>
              <a:rPr lang="en-US" sz="1100" b="1" dirty="0">
                <a:solidFill>
                  <a:srgbClr val="1A2B3C"/>
                </a:solidFill>
                <a:latin typeface="Arial" pitchFamily="34" charset="0"/>
                <a:ea typeface="Arial" pitchFamily="34" charset="-122"/>
                <a:cs typeface="Arial" pitchFamily="34" charset="-120"/>
              </a:rPr>
              <a:t>Tools don't talk</a:t>
            </a:r>
            <a:endParaRPr lang="en-US" sz="1100" dirty="0"/>
          </a:p>
        </p:txBody>
      </p:sp>
      <p:sp>
        <p:nvSpPr>
          <p:cNvPr id="18" name="Text 13"/>
          <p:cNvSpPr txBox="1"/>
          <p:nvPr/>
        </p:nvSpPr>
        <p:spPr>
          <a:xfrm>
            <a:off x="1005840" y="3721608"/>
            <a:ext cx="3063240" cy="347472"/>
          </a:xfrm>
          <a:prstGeom prst="rect">
            <a:avLst/>
          </a:prstGeom>
          <a:noFill/>
          <a:ln/>
        </p:spPr>
        <p:txBody>
          <a:bodyPr wrap="square" lIns="0" tIns="0" rIns="0" bIns="0" rtlCol="0" anchor="t"/>
          <a:lstStyle/>
          <a:p>
            <a:pPr indent="0" marL="0">
              <a:buNone/>
            </a:pPr>
            <a:r>
              <a:rPr lang="en-US" sz="950" dirty="0">
                <a:solidFill>
                  <a:srgbClr val="5A6B7D"/>
                </a:solidFill>
                <a:latin typeface="Calibri" pitchFamily="34" charset="0"/>
                <a:ea typeface="Calibri" pitchFamily="34" charset="-122"/>
                <a:cs typeface="Calibri" pitchFamily="34" charset="-120"/>
              </a:rPr>
              <a:t>Intent, SDN, simulator and radio use different languages and clocks.</a:t>
            </a:r>
            <a:endParaRPr lang="en-US" sz="950" dirty="0"/>
          </a:p>
        </p:txBody>
      </p:sp>
      <p:sp>
        <p:nvSpPr>
          <p:cNvPr id="19" name="Shape 14"/>
          <p:cNvSpPr/>
          <p:nvPr/>
        </p:nvSpPr>
        <p:spPr>
          <a:xfrm>
            <a:off x="457200" y="4151376"/>
            <a:ext cx="420624" cy="420624"/>
          </a:xfrm>
          <a:prstGeom prst="ellipse">
            <a:avLst/>
          </a:prstGeom>
          <a:solidFill>
            <a:srgbClr val="D64545"/>
          </a:solidFill>
          <a:ln w="12700">
            <a:solidFill>
              <a:srgbClr val="D64545"/>
            </a:solidFill>
            <a:prstDash val="solid"/>
          </a:ln>
        </p:spPr>
      </p:sp>
      <p:pic>
        <p:nvPicPr>
          <p:cNvPr id="20" name="Image 3" descr="preencoded.png">    </p:cNvPr>
          <p:cNvPicPr>
            <a:picLocks noChangeAspect="1"/>
          </p:cNvPicPr>
          <p:nvPr/>
        </p:nvPicPr>
        <p:blipFill>
          <a:blip r:embed="rId4"/>
          <a:stretch>
            <a:fillRect/>
          </a:stretch>
        </p:blipFill>
        <p:spPr>
          <a:xfrm>
            <a:off x="562356" y="4256532"/>
            <a:ext cx="210312" cy="210312"/>
          </a:xfrm>
          <a:prstGeom prst="rect">
            <a:avLst/>
          </a:prstGeom>
        </p:spPr>
      </p:pic>
      <p:sp>
        <p:nvSpPr>
          <p:cNvPr id="21" name="Text 15"/>
          <p:cNvSpPr txBox="1"/>
          <p:nvPr/>
        </p:nvSpPr>
        <p:spPr>
          <a:xfrm>
            <a:off x="1005840" y="4114800"/>
            <a:ext cx="3017520" cy="237744"/>
          </a:xfrm>
          <a:prstGeom prst="rect">
            <a:avLst/>
          </a:prstGeom>
          <a:noFill/>
          <a:ln/>
        </p:spPr>
        <p:txBody>
          <a:bodyPr wrap="square" lIns="0" tIns="0" rIns="0" bIns="0" rtlCol="0" anchor="t"/>
          <a:lstStyle/>
          <a:p>
            <a:pPr indent="0" marL="0">
              <a:buNone/>
            </a:pPr>
            <a:r>
              <a:rPr lang="en-US" sz="1100" b="1" dirty="0">
                <a:solidFill>
                  <a:srgbClr val="1A2B3C"/>
                </a:solidFill>
                <a:latin typeface="Arial" pitchFamily="34" charset="0"/>
                <a:ea typeface="Arial" pitchFamily="34" charset="-122"/>
                <a:cs typeface="Arial" pitchFamily="34" charset="-120"/>
              </a:rPr>
              <a:t>AI needs a safe sandbox</a:t>
            </a:r>
            <a:endParaRPr lang="en-US" sz="1100" dirty="0"/>
          </a:p>
        </p:txBody>
      </p:sp>
      <p:sp>
        <p:nvSpPr>
          <p:cNvPr id="22" name="Text 16"/>
          <p:cNvSpPr txBox="1"/>
          <p:nvPr/>
        </p:nvSpPr>
        <p:spPr>
          <a:xfrm>
            <a:off x="1005840" y="4361688"/>
            <a:ext cx="3063240" cy="347472"/>
          </a:xfrm>
          <a:prstGeom prst="rect">
            <a:avLst/>
          </a:prstGeom>
          <a:noFill/>
          <a:ln/>
        </p:spPr>
        <p:txBody>
          <a:bodyPr wrap="square" lIns="0" tIns="0" rIns="0" bIns="0" rtlCol="0" anchor="t"/>
          <a:lstStyle/>
          <a:p>
            <a:pPr indent="0" marL="0">
              <a:buNone/>
            </a:pPr>
            <a:r>
              <a:rPr lang="en-US" sz="950" dirty="0">
                <a:solidFill>
                  <a:srgbClr val="5A6B7D"/>
                </a:solidFill>
                <a:latin typeface="Calibri" pitchFamily="34" charset="0"/>
                <a:ea typeface="Calibri" pitchFamily="34" charset="-122"/>
                <a:cs typeface="Calibri" pitchFamily="34" charset="-120"/>
              </a:rPr>
              <a:t>Agents must be tested before they touch the network.</a:t>
            </a:r>
            <a:endParaRPr lang="en-US" sz="950" dirty="0"/>
          </a:p>
        </p:txBody>
      </p:sp>
      <p:sp>
        <p:nvSpPr>
          <p:cNvPr id="23" name="Text 17"/>
          <p:cNvSpPr txBox="1"/>
          <p:nvPr/>
        </p:nvSpPr>
        <p:spPr>
          <a:xfrm>
            <a:off x="4434840" y="1920240"/>
            <a:ext cx="4206240" cy="201168"/>
          </a:xfrm>
          <a:prstGeom prst="rect">
            <a:avLst/>
          </a:prstGeom>
          <a:noFill/>
          <a:ln/>
        </p:spPr>
        <p:txBody>
          <a:bodyPr wrap="square" lIns="0" tIns="0" rIns="0" bIns="0" rtlCol="0" anchor="t"/>
          <a:lstStyle/>
          <a:p>
            <a:pPr indent="0" marL="0">
              <a:buNone/>
            </a:pPr>
            <a:r>
              <a:rPr lang="en-US" sz="900" b="1" spc="150" kern="0" dirty="0">
                <a:solidFill>
                  <a:srgbClr val="22A06B"/>
                </a:solidFill>
                <a:latin typeface="Calibri" pitchFamily="34" charset="0"/>
                <a:ea typeface="Calibri" pitchFamily="34" charset="-122"/>
                <a:cs typeface="Calibri" pitchFamily="34" charset="-120"/>
              </a:rPr>
              <a:t>GOALS · STATUS TODAY</a:t>
            </a:r>
            <a:endParaRPr lang="en-US" sz="900" dirty="0"/>
          </a:p>
        </p:txBody>
      </p:sp>
      <p:sp>
        <p:nvSpPr>
          <p:cNvPr id="24" name="Shape 18"/>
          <p:cNvSpPr/>
          <p:nvPr/>
        </p:nvSpPr>
        <p:spPr>
          <a:xfrm>
            <a:off x="4434840" y="2194560"/>
            <a:ext cx="4251960" cy="438912"/>
          </a:xfrm>
          <a:prstGeom prst="roundRect">
            <a:avLst>
              <a:gd name="adj" fmla="val 16667"/>
            </a:avLst>
          </a:prstGeom>
          <a:solidFill>
            <a:srgbClr val="F2F5F8"/>
          </a:solidFill>
          <a:ln w="12700">
            <a:solidFill>
              <a:srgbClr val="F2F5F8"/>
            </a:solidFill>
            <a:prstDash val="solid"/>
          </a:ln>
        </p:spPr>
      </p:sp>
      <p:sp>
        <p:nvSpPr>
          <p:cNvPr id="25" name="Text 19"/>
          <p:cNvSpPr txBox="1"/>
          <p:nvPr/>
        </p:nvSpPr>
        <p:spPr>
          <a:xfrm>
            <a:off x="4544568" y="2194560"/>
            <a:ext cx="365760" cy="438912"/>
          </a:xfrm>
          <a:prstGeom prst="rect">
            <a:avLst/>
          </a:prstGeom>
          <a:noFill/>
          <a:ln/>
        </p:spPr>
        <p:txBody>
          <a:bodyPr wrap="square" lIns="0" tIns="0" rIns="0" bIns="0" rtlCol="0" anchor="ctr"/>
          <a:lstStyle/>
          <a:p>
            <a:pPr indent="0" marL="0">
              <a:buNone/>
            </a:pPr>
            <a:r>
              <a:rPr lang="en-US" sz="1200" b="1" dirty="0">
                <a:solidFill>
                  <a:srgbClr val="22A06B"/>
                </a:solidFill>
                <a:latin typeface="Arial" pitchFamily="34" charset="0"/>
                <a:ea typeface="Arial" pitchFamily="34" charset="-122"/>
                <a:cs typeface="Arial" pitchFamily="34" charset="-120"/>
              </a:rPr>
              <a:t>G1</a:t>
            </a:r>
            <a:endParaRPr lang="en-US" sz="1200" dirty="0"/>
          </a:p>
        </p:txBody>
      </p:sp>
      <p:sp>
        <p:nvSpPr>
          <p:cNvPr id="26" name="Text 20"/>
          <p:cNvSpPr txBox="1"/>
          <p:nvPr/>
        </p:nvSpPr>
        <p:spPr>
          <a:xfrm>
            <a:off x="4919472" y="2194560"/>
            <a:ext cx="2743200" cy="438912"/>
          </a:xfrm>
          <a:prstGeom prst="rect">
            <a:avLst/>
          </a:prstGeom>
          <a:noFill/>
          <a:ln/>
        </p:spPr>
        <p:txBody>
          <a:bodyPr wrap="square" lIns="0" tIns="0" rIns="0" bIns="0" rtlCol="0" anchor="ctr"/>
          <a:lstStyle/>
          <a:p>
            <a:pPr indent="0" marL="0">
              <a:buNone/>
            </a:pPr>
            <a:r>
              <a:rPr lang="en-US" sz="1000" dirty="0">
                <a:solidFill>
                  <a:srgbClr val="1A2B3C"/>
                </a:solidFill>
                <a:latin typeface="Calibri" pitchFamily="34" charset="0"/>
                <a:ea typeface="Calibri" pitchFamily="34" charset="-122"/>
                <a:cs typeface="Calibri" pitchFamily="34" charset="-120"/>
              </a:rPr>
              <a:t>Intent → configuration through the SDN controller</a:t>
            </a:r>
            <a:endParaRPr lang="en-US" sz="1000" dirty="0"/>
          </a:p>
        </p:txBody>
      </p:sp>
      <p:sp>
        <p:nvSpPr>
          <p:cNvPr id="27" name="Shape 21"/>
          <p:cNvSpPr/>
          <p:nvPr/>
        </p:nvSpPr>
        <p:spPr>
          <a:xfrm>
            <a:off x="7726680" y="2313432"/>
            <a:ext cx="868680" cy="201168"/>
          </a:xfrm>
          <a:prstGeom prst="roundRect">
            <a:avLst>
              <a:gd name="adj" fmla="val 50000"/>
            </a:avLst>
          </a:prstGeom>
          <a:solidFill>
            <a:srgbClr val="E8912D"/>
          </a:solidFill>
          <a:ln w="12700">
            <a:solidFill>
              <a:srgbClr val="E8912D"/>
            </a:solidFill>
            <a:prstDash val="solid"/>
          </a:ln>
        </p:spPr>
      </p:sp>
      <p:sp>
        <p:nvSpPr>
          <p:cNvPr id="28" name="Text 22"/>
          <p:cNvSpPr txBox="1"/>
          <p:nvPr/>
        </p:nvSpPr>
        <p:spPr>
          <a:xfrm>
            <a:off x="7726680" y="2313432"/>
            <a:ext cx="868680" cy="201168"/>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Arial" pitchFamily="34" charset="0"/>
                <a:ea typeface="Arial" pitchFamily="34" charset="-122"/>
                <a:cs typeface="Arial" pitchFamily="34" charset="-120"/>
              </a:rPr>
              <a:t>PARTIAL</a:t>
            </a:r>
            <a:endParaRPr lang="en-US" sz="700" dirty="0"/>
          </a:p>
        </p:txBody>
      </p:sp>
      <p:sp>
        <p:nvSpPr>
          <p:cNvPr id="29" name="Shape 23"/>
          <p:cNvSpPr/>
          <p:nvPr/>
        </p:nvSpPr>
        <p:spPr>
          <a:xfrm>
            <a:off x="4434840" y="2706624"/>
            <a:ext cx="4251960" cy="438912"/>
          </a:xfrm>
          <a:prstGeom prst="roundRect">
            <a:avLst>
              <a:gd name="adj" fmla="val 16667"/>
            </a:avLst>
          </a:prstGeom>
          <a:solidFill>
            <a:srgbClr val="F2F5F8"/>
          </a:solidFill>
          <a:ln w="12700">
            <a:solidFill>
              <a:srgbClr val="F2F5F8"/>
            </a:solidFill>
            <a:prstDash val="solid"/>
          </a:ln>
        </p:spPr>
      </p:sp>
      <p:sp>
        <p:nvSpPr>
          <p:cNvPr id="30" name="Text 24"/>
          <p:cNvSpPr txBox="1"/>
          <p:nvPr/>
        </p:nvSpPr>
        <p:spPr>
          <a:xfrm>
            <a:off x="4544568" y="2706624"/>
            <a:ext cx="365760" cy="438912"/>
          </a:xfrm>
          <a:prstGeom prst="rect">
            <a:avLst/>
          </a:prstGeom>
          <a:noFill/>
          <a:ln/>
        </p:spPr>
        <p:txBody>
          <a:bodyPr wrap="square" lIns="0" tIns="0" rIns="0" bIns="0" rtlCol="0" anchor="ctr"/>
          <a:lstStyle/>
          <a:p>
            <a:pPr indent="0" marL="0">
              <a:buNone/>
            </a:pPr>
            <a:r>
              <a:rPr lang="en-US" sz="1200" b="1" dirty="0">
                <a:solidFill>
                  <a:srgbClr val="22A06B"/>
                </a:solidFill>
                <a:latin typeface="Arial" pitchFamily="34" charset="0"/>
                <a:ea typeface="Arial" pitchFamily="34" charset="-122"/>
                <a:cs typeface="Arial" pitchFamily="34" charset="-120"/>
              </a:rPr>
              <a:t>G2</a:t>
            </a:r>
            <a:endParaRPr lang="en-US" sz="1200" dirty="0"/>
          </a:p>
        </p:txBody>
      </p:sp>
      <p:sp>
        <p:nvSpPr>
          <p:cNvPr id="31" name="Text 25"/>
          <p:cNvSpPr txBox="1"/>
          <p:nvPr/>
        </p:nvSpPr>
        <p:spPr>
          <a:xfrm>
            <a:off x="4919472" y="2706624"/>
            <a:ext cx="2743200" cy="438912"/>
          </a:xfrm>
          <a:prstGeom prst="rect">
            <a:avLst/>
          </a:prstGeom>
          <a:noFill/>
          <a:ln/>
        </p:spPr>
        <p:txBody>
          <a:bodyPr wrap="square" lIns="0" tIns="0" rIns="0" bIns="0" rtlCol="0" anchor="ctr"/>
          <a:lstStyle/>
          <a:p>
            <a:pPr indent="0" marL="0">
              <a:buNone/>
            </a:pPr>
            <a:r>
              <a:rPr lang="en-US" sz="1000" dirty="0">
                <a:solidFill>
                  <a:srgbClr val="1A2B3C"/>
                </a:solidFill>
                <a:latin typeface="Calibri" pitchFamily="34" charset="0"/>
                <a:ea typeface="Calibri" pitchFamily="34" charset="-122"/>
                <a:cs typeface="Calibri" pitchFamily="34" charset="-120"/>
              </a:rPr>
              <a:t>Every change tested in the ns-3 twin before commit</a:t>
            </a:r>
            <a:endParaRPr lang="en-US" sz="1000" dirty="0"/>
          </a:p>
        </p:txBody>
      </p:sp>
      <p:sp>
        <p:nvSpPr>
          <p:cNvPr id="32" name="Shape 26"/>
          <p:cNvSpPr/>
          <p:nvPr/>
        </p:nvSpPr>
        <p:spPr>
          <a:xfrm>
            <a:off x="7726680" y="2825496"/>
            <a:ext cx="868680" cy="201168"/>
          </a:xfrm>
          <a:prstGeom prst="roundRect">
            <a:avLst>
              <a:gd name="adj" fmla="val 50000"/>
            </a:avLst>
          </a:prstGeom>
          <a:solidFill>
            <a:srgbClr val="E8912D"/>
          </a:solidFill>
          <a:ln w="12700">
            <a:solidFill>
              <a:srgbClr val="E8912D"/>
            </a:solidFill>
            <a:prstDash val="solid"/>
          </a:ln>
        </p:spPr>
      </p:sp>
      <p:sp>
        <p:nvSpPr>
          <p:cNvPr id="33" name="Text 27"/>
          <p:cNvSpPr txBox="1"/>
          <p:nvPr/>
        </p:nvSpPr>
        <p:spPr>
          <a:xfrm>
            <a:off x="7726680" y="2825496"/>
            <a:ext cx="868680" cy="201168"/>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Arial" pitchFamily="34" charset="0"/>
                <a:ea typeface="Arial" pitchFamily="34" charset="-122"/>
                <a:cs typeface="Arial" pitchFamily="34" charset="-120"/>
              </a:rPr>
              <a:t>PARTIAL</a:t>
            </a:r>
            <a:endParaRPr lang="en-US" sz="700" dirty="0"/>
          </a:p>
        </p:txBody>
      </p:sp>
      <p:sp>
        <p:nvSpPr>
          <p:cNvPr id="34" name="Shape 28"/>
          <p:cNvSpPr/>
          <p:nvPr/>
        </p:nvSpPr>
        <p:spPr>
          <a:xfrm>
            <a:off x="4434840" y="3218688"/>
            <a:ext cx="4251960" cy="438912"/>
          </a:xfrm>
          <a:prstGeom prst="roundRect">
            <a:avLst>
              <a:gd name="adj" fmla="val 16667"/>
            </a:avLst>
          </a:prstGeom>
          <a:solidFill>
            <a:srgbClr val="F2F5F8"/>
          </a:solidFill>
          <a:ln w="12700">
            <a:solidFill>
              <a:srgbClr val="F2F5F8"/>
            </a:solidFill>
            <a:prstDash val="solid"/>
          </a:ln>
        </p:spPr>
      </p:sp>
      <p:sp>
        <p:nvSpPr>
          <p:cNvPr id="35" name="Text 29"/>
          <p:cNvSpPr txBox="1"/>
          <p:nvPr/>
        </p:nvSpPr>
        <p:spPr>
          <a:xfrm>
            <a:off x="4544568" y="3218688"/>
            <a:ext cx="365760" cy="438912"/>
          </a:xfrm>
          <a:prstGeom prst="rect">
            <a:avLst/>
          </a:prstGeom>
          <a:noFill/>
          <a:ln/>
        </p:spPr>
        <p:txBody>
          <a:bodyPr wrap="square" lIns="0" tIns="0" rIns="0" bIns="0" rtlCol="0" anchor="ctr"/>
          <a:lstStyle/>
          <a:p>
            <a:pPr indent="0" marL="0">
              <a:buNone/>
            </a:pPr>
            <a:r>
              <a:rPr lang="en-US" sz="1200" b="1" dirty="0">
                <a:solidFill>
                  <a:srgbClr val="22A06B"/>
                </a:solidFill>
                <a:latin typeface="Arial" pitchFamily="34" charset="0"/>
                <a:ea typeface="Arial" pitchFamily="34" charset="-122"/>
                <a:cs typeface="Arial" pitchFamily="34" charset="-120"/>
              </a:rPr>
              <a:t>G3</a:t>
            </a:r>
            <a:endParaRPr lang="en-US" sz="1200" dirty="0"/>
          </a:p>
        </p:txBody>
      </p:sp>
      <p:sp>
        <p:nvSpPr>
          <p:cNvPr id="36" name="Text 30"/>
          <p:cNvSpPr txBox="1"/>
          <p:nvPr/>
        </p:nvSpPr>
        <p:spPr>
          <a:xfrm>
            <a:off x="4919472" y="3218688"/>
            <a:ext cx="2743200" cy="438912"/>
          </a:xfrm>
          <a:prstGeom prst="rect">
            <a:avLst/>
          </a:prstGeom>
          <a:noFill/>
          <a:ln/>
        </p:spPr>
        <p:txBody>
          <a:bodyPr wrap="square" lIns="0" tIns="0" rIns="0" bIns="0" rtlCol="0" anchor="ctr"/>
          <a:lstStyle/>
          <a:p>
            <a:pPr indent="0" marL="0">
              <a:buNone/>
            </a:pPr>
            <a:r>
              <a:rPr lang="en-US" sz="1000" dirty="0">
                <a:solidFill>
                  <a:srgbClr val="1A2B3C"/>
                </a:solidFill>
                <a:latin typeface="Calibri" pitchFamily="34" charset="0"/>
                <a:ea typeface="Calibri" pitchFamily="34" charset="-122"/>
                <a:cs typeface="Calibri" pitchFamily="34" charset="-120"/>
              </a:rPr>
              <a:t>Closed loop on real radios: verify, then roll back</a:t>
            </a:r>
            <a:endParaRPr lang="en-US" sz="1000" dirty="0"/>
          </a:p>
        </p:txBody>
      </p:sp>
      <p:sp>
        <p:nvSpPr>
          <p:cNvPr id="37" name="Shape 31"/>
          <p:cNvSpPr/>
          <p:nvPr/>
        </p:nvSpPr>
        <p:spPr>
          <a:xfrm>
            <a:off x="7726680" y="3337560"/>
            <a:ext cx="868680" cy="201168"/>
          </a:xfrm>
          <a:prstGeom prst="roundRect">
            <a:avLst>
              <a:gd name="adj" fmla="val 50000"/>
            </a:avLst>
          </a:prstGeom>
          <a:solidFill>
            <a:srgbClr val="FFFFFF"/>
          </a:solidFill>
          <a:ln w="12700">
            <a:solidFill>
              <a:srgbClr val="9AA7B4"/>
            </a:solidFill>
            <a:prstDash val="dash"/>
          </a:ln>
        </p:spPr>
      </p:sp>
      <p:sp>
        <p:nvSpPr>
          <p:cNvPr id="38" name="Text 32"/>
          <p:cNvSpPr txBox="1"/>
          <p:nvPr/>
        </p:nvSpPr>
        <p:spPr>
          <a:xfrm>
            <a:off x="7726680" y="3337560"/>
            <a:ext cx="868680" cy="201168"/>
          </a:xfrm>
          <a:prstGeom prst="rect">
            <a:avLst/>
          </a:prstGeom>
          <a:noFill/>
          <a:ln/>
        </p:spPr>
        <p:txBody>
          <a:bodyPr wrap="square" lIns="0" tIns="0" rIns="0" bIns="0" rtlCol="0" anchor="ctr"/>
          <a:lstStyle/>
          <a:p>
            <a:pPr algn="ctr" indent="0" marL="0">
              <a:buNone/>
            </a:pPr>
            <a:r>
              <a:rPr lang="en-US" sz="700" b="1" spc="50" kern="0" dirty="0">
                <a:solidFill>
                  <a:srgbClr val="5A6B7D"/>
                </a:solidFill>
                <a:latin typeface="Arial" pitchFamily="34" charset="0"/>
                <a:ea typeface="Arial" pitchFamily="34" charset="-122"/>
                <a:cs typeface="Arial" pitchFamily="34" charset="-120"/>
              </a:rPr>
              <a:t>PLANNED</a:t>
            </a:r>
            <a:endParaRPr lang="en-US" sz="700" dirty="0"/>
          </a:p>
        </p:txBody>
      </p:sp>
      <p:sp>
        <p:nvSpPr>
          <p:cNvPr id="39" name="Shape 33"/>
          <p:cNvSpPr/>
          <p:nvPr/>
        </p:nvSpPr>
        <p:spPr>
          <a:xfrm>
            <a:off x="4434840" y="3730752"/>
            <a:ext cx="4251960" cy="438912"/>
          </a:xfrm>
          <a:prstGeom prst="roundRect">
            <a:avLst>
              <a:gd name="adj" fmla="val 16667"/>
            </a:avLst>
          </a:prstGeom>
          <a:solidFill>
            <a:srgbClr val="F2F5F8"/>
          </a:solidFill>
          <a:ln w="12700">
            <a:solidFill>
              <a:srgbClr val="F2F5F8"/>
            </a:solidFill>
            <a:prstDash val="solid"/>
          </a:ln>
        </p:spPr>
      </p:sp>
      <p:sp>
        <p:nvSpPr>
          <p:cNvPr id="40" name="Text 34"/>
          <p:cNvSpPr txBox="1"/>
          <p:nvPr/>
        </p:nvSpPr>
        <p:spPr>
          <a:xfrm>
            <a:off x="4544568" y="3730752"/>
            <a:ext cx="365760" cy="438912"/>
          </a:xfrm>
          <a:prstGeom prst="rect">
            <a:avLst/>
          </a:prstGeom>
          <a:noFill/>
          <a:ln/>
        </p:spPr>
        <p:txBody>
          <a:bodyPr wrap="square" lIns="0" tIns="0" rIns="0" bIns="0" rtlCol="0" anchor="ctr"/>
          <a:lstStyle/>
          <a:p>
            <a:pPr indent="0" marL="0">
              <a:buNone/>
            </a:pPr>
            <a:r>
              <a:rPr lang="en-US" sz="1200" b="1" dirty="0">
                <a:solidFill>
                  <a:srgbClr val="22A06B"/>
                </a:solidFill>
                <a:latin typeface="Arial" pitchFamily="34" charset="0"/>
                <a:ea typeface="Arial" pitchFamily="34" charset="-122"/>
                <a:cs typeface="Arial" pitchFamily="34" charset="-120"/>
              </a:rPr>
              <a:t>G4</a:t>
            </a:r>
            <a:endParaRPr lang="en-US" sz="1200" dirty="0"/>
          </a:p>
        </p:txBody>
      </p:sp>
      <p:sp>
        <p:nvSpPr>
          <p:cNvPr id="41" name="Text 35"/>
          <p:cNvSpPr txBox="1"/>
          <p:nvPr/>
        </p:nvSpPr>
        <p:spPr>
          <a:xfrm>
            <a:off x="4919472" y="3730752"/>
            <a:ext cx="2743200" cy="438912"/>
          </a:xfrm>
          <a:prstGeom prst="rect">
            <a:avLst/>
          </a:prstGeom>
          <a:noFill/>
          <a:ln/>
        </p:spPr>
        <p:txBody>
          <a:bodyPr wrap="square" lIns="0" tIns="0" rIns="0" bIns="0" rtlCol="0" anchor="ctr"/>
          <a:lstStyle/>
          <a:p>
            <a:pPr indent="0" marL="0">
              <a:buNone/>
            </a:pPr>
            <a:r>
              <a:rPr lang="en-US" sz="1000" dirty="0">
                <a:solidFill>
                  <a:srgbClr val="1A2B3C"/>
                </a:solidFill>
                <a:latin typeface="Calibri" pitchFamily="34" charset="0"/>
                <a:ea typeface="Calibri" pitchFamily="34" charset="-122"/>
                <a:cs typeface="Calibri" pitchFamily="34" charset="-120"/>
              </a:rPr>
              <a:t>Standard interfaces end to end, no vendor lock-in</a:t>
            </a:r>
            <a:endParaRPr lang="en-US" sz="1000" dirty="0"/>
          </a:p>
        </p:txBody>
      </p:sp>
      <p:sp>
        <p:nvSpPr>
          <p:cNvPr id="42" name="Shape 36"/>
          <p:cNvSpPr/>
          <p:nvPr/>
        </p:nvSpPr>
        <p:spPr>
          <a:xfrm>
            <a:off x="7726680" y="3849624"/>
            <a:ext cx="868680" cy="201168"/>
          </a:xfrm>
          <a:prstGeom prst="roundRect">
            <a:avLst>
              <a:gd name="adj" fmla="val 50000"/>
            </a:avLst>
          </a:prstGeom>
          <a:solidFill>
            <a:srgbClr val="E8912D"/>
          </a:solidFill>
          <a:ln w="12700">
            <a:solidFill>
              <a:srgbClr val="E8912D"/>
            </a:solidFill>
            <a:prstDash val="solid"/>
          </a:ln>
        </p:spPr>
      </p:sp>
      <p:sp>
        <p:nvSpPr>
          <p:cNvPr id="43" name="Text 37"/>
          <p:cNvSpPr txBox="1"/>
          <p:nvPr/>
        </p:nvSpPr>
        <p:spPr>
          <a:xfrm>
            <a:off x="7726680" y="3849624"/>
            <a:ext cx="868680" cy="201168"/>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Arial" pitchFamily="34" charset="0"/>
                <a:ea typeface="Arial" pitchFamily="34" charset="-122"/>
                <a:cs typeface="Arial" pitchFamily="34" charset="-120"/>
              </a:rPr>
              <a:t>PARTIAL</a:t>
            </a:r>
            <a:endParaRPr lang="en-US" sz="700" dirty="0"/>
          </a:p>
        </p:txBody>
      </p:sp>
      <p:sp>
        <p:nvSpPr>
          <p:cNvPr id="44" name="Shape 38"/>
          <p:cNvSpPr/>
          <p:nvPr/>
        </p:nvSpPr>
        <p:spPr>
          <a:xfrm>
            <a:off x="4434840" y="4242816"/>
            <a:ext cx="4251960" cy="438912"/>
          </a:xfrm>
          <a:prstGeom prst="roundRect">
            <a:avLst>
              <a:gd name="adj" fmla="val 16667"/>
            </a:avLst>
          </a:prstGeom>
          <a:solidFill>
            <a:srgbClr val="F2F5F8"/>
          </a:solidFill>
          <a:ln w="12700">
            <a:solidFill>
              <a:srgbClr val="F2F5F8"/>
            </a:solidFill>
            <a:prstDash val="solid"/>
          </a:ln>
        </p:spPr>
      </p:sp>
      <p:sp>
        <p:nvSpPr>
          <p:cNvPr id="45" name="Text 39"/>
          <p:cNvSpPr txBox="1"/>
          <p:nvPr/>
        </p:nvSpPr>
        <p:spPr>
          <a:xfrm>
            <a:off x="4544568" y="4242816"/>
            <a:ext cx="365760" cy="438912"/>
          </a:xfrm>
          <a:prstGeom prst="rect">
            <a:avLst/>
          </a:prstGeom>
          <a:noFill/>
          <a:ln/>
        </p:spPr>
        <p:txBody>
          <a:bodyPr wrap="square" lIns="0" tIns="0" rIns="0" bIns="0" rtlCol="0" anchor="ctr"/>
          <a:lstStyle/>
          <a:p>
            <a:pPr indent="0" marL="0">
              <a:buNone/>
            </a:pPr>
            <a:r>
              <a:rPr lang="en-US" sz="1200" b="1" dirty="0">
                <a:solidFill>
                  <a:srgbClr val="22A06B"/>
                </a:solidFill>
                <a:latin typeface="Arial" pitchFamily="34" charset="0"/>
                <a:ea typeface="Arial" pitchFamily="34" charset="-122"/>
                <a:cs typeface="Arial" pitchFamily="34" charset="-120"/>
              </a:rPr>
              <a:t>G5</a:t>
            </a:r>
            <a:endParaRPr lang="en-US" sz="1200" dirty="0"/>
          </a:p>
        </p:txBody>
      </p:sp>
      <p:sp>
        <p:nvSpPr>
          <p:cNvPr id="46" name="Text 40"/>
          <p:cNvSpPr txBox="1"/>
          <p:nvPr/>
        </p:nvSpPr>
        <p:spPr>
          <a:xfrm>
            <a:off x="4919472" y="4242816"/>
            <a:ext cx="2743200" cy="438912"/>
          </a:xfrm>
          <a:prstGeom prst="rect">
            <a:avLst/>
          </a:prstGeom>
          <a:noFill/>
          <a:ln/>
        </p:spPr>
        <p:txBody>
          <a:bodyPr wrap="square" lIns="0" tIns="0" rIns="0" bIns="0" rtlCol="0" anchor="ctr"/>
          <a:lstStyle/>
          <a:p>
            <a:pPr indent="0" marL="0">
              <a:buNone/>
            </a:pPr>
            <a:r>
              <a:rPr lang="en-US" sz="1000" dirty="0">
                <a:solidFill>
                  <a:srgbClr val="1A2B3C"/>
                </a:solidFill>
                <a:latin typeface="Calibri" pitchFamily="34" charset="0"/>
                <a:ea typeface="Calibri" pitchFamily="34" charset="-122"/>
                <a:cs typeface="Calibri" pitchFamily="34" charset="-120"/>
              </a:rPr>
              <a:t>AI/ML agents trained and gated in the twin</a:t>
            </a:r>
            <a:endParaRPr lang="en-US" sz="1000" dirty="0"/>
          </a:p>
        </p:txBody>
      </p:sp>
      <p:sp>
        <p:nvSpPr>
          <p:cNvPr id="47" name="Shape 41"/>
          <p:cNvSpPr/>
          <p:nvPr/>
        </p:nvSpPr>
        <p:spPr>
          <a:xfrm>
            <a:off x="7726680" y="4361688"/>
            <a:ext cx="868680" cy="201168"/>
          </a:xfrm>
          <a:prstGeom prst="roundRect">
            <a:avLst>
              <a:gd name="adj" fmla="val 50000"/>
            </a:avLst>
          </a:prstGeom>
          <a:solidFill>
            <a:srgbClr val="FFFFFF"/>
          </a:solidFill>
          <a:ln w="12700">
            <a:solidFill>
              <a:srgbClr val="9AA7B4"/>
            </a:solidFill>
            <a:prstDash val="dash"/>
          </a:ln>
        </p:spPr>
      </p:sp>
      <p:sp>
        <p:nvSpPr>
          <p:cNvPr id="48" name="Text 42"/>
          <p:cNvSpPr txBox="1"/>
          <p:nvPr/>
        </p:nvSpPr>
        <p:spPr>
          <a:xfrm>
            <a:off x="7726680" y="4361688"/>
            <a:ext cx="868680" cy="201168"/>
          </a:xfrm>
          <a:prstGeom prst="rect">
            <a:avLst/>
          </a:prstGeom>
          <a:noFill/>
          <a:ln/>
        </p:spPr>
        <p:txBody>
          <a:bodyPr wrap="square" lIns="0" tIns="0" rIns="0" bIns="0" rtlCol="0" anchor="ctr"/>
          <a:lstStyle/>
          <a:p>
            <a:pPr algn="ctr" indent="0" marL="0">
              <a:buNone/>
            </a:pPr>
            <a:r>
              <a:rPr lang="en-US" sz="700" b="1" spc="50" kern="0" dirty="0">
                <a:solidFill>
                  <a:srgbClr val="5A6B7D"/>
                </a:solidFill>
                <a:latin typeface="Arial" pitchFamily="34" charset="0"/>
                <a:ea typeface="Arial" pitchFamily="34" charset="-122"/>
                <a:cs typeface="Arial" pitchFamily="34" charset="-120"/>
              </a:rPr>
              <a:t>PLANNED</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000" b="1" spc="200" kern="0" dirty="0">
                <a:solidFill>
                  <a:srgbClr val="0FA3B1"/>
                </a:solidFill>
                <a:latin typeface="Arial" pitchFamily="34" charset="0"/>
                <a:ea typeface="Arial" pitchFamily="34" charset="-122"/>
                <a:cs typeface="Arial" pitchFamily="34" charset="-120"/>
              </a:rPr>
              <a:t>THE PROBLEM</a:t>
            </a:r>
            <a:endParaRPr lang="en-US" sz="10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400" b="1" dirty="0">
                <a:solidFill>
                  <a:srgbClr val="0B1D33"/>
                </a:solidFill>
                <a:latin typeface="Arial" pitchFamily="34" charset="0"/>
                <a:ea typeface="Arial" pitchFamily="34" charset="-122"/>
                <a:cs typeface="Arial" pitchFamily="34" charset="-120"/>
              </a:rPr>
              <a:t>Four components, four languages, four clocks</a:t>
            </a:r>
            <a:endParaRPr lang="en-US" sz="2400" dirty="0"/>
          </a:p>
        </p:txBody>
      </p:sp>
      <p:sp>
        <p:nvSpPr>
          <p:cNvPr id="4" name="Shape 2"/>
          <p:cNvSpPr/>
          <p:nvPr/>
        </p:nvSpPr>
        <p:spPr>
          <a:xfrm>
            <a:off x="3564978" y="1234440"/>
            <a:ext cx="0" cy="2880360"/>
          </a:xfrm>
          <a:prstGeom prst="line">
            <a:avLst/>
          </a:prstGeom>
          <a:noFill/>
          <a:ln w="9525">
            <a:solidFill>
              <a:srgbClr val="D5DDE5"/>
            </a:solidFill>
            <a:prstDash val="solid"/>
          </a:ln>
        </p:spPr>
      </p:sp>
      <p:sp>
        <p:nvSpPr>
          <p:cNvPr id="5" name="Text 3"/>
          <p:cNvSpPr txBox="1"/>
          <p:nvPr/>
        </p:nvSpPr>
        <p:spPr>
          <a:xfrm>
            <a:off x="3199218" y="4160520"/>
            <a:ext cx="731520" cy="228600"/>
          </a:xfrm>
          <a:prstGeom prst="rect">
            <a:avLst/>
          </a:prstGeom>
          <a:noFill/>
          <a:ln/>
        </p:spPr>
        <p:txBody>
          <a:bodyPr wrap="square" lIns="0" tIns="0" rIns="0" bIns="0" rtlCol="0" anchor="t"/>
          <a:lstStyle/>
          <a:p>
            <a:pPr algn="ctr" indent="0" marL="0">
              <a:buNone/>
            </a:pPr>
            <a:r>
              <a:rPr lang="en-US" sz="1000" dirty="0">
                <a:solidFill>
                  <a:srgbClr val="5A6B7D"/>
                </a:solidFill>
                <a:latin typeface="Calibri" pitchFamily="34" charset="0"/>
                <a:ea typeface="Calibri" pitchFamily="34" charset="-122"/>
                <a:cs typeface="Calibri" pitchFamily="34" charset="-120"/>
              </a:rPr>
              <a:t>1 µs</a:t>
            </a:r>
            <a:endParaRPr lang="en-US" sz="1000" dirty="0"/>
          </a:p>
        </p:txBody>
      </p:sp>
      <p:sp>
        <p:nvSpPr>
          <p:cNvPr id="6" name="Shape 4"/>
          <p:cNvSpPr/>
          <p:nvPr/>
        </p:nvSpPr>
        <p:spPr>
          <a:xfrm>
            <a:off x="4924753" y="1234440"/>
            <a:ext cx="0" cy="2880360"/>
          </a:xfrm>
          <a:prstGeom prst="line">
            <a:avLst/>
          </a:prstGeom>
          <a:noFill/>
          <a:ln w="9525">
            <a:solidFill>
              <a:srgbClr val="D5DDE5"/>
            </a:solidFill>
            <a:prstDash val="solid"/>
          </a:ln>
        </p:spPr>
      </p:sp>
      <p:sp>
        <p:nvSpPr>
          <p:cNvPr id="7" name="Text 5"/>
          <p:cNvSpPr txBox="1"/>
          <p:nvPr/>
        </p:nvSpPr>
        <p:spPr>
          <a:xfrm>
            <a:off x="4558993" y="4160520"/>
            <a:ext cx="731520" cy="228600"/>
          </a:xfrm>
          <a:prstGeom prst="rect">
            <a:avLst/>
          </a:prstGeom>
          <a:noFill/>
          <a:ln/>
        </p:spPr>
        <p:txBody>
          <a:bodyPr wrap="square" lIns="0" tIns="0" rIns="0" bIns="0" rtlCol="0" anchor="t"/>
          <a:lstStyle/>
          <a:p>
            <a:pPr algn="ctr" indent="0" marL="0">
              <a:buNone/>
            </a:pPr>
            <a:r>
              <a:rPr lang="en-US" sz="1000" dirty="0">
                <a:solidFill>
                  <a:srgbClr val="5A6B7D"/>
                </a:solidFill>
                <a:latin typeface="Calibri" pitchFamily="34" charset="0"/>
                <a:ea typeface="Calibri" pitchFamily="34" charset="-122"/>
                <a:cs typeface="Calibri" pitchFamily="34" charset="-120"/>
              </a:rPr>
              <a:t>1 ms</a:t>
            </a:r>
            <a:endParaRPr lang="en-US" sz="1000" dirty="0"/>
          </a:p>
        </p:txBody>
      </p:sp>
      <p:sp>
        <p:nvSpPr>
          <p:cNvPr id="8" name="Shape 6"/>
          <p:cNvSpPr/>
          <p:nvPr/>
        </p:nvSpPr>
        <p:spPr>
          <a:xfrm>
            <a:off x="6284529" y="1234440"/>
            <a:ext cx="0" cy="2880360"/>
          </a:xfrm>
          <a:prstGeom prst="line">
            <a:avLst/>
          </a:prstGeom>
          <a:noFill/>
          <a:ln w="9525">
            <a:solidFill>
              <a:srgbClr val="D5DDE5"/>
            </a:solidFill>
            <a:prstDash val="solid"/>
          </a:ln>
        </p:spPr>
      </p:sp>
      <p:sp>
        <p:nvSpPr>
          <p:cNvPr id="9" name="Text 7"/>
          <p:cNvSpPr txBox="1"/>
          <p:nvPr/>
        </p:nvSpPr>
        <p:spPr>
          <a:xfrm>
            <a:off x="5918769" y="4160520"/>
            <a:ext cx="731520" cy="228600"/>
          </a:xfrm>
          <a:prstGeom prst="rect">
            <a:avLst/>
          </a:prstGeom>
          <a:noFill/>
          <a:ln/>
        </p:spPr>
        <p:txBody>
          <a:bodyPr wrap="square" lIns="0" tIns="0" rIns="0" bIns="0" rtlCol="0" anchor="t"/>
          <a:lstStyle/>
          <a:p>
            <a:pPr algn="ctr" indent="0" marL="0">
              <a:buNone/>
            </a:pPr>
            <a:r>
              <a:rPr lang="en-US" sz="1000" dirty="0">
                <a:solidFill>
                  <a:srgbClr val="5A6B7D"/>
                </a:solidFill>
                <a:latin typeface="Calibri" pitchFamily="34" charset="0"/>
                <a:ea typeface="Calibri" pitchFamily="34" charset="-122"/>
                <a:cs typeface="Calibri" pitchFamily="34" charset="-120"/>
              </a:rPr>
              <a:t>1 s</a:t>
            </a:r>
            <a:endParaRPr lang="en-US" sz="1000" dirty="0"/>
          </a:p>
        </p:txBody>
      </p:sp>
      <p:sp>
        <p:nvSpPr>
          <p:cNvPr id="10" name="Shape 8"/>
          <p:cNvSpPr/>
          <p:nvPr/>
        </p:nvSpPr>
        <p:spPr>
          <a:xfrm>
            <a:off x="7090492" y="1234440"/>
            <a:ext cx="0" cy="2880360"/>
          </a:xfrm>
          <a:prstGeom prst="line">
            <a:avLst/>
          </a:prstGeom>
          <a:noFill/>
          <a:ln w="9525">
            <a:solidFill>
              <a:srgbClr val="D5DDE5"/>
            </a:solidFill>
            <a:prstDash val="solid"/>
          </a:ln>
        </p:spPr>
      </p:sp>
      <p:sp>
        <p:nvSpPr>
          <p:cNvPr id="11" name="Text 9"/>
          <p:cNvSpPr txBox="1"/>
          <p:nvPr/>
        </p:nvSpPr>
        <p:spPr>
          <a:xfrm>
            <a:off x="6724732" y="4160520"/>
            <a:ext cx="731520" cy="228600"/>
          </a:xfrm>
          <a:prstGeom prst="rect">
            <a:avLst/>
          </a:prstGeom>
          <a:noFill/>
          <a:ln/>
        </p:spPr>
        <p:txBody>
          <a:bodyPr wrap="square" lIns="0" tIns="0" rIns="0" bIns="0" rtlCol="0" anchor="t"/>
          <a:lstStyle/>
          <a:p>
            <a:pPr algn="ctr" indent="0" marL="0">
              <a:buNone/>
            </a:pPr>
            <a:r>
              <a:rPr lang="en-US" sz="1000" dirty="0">
                <a:solidFill>
                  <a:srgbClr val="5A6B7D"/>
                </a:solidFill>
                <a:latin typeface="Calibri" pitchFamily="34" charset="0"/>
                <a:ea typeface="Calibri" pitchFamily="34" charset="-122"/>
                <a:cs typeface="Calibri" pitchFamily="34" charset="-120"/>
              </a:rPr>
              <a:t>1 min</a:t>
            </a:r>
            <a:endParaRPr lang="en-US" sz="1000" dirty="0"/>
          </a:p>
        </p:txBody>
      </p:sp>
      <p:sp>
        <p:nvSpPr>
          <p:cNvPr id="12" name="Shape 10"/>
          <p:cNvSpPr/>
          <p:nvPr/>
        </p:nvSpPr>
        <p:spPr>
          <a:xfrm>
            <a:off x="7896454" y="1234440"/>
            <a:ext cx="0" cy="2880360"/>
          </a:xfrm>
          <a:prstGeom prst="line">
            <a:avLst/>
          </a:prstGeom>
          <a:noFill/>
          <a:ln w="9525">
            <a:solidFill>
              <a:srgbClr val="D5DDE5"/>
            </a:solidFill>
            <a:prstDash val="solid"/>
          </a:ln>
        </p:spPr>
      </p:sp>
      <p:sp>
        <p:nvSpPr>
          <p:cNvPr id="13" name="Text 11"/>
          <p:cNvSpPr txBox="1"/>
          <p:nvPr/>
        </p:nvSpPr>
        <p:spPr>
          <a:xfrm>
            <a:off x="7530694" y="4160520"/>
            <a:ext cx="731520" cy="228600"/>
          </a:xfrm>
          <a:prstGeom prst="rect">
            <a:avLst/>
          </a:prstGeom>
          <a:noFill/>
          <a:ln/>
        </p:spPr>
        <p:txBody>
          <a:bodyPr wrap="square" lIns="0" tIns="0" rIns="0" bIns="0" rtlCol="0" anchor="t"/>
          <a:lstStyle/>
          <a:p>
            <a:pPr algn="ctr" indent="0" marL="0">
              <a:buNone/>
            </a:pPr>
            <a:r>
              <a:rPr lang="en-US" sz="1000" dirty="0">
                <a:solidFill>
                  <a:srgbClr val="5A6B7D"/>
                </a:solidFill>
                <a:latin typeface="Calibri" pitchFamily="34" charset="0"/>
                <a:ea typeface="Calibri" pitchFamily="34" charset="-122"/>
                <a:cs typeface="Calibri" pitchFamily="34" charset="-120"/>
              </a:rPr>
              <a:t>1 h</a:t>
            </a:r>
            <a:endParaRPr lang="en-US" sz="1000" dirty="0"/>
          </a:p>
        </p:txBody>
      </p:sp>
      <p:sp>
        <p:nvSpPr>
          <p:cNvPr id="14" name="Shape 12"/>
          <p:cNvSpPr/>
          <p:nvPr/>
        </p:nvSpPr>
        <p:spPr>
          <a:xfrm>
            <a:off x="8522047" y="1234440"/>
            <a:ext cx="0" cy="2880360"/>
          </a:xfrm>
          <a:prstGeom prst="line">
            <a:avLst/>
          </a:prstGeom>
          <a:noFill/>
          <a:ln w="9525">
            <a:solidFill>
              <a:srgbClr val="D5DDE5"/>
            </a:solidFill>
            <a:prstDash val="solid"/>
          </a:ln>
        </p:spPr>
      </p:sp>
      <p:sp>
        <p:nvSpPr>
          <p:cNvPr id="15" name="Text 13"/>
          <p:cNvSpPr txBox="1"/>
          <p:nvPr/>
        </p:nvSpPr>
        <p:spPr>
          <a:xfrm>
            <a:off x="8156287" y="4160520"/>
            <a:ext cx="731520" cy="228600"/>
          </a:xfrm>
          <a:prstGeom prst="rect">
            <a:avLst/>
          </a:prstGeom>
          <a:noFill/>
          <a:ln/>
        </p:spPr>
        <p:txBody>
          <a:bodyPr wrap="square" lIns="0" tIns="0" rIns="0" bIns="0" rtlCol="0" anchor="t"/>
          <a:lstStyle/>
          <a:p>
            <a:pPr algn="ctr" indent="0" marL="0">
              <a:buNone/>
            </a:pPr>
            <a:r>
              <a:rPr lang="en-US" sz="1000" dirty="0">
                <a:solidFill>
                  <a:srgbClr val="5A6B7D"/>
                </a:solidFill>
                <a:latin typeface="Calibri" pitchFamily="34" charset="0"/>
                <a:ea typeface="Calibri" pitchFamily="34" charset="-122"/>
                <a:cs typeface="Calibri" pitchFamily="34" charset="-120"/>
              </a:rPr>
              <a:t>1 day</a:t>
            </a:r>
            <a:endParaRPr lang="en-US" sz="1000" dirty="0"/>
          </a:p>
        </p:txBody>
      </p:sp>
      <p:sp>
        <p:nvSpPr>
          <p:cNvPr id="16" name="Shape 14"/>
          <p:cNvSpPr/>
          <p:nvPr/>
        </p:nvSpPr>
        <p:spPr>
          <a:xfrm>
            <a:off x="3429000" y="4114800"/>
            <a:ext cx="5257800" cy="0"/>
          </a:xfrm>
          <a:prstGeom prst="line">
            <a:avLst/>
          </a:prstGeom>
          <a:noFill/>
          <a:ln w="12700">
            <a:solidFill>
              <a:srgbClr val="5A6B7D"/>
            </a:solidFill>
            <a:prstDash val="solid"/>
          </a:ln>
        </p:spPr>
      </p:sp>
      <p:sp>
        <p:nvSpPr>
          <p:cNvPr id="17" name="Text 15"/>
          <p:cNvSpPr txBox="1"/>
          <p:nvPr/>
        </p:nvSpPr>
        <p:spPr>
          <a:xfrm>
            <a:off x="3429000" y="4407408"/>
            <a:ext cx="5257800" cy="228600"/>
          </a:xfrm>
          <a:prstGeom prst="rect">
            <a:avLst/>
          </a:prstGeom>
          <a:noFill/>
          <a:ln/>
        </p:spPr>
        <p:txBody>
          <a:bodyPr wrap="square" lIns="0" tIns="0" rIns="0" bIns="0" rtlCol="0" anchor="t"/>
          <a:lstStyle/>
          <a:p>
            <a:pPr algn="ctr" indent="0" marL="0">
              <a:buNone/>
            </a:pPr>
            <a:r>
              <a:rPr lang="en-US" sz="950" i="1" dirty="0">
                <a:solidFill>
                  <a:srgbClr val="5A6B7D"/>
                </a:solidFill>
                <a:latin typeface="Calibri" pitchFamily="34" charset="0"/>
                <a:ea typeface="Calibri" pitchFamily="34" charset="-122"/>
                <a:cs typeface="Calibri" pitchFamily="34" charset="-120"/>
              </a:rPr>
              <a:t>Operating timescale (log)</a:t>
            </a:r>
            <a:endParaRPr lang="en-US" sz="950" dirty="0"/>
          </a:p>
        </p:txBody>
      </p:sp>
      <p:sp>
        <p:nvSpPr>
          <p:cNvPr id="18" name="Shape 16"/>
          <p:cNvSpPr/>
          <p:nvPr/>
        </p:nvSpPr>
        <p:spPr>
          <a:xfrm>
            <a:off x="457200" y="1417320"/>
            <a:ext cx="457200" cy="457200"/>
          </a:xfrm>
          <a:prstGeom prst="ellipse">
            <a:avLst/>
          </a:prstGeom>
          <a:solidFill>
            <a:srgbClr val="7C5CFF"/>
          </a:solidFill>
          <a:ln w="12700">
            <a:solidFill>
              <a:srgbClr val="7C5CFF"/>
            </a:solidFill>
            <a:prstDash val="solid"/>
          </a:ln>
        </p:spPr>
      </p:sp>
      <p:pic>
        <p:nvPicPr>
          <p:cNvPr id="19" name="Image 0" descr="preencoded.png">    </p:cNvPr>
          <p:cNvPicPr>
            <a:picLocks noChangeAspect="1"/>
          </p:cNvPicPr>
          <p:nvPr/>
        </p:nvPicPr>
        <p:blipFill>
          <a:blip r:embed="rId1"/>
          <a:stretch>
            <a:fillRect/>
          </a:stretch>
        </p:blipFill>
        <p:spPr>
          <a:xfrm>
            <a:off x="571500" y="1531620"/>
            <a:ext cx="228600" cy="228600"/>
          </a:xfrm>
          <a:prstGeom prst="rect">
            <a:avLst/>
          </a:prstGeom>
        </p:spPr>
      </p:pic>
      <p:sp>
        <p:nvSpPr>
          <p:cNvPr id="20" name="Text 17"/>
          <p:cNvSpPr txBox="1"/>
          <p:nvPr/>
        </p:nvSpPr>
        <p:spPr>
          <a:xfrm>
            <a:off x="1051560" y="1399032"/>
            <a:ext cx="2286000" cy="256032"/>
          </a:xfrm>
          <a:prstGeom prst="rect">
            <a:avLst/>
          </a:prstGeom>
          <a:noFill/>
          <a:ln/>
        </p:spPr>
        <p:txBody>
          <a:bodyPr wrap="square" lIns="0" tIns="0" rIns="0" bIns="0" rtlCol="0" anchor="t"/>
          <a:lstStyle/>
          <a:p>
            <a:pPr indent="0" marL="0">
              <a:buNone/>
            </a:pPr>
            <a:r>
              <a:rPr lang="en-US" sz="1250" b="1" dirty="0">
                <a:solidFill>
                  <a:srgbClr val="1A2B3C"/>
                </a:solidFill>
                <a:latin typeface="Arial" pitchFamily="34" charset="0"/>
                <a:ea typeface="Arial" pitchFamily="34" charset="-122"/>
                <a:cs typeface="Arial" pitchFamily="34" charset="-120"/>
              </a:rPr>
              <a:t>Intent (CER-Intent)</a:t>
            </a:r>
            <a:endParaRPr lang="en-US" sz="1250" dirty="0"/>
          </a:p>
        </p:txBody>
      </p:sp>
      <p:sp>
        <p:nvSpPr>
          <p:cNvPr id="21" name="Text 18"/>
          <p:cNvSpPr txBox="1"/>
          <p:nvPr/>
        </p:nvSpPr>
        <p:spPr>
          <a:xfrm>
            <a:off x="1051560" y="1655064"/>
            <a:ext cx="2286000" cy="228600"/>
          </a:xfrm>
          <a:prstGeom prst="rect">
            <a:avLst/>
          </a:prstGeom>
          <a:noFill/>
          <a:ln/>
        </p:spPr>
        <p:txBody>
          <a:bodyPr wrap="square" lIns="0" tIns="0" rIns="0" bIns="0" rtlCol="0" anchor="t"/>
          <a:lstStyle/>
          <a:p>
            <a:pPr indent="0" marL="0">
              <a:buNone/>
            </a:pPr>
            <a:r>
              <a:rPr lang="en-US" sz="1050" dirty="0">
                <a:solidFill>
                  <a:srgbClr val="5A6B7D"/>
                </a:solidFill>
                <a:latin typeface="Calibri" pitchFamily="34" charset="0"/>
                <a:ea typeface="Calibri" pitchFamily="34" charset="-122"/>
                <a:cs typeface="Calibri" pitchFamily="34" charset="-120"/>
              </a:rPr>
              <a:t>natural language / JSON</a:t>
            </a:r>
            <a:endParaRPr lang="en-US" sz="1050" dirty="0"/>
          </a:p>
        </p:txBody>
      </p:sp>
      <p:sp>
        <p:nvSpPr>
          <p:cNvPr id="22" name="Shape 19"/>
          <p:cNvSpPr/>
          <p:nvPr/>
        </p:nvSpPr>
        <p:spPr>
          <a:xfrm>
            <a:off x="7090492" y="1481328"/>
            <a:ext cx="1431555" cy="329184"/>
          </a:xfrm>
          <a:prstGeom prst="roundRect">
            <a:avLst>
              <a:gd name="adj" fmla="val 22222"/>
            </a:avLst>
          </a:prstGeom>
          <a:solidFill>
            <a:srgbClr val="7C5CFF"/>
          </a:solidFill>
          <a:ln w="12700">
            <a:solidFill>
              <a:srgbClr val="7C5CFF"/>
            </a:solidFill>
            <a:prstDash val="solid"/>
          </a:ln>
        </p:spPr>
      </p:sp>
      <p:sp>
        <p:nvSpPr>
          <p:cNvPr id="23" name="Text 20"/>
          <p:cNvSpPr txBox="1"/>
          <p:nvPr/>
        </p:nvSpPr>
        <p:spPr>
          <a:xfrm>
            <a:off x="7090492" y="1481328"/>
            <a:ext cx="1431555"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minutes – days</a:t>
            </a:r>
            <a:endParaRPr lang="en-US" sz="1050" dirty="0"/>
          </a:p>
        </p:txBody>
      </p:sp>
      <p:sp>
        <p:nvSpPr>
          <p:cNvPr id="24" name="Shape 21"/>
          <p:cNvSpPr/>
          <p:nvPr/>
        </p:nvSpPr>
        <p:spPr>
          <a:xfrm>
            <a:off x="457200" y="2103120"/>
            <a:ext cx="457200" cy="457200"/>
          </a:xfrm>
          <a:prstGeom prst="ellipse">
            <a:avLst/>
          </a:prstGeom>
          <a:solidFill>
            <a:srgbClr val="0FA3B1"/>
          </a:solidFill>
          <a:ln w="12700">
            <a:solidFill>
              <a:srgbClr val="0FA3B1"/>
            </a:solidFill>
            <a:prstDash val="solid"/>
          </a:ln>
        </p:spPr>
      </p:sp>
      <p:pic>
        <p:nvPicPr>
          <p:cNvPr id="25" name="Image 1" descr="preencoded.png">    </p:cNvPr>
          <p:cNvPicPr>
            <a:picLocks noChangeAspect="1"/>
          </p:cNvPicPr>
          <p:nvPr/>
        </p:nvPicPr>
        <p:blipFill>
          <a:blip r:embed="rId2"/>
          <a:stretch>
            <a:fillRect/>
          </a:stretch>
        </p:blipFill>
        <p:spPr>
          <a:xfrm>
            <a:off x="571500" y="2217420"/>
            <a:ext cx="228600" cy="228600"/>
          </a:xfrm>
          <a:prstGeom prst="rect">
            <a:avLst/>
          </a:prstGeom>
        </p:spPr>
      </p:pic>
      <p:sp>
        <p:nvSpPr>
          <p:cNvPr id="26" name="Text 22"/>
          <p:cNvSpPr txBox="1"/>
          <p:nvPr/>
        </p:nvSpPr>
        <p:spPr>
          <a:xfrm>
            <a:off x="1051560" y="2084832"/>
            <a:ext cx="2286000" cy="256032"/>
          </a:xfrm>
          <a:prstGeom prst="rect">
            <a:avLst/>
          </a:prstGeom>
          <a:noFill/>
          <a:ln/>
        </p:spPr>
        <p:txBody>
          <a:bodyPr wrap="square" lIns="0" tIns="0" rIns="0" bIns="0" rtlCol="0" anchor="t"/>
          <a:lstStyle/>
          <a:p>
            <a:pPr indent="0" marL="0">
              <a:buNone/>
            </a:pPr>
            <a:r>
              <a:rPr lang="en-US" sz="1250" b="1" dirty="0">
                <a:solidFill>
                  <a:srgbClr val="1A2B3C"/>
                </a:solidFill>
                <a:latin typeface="Arial" pitchFamily="34" charset="0"/>
                <a:ea typeface="Arial" pitchFamily="34" charset="-122"/>
                <a:cs typeface="Arial" pitchFamily="34" charset="-120"/>
              </a:rPr>
              <a:t>SDN (TeraFlowSDN)</a:t>
            </a:r>
            <a:endParaRPr lang="en-US" sz="1250" dirty="0"/>
          </a:p>
        </p:txBody>
      </p:sp>
      <p:sp>
        <p:nvSpPr>
          <p:cNvPr id="27" name="Text 23"/>
          <p:cNvSpPr txBox="1"/>
          <p:nvPr/>
        </p:nvSpPr>
        <p:spPr>
          <a:xfrm>
            <a:off x="1051560" y="2340864"/>
            <a:ext cx="2286000" cy="228600"/>
          </a:xfrm>
          <a:prstGeom prst="rect">
            <a:avLst/>
          </a:prstGeom>
          <a:noFill/>
          <a:ln/>
        </p:spPr>
        <p:txBody>
          <a:bodyPr wrap="square" lIns="0" tIns="0" rIns="0" bIns="0" rtlCol="0" anchor="t"/>
          <a:lstStyle/>
          <a:p>
            <a:pPr indent="0" marL="0">
              <a:buNone/>
            </a:pPr>
            <a:r>
              <a:rPr lang="en-US" sz="1050" dirty="0">
                <a:solidFill>
                  <a:srgbClr val="5A6B7D"/>
                </a:solidFill>
                <a:latin typeface="Calibri" pitchFamily="34" charset="0"/>
                <a:ea typeface="Calibri" pitchFamily="34" charset="-122"/>
                <a:cs typeface="Calibri" pitchFamily="34" charset="-120"/>
              </a:rPr>
              <a:t>REST NBI · gRPC services</a:t>
            </a:r>
            <a:endParaRPr lang="en-US" sz="1050" dirty="0"/>
          </a:p>
        </p:txBody>
      </p:sp>
      <p:sp>
        <p:nvSpPr>
          <p:cNvPr id="28" name="Shape 24"/>
          <p:cNvSpPr/>
          <p:nvPr/>
        </p:nvSpPr>
        <p:spPr>
          <a:xfrm>
            <a:off x="6148552" y="2167128"/>
            <a:ext cx="941940" cy="329184"/>
          </a:xfrm>
          <a:prstGeom prst="roundRect">
            <a:avLst>
              <a:gd name="adj" fmla="val 22222"/>
            </a:avLst>
          </a:prstGeom>
          <a:solidFill>
            <a:srgbClr val="0FA3B1"/>
          </a:solidFill>
          <a:ln w="12700">
            <a:solidFill>
              <a:srgbClr val="0FA3B1"/>
            </a:solidFill>
            <a:prstDash val="solid"/>
          </a:ln>
        </p:spPr>
      </p:sp>
      <p:sp>
        <p:nvSpPr>
          <p:cNvPr id="29" name="Text 25"/>
          <p:cNvSpPr txBox="1"/>
          <p:nvPr/>
        </p:nvSpPr>
        <p:spPr>
          <a:xfrm>
            <a:off x="6148552" y="2167128"/>
            <a:ext cx="941940"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seconds</a:t>
            </a:r>
            <a:endParaRPr lang="en-US" sz="1050" dirty="0"/>
          </a:p>
        </p:txBody>
      </p:sp>
      <p:sp>
        <p:nvSpPr>
          <p:cNvPr id="30" name="Shape 26"/>
          <p:cNvSpPr/>
          <p:nvPr/>
        </p:nvSpPr>
        <p:spPr>
          <a:xfrm>
            <a:off x="457200" y="2788920"/>
            <a:ext cx="457200" cy="457200"/>
          </a:xfrm>
          <a:prstGeom prst="ellipse">
            <a:avLst/>
          </a:prstGeom>
          <a:solidFill>
            <a:srgbClr val="E8912D"/>
          </a:solidFill>
          <a:ln w="12700">
            <a:solidFill>
              <a:srgbClr val="E8912D"/>
            </a:solidFill>
            <a:prstDash val="solid"/>
          </a:ln>
        </p:spPr>
      </p:sp>
      <p:pic>
        <p:nvPicPr>
          <p:cNvPr id="31" name="Image 2" descr="preencoded.png">    </p:cNvPr>
          <p:cNvPicPr>
            <a:picLocks noChangeAspect="1"/>
          </p:cNvPicPr>
          <p:nvPr/>
        </p:nvPicPr>
        <p:blipFill>
          <a:blip r:embed="rId3"/>
          <a:stretch>
            <a:fillRect/>
          </a:stretch>
        </p:blipFill>
        <p:spPr>
          <a:xfrm>
            <a:off x="571500" y="2903220"/>
            <a:ext cx="228600" cy="228600"/>
          </a:xfrm>
          <a:prstGeom prst="rect">
            <a:avLst/>
          </a:prstGeom>
        </p:spPr>
      </p:pic>
      <p:sp>
        <p:nvSpPr>
          <p:cNvPr id="32" name="Text 27"/>
          <p:cNvSpPr txBox="1"/>
          <p:nvPr/>
        </p:nvSpPr>
        <p:spPr>
          <a:xfrm>
            <a:off x="1051560" y="2770632"/>
            <a:ext cx="2286000" cy="256032"/>
          </a:xfrm>
          <a:prstGeom prst="rect">
            <a:avLst/>
          </a:prstGeom>
          <a:noFill/>
          <a:ln/>
        </p:spPr>
        <p:txBody>
          <a:bodyPr wrap="square" lIns="0" tIns="0" rIns="0" bIns="0" rtlCol="0" anchor="t"/>
          <a:lstStyle/>
          <a:p>
            <a:pPr indent="0" marL="0">
              <a:buNone/>
            </a:pPr>
            <a:r>
              <a:rPr lang="en-US" sz="1250" b="1" dirty="0">
                <a:solidFill>
                  <a:srgbClr val="1A2B3C"/>
                </a:solidFill>
                <a:latin typeface="Arial" pitchFamily="34" charset="0"/>
                <a:ea typeface="Arial" pitchFamily="34" charset="-122"/>
                <a:cs typeface="Arial" pitchFamily="34" charset="-120"/>
              </a:rPr>
              <a:t>Simulator (ns-3.45)</a:t>
            </a:r>
            <a:endParaRPr lang="en-US" sz="1250" dirty="0"/>
          </a:p>
        </p:txBody>
      </p:sp>
      <p:sp>
        <p:nvSpPr>
          <p:cNvPr id="33" name="Text 28"/>
          <p:cNvSpPr txBox="1"/>
          <p:nvPr/>
        </p:nvSpPr>
        <p:spPr>
          <a:xfrm>
            <a:off x="1051560" y="3026664"/>
            <a:ext cx="2286000" cy="228600"/>
          </a:xfrm>
          <a:prstGeom prst="rect">
            <a:avLst/>
          </a:prstGeom>
          <a:noFill/>
          <a:ln/>
        </p:spPr>
        <p:txBody>
          <a:bodyPr wrap="square" lIns="0" tIns="0" rIns="0" bIns="0" rtlCol="0" anchor="t"/>
          <a:lstStyle/>
          <a:p>
            <a:pPr indent="0" marL="0">
              <a:buNone/>
            </a:pPr>
            <a:r>
              <a:rPr lang="en-US" sz="1050" dirty="0">
                <a:solidFill>
                  <a:srgbClr val="5A6B7D"/>
                </a:solidFill>
                <a:latin typeface="Calibri" pitchFamily="34" charset="0"/>
                <a:ea typeface="Calibri" pitchFamily="34" charset="-122"/>
                <a:cs typeface="Calibri" pitchFamily="34" charset="-120"/>
              </a:rPr>
              <a:t>C++ event queue</a:t>
            </a:r>
            <a:endParaRPr lang="en-US" sz="1050" dirty="0"/>
          </a:p>
        </p:txBody>
      </p:sp>
      <p:sp>
        <p:nvSpPr>
          <p:cNvPr id="34" name="Shape 29"/>
          <p:cNvSpPr/>
          <p:nvPr/>
        </p:nvSpPr>
        <p:spPr>
          <a:xfrm>
            <a:off x="3564978" y="2852928"/>
            <a:ext cx="1359776" cy="329184"/>
          </a:xfrm>
          <a:prstGeom prst="roundRect">
            <a:avLst>
              <a:gd name="adj" fmla="val 22222"/>
            </a:avLst>
          </a:prstGeom>
          <a:solidFill>
            <a:srgbClr val="E8912D"/>
          </a:solidFill>
          <a:ln w="12700">
            <a:solidFill>
              <a:srgbClr val="E8912D"/>
            </a:solidFill>
            <a:prstDash val="solid"/>
          </a:ln>
        </p:spPr>
      </p:sp>
      <p:sp>
        <p:nvSpPr>
          <p:cNvPr id="35" name="Text 30"/>
          <p:cNvSpPr txBox="1"/>
          <p:nvPr/>
        </p:nvSpPr>
        <p:spPr>
          <a:xfrm>
            <a:off x="3564978" y="2852928"/>
            <a:ext cx="1359776"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microseconds</a:t>
            </a:r>
            <a:endParaRPr lang="en-US" sz="1050" dirty="0"/>
          </a:p>
        </p:txBody>
      </p:sp>
      <p:sp>
        <p:nvSpPr>
          <p:cNvPr id="36" name="Shape 31"/>
          <p:cNvSpPr/>
          <p:nvPr/>
        </p:nvSpPr>
        <p:spPr>
          <a:xfrm>
            <a:off x="457200" y="3474720"/>
            <a:ext cx="457200" cy="457200"/>
          </a:xfrm>
          <a:prstGeom prst="ellipse">
            <a:avLst/>
          </a:prstGeom>
          <a:solidFill>
            <a:srgbClr val="22A06B"/>
          </a:solidFill>
          <a:ln w="12700">
            <a:solidFill>
              <a:srgbClr val="22A06B"/>
            </a:solidFill>
            <a:prstDash val="solid"/>
          </a:ln>
        </p:spPr>
      </p:sp>
      <p:pic>
        <p:nvPicPr>
          <p:cNvPr id="37" name="Image 3" descr="preencoded.png">    </p:cNvPr>
          <p:cNvPicPr>
            <a:picLocks noChangeAspect="1"/>
          </p:cNvPicPr>
          <p:nvPr/>
        </p:nvPicPr>
        <p:blipFill>
          <a:blip r:embed="rId4"/>
          <a:stretch>
            <a:fillRect/>
          </a:stretch>
        </p:blipFill>
        <p:spPr>
          <a:xfrm>
            <a:off x="571500" y="3589020"/>
            <a:ext cx="228600" cy="228600"/>
          </a:xfrm>
          <a:prstGeom prst="rect">
            <a:avLst/>
          </a:prstGeom>
        </p:spPr>
      </p:pic>
      <p:sp>
        <p:nvSpPr>
          <p:cNvPr id="38" name="Text 32"/>
          <p:cNvSpPr txBox="1"/>
          <p:nvPr/>
        </p:nvSpPr>
        <p:spPr>
          <a:xfrm>
            <a:off x="1051560" y="3456432"/>
            <a:ext cx="2286000" cy="256032"/>
          </a:xfrm>
          <a:prstGeom prst="rect">
            <a:avLst/>
          </a:prstGeom>
          <a:noFill/>
          <a:ln/>
        </p:spPr>
        <p:txBody>
          <a:bodyPr wrap="square" lIns="0" tIns="0" rIns="0" bIns="0" rtlCol="0" anchor="t"/>
          <a:lstStyle/>
          <a:p>
            <a:pPr indent="0" marL="0">
              <a:buNone/>
            </a:pPr>
            <a:r>
              <a:rPr lang="en-US" sz="1250" b="1" dirty="0">
                <a:solidFill>
                  <a:srgbClr val="1A2B3C"/>
                </a:solidFill>
                <a:latin typeface="Arial" pitchFamily="34" charset="0"/>
                <a:ea typeface="Arial" pitchFamily="34" charset="-122"/>
                <a:cs typeface="Arial" pitchFamily="34" charset="-120"/>
              </a:rPr>
              <a:t>Radio (MH-T261)</a:t>
            </a:r>
            <a:endParaRPr lang="en-US" sz="1250" dirty="0"/>
          </a:p>
        </p:txBody>
      </p:sp>
      <p:sp>
        <p:nvSpPr>
          <p:cNvPr id="39" name="Text 33"/>
          <p:cNvSpPr txBox="1"/>
          <p:nvPr/>
        </p:nvSpPr>
        <p:spPr>
          <a:xfrm>
            <a:off x="1051560" y="3712464"/>
            <a:ext cx="2286000" cy="228600"/>
          </a:xfrm>
          <a:prstGeom prst="rect">
            <a:avLst/>
          </a:prstGeom>
          <a:noFill/>
          <a:ln/>
        </p:spPr>
        <p:txBody>
          <a:bodyPr wrap="square" lIns="0" tIns="0" rIns="0" bIns="0" rtlCol="0" anchor="t"/>
          <a:lstStyle/>
          <a:p>
            <a:pPr indent="0" marL="0">
              <a:buNone/>
            </a:pPr>
            <a:r>
              <a:rPr lang="en-US" sz="1050" dirty="0">
                <a:solidFill>
                  <a:srgbClr val="5A6B7D"/>
                </a:solidFill>
                <a:latin typeface="Calibri" pitchFamily="34" charset="0"/>
                <a:ea typeface="Calibri" pitchFamily="34" charset="-122"/>
                <a:cs typeface="Calibri" pitchFamily="34" charset="-120"/>
              </a:rPr>
              <a:t>RESTCONF · PHY</a:t>
            </a:r>
            <a:endParaRPr lang="en-US" sz="1050" dirty="0"/>
          </a:p>
        </p:txBody>
      </p:sp>
      <p:sp>
        <p:nvSpPr>
          <p:cNvPr id="40" name="Shape 34"/>
          <p:cNvSpPr/>
          <p:nvPr/>
        </p:nvSpPr>
        <p:spPr>
          <a:xfrm>
            <a:off x="4018236" y="3538728"/>
            <a:ext cx="906517" cy="329184"/>
          </a:xfrm>
          <a:prstGeom prst="roundRect">
            <a:avLst>
              <a:gd name="adj" fmla="val 22222"/>
            </a:avLst>
          </a:prstGeom>
          <a:solidFill>
            <a:srgbClr val="22A06B"/>
          </a:solidFill>
          <a:ln w="12700">
            <a:solidFill>
              <a:srgbClr val="22A06B"/>
            </a:solidFill>
            <a:prstDash val="solid"/>
          </a:ln>
        </p:spPr>
      </p:sp>
      <p:sp>
        <p:nvSpPr>
          <p:cNvPr id="41" name="Text 35"/>
          <p:cNvSpPr txBox="1"/>
          <p:nvPr/>
        </p:nvSpPr>
        <p:spPr>
          <a:xfrm>
            <a:off x="4018236" y="3538728"/>
            <a:ext cx="906517"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sub-ms</a:t>
            </a:r>
            <a:endParaRPr lang="en-US" sz="1050" dirty="0"/>
          </a:p>
        </p:txBody>
      </p:sp>
      <p:sp>
        <p:nvSpPr>
          <p:cNvPr id="42" name="Shape 36"/>
          <p:cNvSpPr/>
          <p:nvPr/>
        </p:nvSpPr>
        <p:spPr>
          <a:xfrm>
            <a:off x="457200" y="4434840"/>
            <a:ext cx="2788920" cy="457200"/>
          </a:xfrm>
          <a:prstGeom prst="roundRect">
            <a:avLst>
              <a:gd name="adj" fmla="val 16000"/>
            </a:avLst>
          </a:prstGeom>
          <a:solidFill>
            <a:srgbClr val="F2F5F8"/>
          </a:solidFill>
          <a:ln w="12700">
            <a:solidFill>
              <a:srgbClr val="F2F5F8"/>
            </a:solidFill>
            <a:prstDash val="solid"/>
          </a:ln>
        </p:spPr>
      </p:sp>
      <p:sp>
        <p:nvSpPr>
          <p:cNvPr id="43" name="Text 37"/>
          <p:cNvSpPr txBox="1"/>
          <p:nvPr/>
        </p:nvSpPr>
        <p:spPr>
          <a:xfrm>
            <a:off x="566928" y="4434840"/>
            <a:ext cx="2606040" cy="457200"/>
          </a:xfrm>
          <a:prstGeom prst="rect">
            <a:avLst/>
          </a:prstGeom>
          <a:noFill/>
          <a:ln/>
        </p:spPr>
        <p:txBody>
          <a:bodyPr wrap="square" lIns="0" tIns="0" rIns="0" bIns="0" rtlCol="0" anchor="ctr"/>
          <a:lstStyle/>
          <a:p>
            <a:pPr indent="0" marL="0">
              <a:buNone/>
            </a:pPr>
            <a:r>
              <a:rPr lang="en-US" sz="1050" b="1" dirty="0">
                <a:solidFill>
                  <a:srgbClr val="0B1D33"/>
                </a:solidFill>
                <a:latin typeface="Calibri" pitchFamily="34" charset="0"/>
                <a:ea typeface="Calibri" pitchFamily="34" charset="-122"/>
                <a:cs typeface="Calibri" pitchFamily="34" charset="-120"/>
              </a:rPr>
              <a:t>Adapters </a:t>
            </a:r>
            <a:pPr indent="0" marL="0">
              <a:buNone/>
            </a:pPr>
            <a:r>
              <a:rPr lang="en-US" sz="1050" dirty="0">
                <a:solidFill>
                  <a:srgbClr val="1A2B3C"/>
                </a:solidFill>
                <a:latin typeface="Calibri" pitchFamily="34" charset="0"/>
                <a:ea typeface="Calibri" pitchFamily="34" charset="-122"/>
                <a:cs typeface="Calibri" pitchFamily="34" charset="-120"/>
              </a:rPr>
              <a:t>translate both the protocol and the clock between neighbours.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000" b="1" spc="200" kern="0" dirty="0">
                <a:solidFill>
                  <a:srgbClr val="0FA3B1"/>
                </a:solidFill>
                <a:latin typeface="Arial" pitchFamily="34" charset="0"/>
                <a:ea typeface="Arial" pitchFamily="34" charset="-122"/>
                <a:cs typeface="Arial" pitchFamily="34" charset="-120"/>
              </a:rPr>
              <a:t>AS-BUILT ARCHITECTURE</a:t>
            </a:r>
            <a:endParaRPr lang="en-US" sz="10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400" b="1" dirty="0">
                <a:solidFill>
                  <a:srgbClr val="0B1D33"/>
                </a:solidFill>
                <a:latin typeface="Arial" pitchFamily="34" charset="0"/>
                <a:ea typeface="Arial" pitchFamily="34" charset="-122"/>
                <a:cs typeface="Arial" pitchFamily="34" charset="-120"/>
              </a:rPr>
              <a:t>What is actually wired together today</a:t>
            </a:r>
            <a:endParaRPr lang="en-US" sz="2400" dirty="0"/>
          </a:p>
        </p:txBody>
      </p:sp>
      <p:sp>
        <p:nvSpPr>
          <p:cNvPr id="4" name="Shape 2"/>
          <p:cNvSpPr/>
          <p:nvPr/>
        </p:nvSpPr>
        <p:spPr>
          <a:xfrm>
            <a:off x="457200" y="1234440"/>
            <a:ext cx="2377440" cy="1051560"/>
          </a:xfrm>
          <a:prstGeom prst="roundRect">
            <a:avLst>
              <a:gd name="adj" fmla="val 6957"/>
            </a:avLst>
          </a:prstGeom>
          <a:solidFill>
            <a:srgbClr val="FFFFFF"/>
          </a:solidFill>
          <a:ln w="19050">
            <a:solidFill>
              <a:srgbClr val="7C5CFF"/>
            </a:solidFill>
            <a:prstDash val="solid"/>
          </a:ln>
          <a:effectLst>
            <a:outerShdw sx="100000" sy="100000" kx="0" ky="0" algn="bl" rotWithShape="0" blurRad="50800" dist="12700" dir="5400000">
              <a:srgbClr val="000000">
                <a:alpha val="12000"/>
              </a:srgbClr>
            </a:outerShdw>
          </a:effectLst>
        </p:spPr>
      </p:sp>
      <p:sp>
        <p:nvSpPr>
          <p:cNvPr id="5" name="Shape 3"/>
          <p:cNvSpPr/>
          <p:nvPr/>
        </p:nvSpPr>
        <p:spPr>
          <a:xfrm>
            <a:off x="566928" y="1362456"/>
            <a:ext cx="365760" cy="365760"/>
          </a:xfrm>
          <a:prstGeom prst="ellipse">
            <a:avLst/>
          </a:prstGeom>
          <a:solidFill>
            <a:srgbClr val="7C5CFF"/>
          </a:solidFill>
          <a:ln w="12700">
            <a:solidFill>
              <a:srgbClr val="7C5CFF"/>
            </a:solidFill>
            <a:prstDash val="solid"/>
          </a:ln>
        </p:spPr>
      </p:sp>
      <p:pic>
        <p:nvPicPr>
          <p:cNvPr id="6" name="Image 0" descr="preencoded.png">    </p:cNvPr>
          <p:cNvPicPr>
            <a:picLocks noChangeAspect="1"/>
          </p:cNvPicPr>
          <p:nvPr/>
        </p:nvPicPr>
        <p:blipFill>
          <a:blip r:embed="rId1"/>
          <a:stretch>
            <a:fillRect/>
          </a:stretch>
        </p:blipFill>
        <p:spPr>
          <a:xfrm>
            <a:off x="658368" y="1453896"/>
            <a:ext cx="182880" cy="182880"/>
          </a:xfrm>
          <a:prstGeom prst="rect">
            <a:avLst/>
          </a:prstGeom>
        </p:spPr>
      </p:pic>
      <p:sp>
        <p:nvSpPr>
          <p:cNvPr id="7" name="Text 4"/>
          <p:cNvSpPr txBox="1"/>
          <p:nvPr/>
        </p:nvSpPr>
        <p:spPr>
          <a:xfrm>
            <a:off x="1005840" y="1325880"/>
            <a:ext cx="1737360" cy="237744"/>
          </a:xfrm>
          <a:prstGeom prst="rect">
            <a:avLst/>
          </a:prstGeom>
          <a:noFill/>
          <a:ln/>
        </p:spPr>
        <p:txBody>
          <a:bodyPr wrap="square" lIns="0" tIns="0" rIns="0" bIns="0" rtlCol="0" anchor="t"/>
          <a:lstStyle/>
          <a:p>
            <a:pPr indent="0" marL="0">
              <a:buNone/>
            </a:pPr>
            <a:r>
              <a:rPr lang="en-US" sz="1100" b="1" dirty="0">
                <a:solidFill>
                  <a:srgbClr val="1A2B3C"/>
                </a:solidFill>
                <a:latin typeface="Arial" pitchFamily="34" charset="0"/>
                <a:ea typeface="Arial" pitchFamily="34" charset="-122"/>
                <a:cs typeface="Arial" pitchFamily="34" charset="-120"/>
              </a:rPr>
              <a:t>CER-Intent</a:t>
            </a:r>
            <a:endParaRPr lang="en-US" sz="1100" dirty="0"/>
          </a:p>
        </p:txBody>
      </p:sp>
      <p:sp>
        <p:nvSpPr>
          <p:cNvPr id="8" name="Text 5"/>
          <p:cNvSpPr txBox="1"/>
          <p:nvPr/>
        </p:nvSpPr>
        <p:spPr>
          <a:xfrm>
            <a:off x="1005840" y="1563624"/>
            <a:ext cx="1737360" cy="384048"/>
          </a:xfrm>
          <a:prstGeom prst="rect">
            <a:avLst/>
          </a:prstGeom>
          <a:noFill/>
          <a:ln/>
        </p:spPr>
        <p:txBody>
          <a:bodyPr wrap="square" lIns="0" tIns="0" rIns="0" bIns="0" rtlCol="0" anchor="t"/>
          <a:lstStyle/>
          <a:p>
            <a:pPr indent="0" marL="0">
              <a:buNone/>
            </a:pPr>
            <a:r>
              <a:rPr lang="en-US" sz="900" dirty="0">
                <a:solidFill>
                  <a:srgbClr val="5A6B7D"/>
                </a:solidFill>
                <a:latin typeface="Calibri" pitchFamily="34" charset="0"/>
                <a:ea typeface="Calibri" pitchFamily="34" charset="-122"/>
                <a:cs typeface="Calibri" pitchFamily="34" charset="-120"/>
              </a:rPr>
              <a:t>Flask + Socket.IO :5000</a:t>
            </a:r>
            <a:endParaRPr lang="en-US" sz="900" dirty="0"/>
          </a:p>
          <a:p>
            <a:pPr indent="0" marL="0">
              <a:buNone/>
            </a:pPr>
            <a:r>
              <a:rPr lang="en-US" sz="900" dirty="0">
                <a:solidFill>
                  <a:srgbClr val="5A6B7D"/>
                </a:solidFill>
                <a:latin typeface="Calibri" pitchFamily="34" charset="0"/>
                <a:ea typeface="Calibri" pitchFamily="34" charset="-122"/>
                <a:cs typeface="Calibri" pitchFamily="34" charset="-120"/>
              </a:rPr>
              <a:t>parser · architect · reconciler</a:t>
            </a:r>
            <a:endParaRPr lang="en-US" sz="900" dirty="0"/>
          </a:p>
        </p:txBody>
      </p:sp>
      <p:sp>
        <p:nvSpPr>
          <p:cNvPr id="9" name="Shape 6"/>
          <p:cNvSpPr/>
          <p:nvPr/>
        </p:nvSpPr>
        <p:spPr>
          <a:xfrm>
            <a:off x="1856232" y="1993392"/>
            <a:ext cx="868680" cy="201168"/>
          </a:xfrm>
          <a:prstGeom prst="roundRect">
            <a:avLst>
              <a:gd name="adj" fmla="val 50000"/>
            </a:avLst>
          </a:prstGeom>
          <a:solidFill>
            <a:srgbClr val="22A06B"/>
          </a:solidFill>
          <a:ln w="12700">
            <a:solidFill>
              <a:srgbClr val="22A06B"/>
            </a:solidFill>
            <a:prstDash val="solid"/>
          </a:ln>
        </p:spPr>
      </p:sp>
      <p:sp>
        <p:nvSpPr>
          <p:cNvPr id="10" name="Text 7"/>
          <p:cNvSpPr txBox="1"/>
          <p:nvPr/>
        </p:nvSpPr>
        <p:spPr>
          <a:xfrm>
            <a:off x="1856232" y="1993392"/>
            <a:ext cx="868680" cy="201168"/>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Arial" pitchFamily="34" charset="0"/>
                <a:ea typeface="Arial" pitchFamily="34" charset="-122"/>
                <a:cs typeface="Arial" pitchFamily="34" charset="-120"/>
              </a:rPr>
              <a:t>IMPLEMENTED</a:t>
            </a:r>
            <a:endParaRPr lang="en-US" sz="700" dirty="0"/>
          </a:p>
        </p:txBody>
      </p:sp>
      <p:sp>
        <p:nvSpPr>
          <p:cNvPr id="11" name="Shape 8"/>
          <p:cNvSpPr/>
          <p:nvPr/>
        </p:nvSpPr>
        <p:spPr>
          <a:xfrm>
            <a:off x="3383280" y="1234440"/>
            <a:ext cx="2377440" cy="1051560"/>
          </a:xfrm>
          <a:prstGeom prst="roundRect">
            <a:avLst>
              <a:gd name="adj" fmla="val 6957"/>
            </a:avLst>
          </a:prstGeom>
          <a:solidFill>
            <a:srgbClr val="FFFFFF"/>
          </a:solidFill>
          <a:ln w="19050">
            <a:solidFill>
              <a:srgbClr val="0FA3B1"/>
            </a:solidFill>
            <a:prstDash val="solid"/>
          </a:ln>
          <a:effectLst>
            <a:outerShdw sx="100000" sy="100000" kx="0" ky="0" algn="bl" rotWithShape="0" blurRad="50800" dist="12700" dir="5400000">
              <a:srgbClr val="000000">
                <a:alpha val="12000"/>
              </a:srgbClr>
            </a:outerShdw>
          </a:effectLst>
        </p:spPr>
      </p:sp>
      <p:sp>
        <p:nvSpPr>
          <p:cNvPr id="12" name="Shape 9"/>
          <p:cNvSpPr/>
          <p:nvPr/>
        </p:nvSpPr>
        <p:spPr>
          <a:xfrm>
            <a:off x="3493008" y="1362456"/>
            <a:ext cx="365760" cy="365760"/>
          </a:xfrm>
          <a:prstGeom prst="ellipse">
            <a:avLst/>
          </a:prstGeom>
          <a:solidFill>
            <a:srgbClr val="0FA3B1"/>
          </a:solidFill>
          <a:ln w="12700">
            <a:solidFill>
              <a:srgbClr val="0FA3B1"/>
            </a:solidFill>
            <a:prstDash val="solid"/>
          </a:ln>
        </p:spPr>
      </p:sp>
      <p:pic>
        <p:nvPicPr>
          <p:cNvPr id="13" name="Image 1" descr="preencoded.png">    </p:cNvPr>
          <p:cNvPicPr>
            <a:picLocks noChangeAspect="1"/>
          </p:cNvPicPr>
          <p:nvPr/>
        </p:nvPicPr>
        <p:blipFill>
          <a:blip r:embed="rId2"/>
          <a:stretch>
            <a:fillRect/>
          </a:stretch>
        </p:blipFill>
        <p:spPr>
          <a:xfrm>
            <a:off x="3584448" y="1453896"/>
            <a:ext cx="182880" cy="182880"/>
          </a:xfrm>
          <a:prstGeom prst="rect">
            <a:avLst/>
          </a:prstGeom>
        </p:spPr>
      </p:pic>
      <p:sp>
        <p:nvSpPr>
          <p:cNvPr id="14" name="Text 10"/>
          <p:cNvSpPr txBox="1"/>
          <p:nvPr/>
        </p:nvSpPr>
        <p:spPr>
          <a:xfrm>
            <a:off x="3931920" y="1325880"/>
            <a:ext cx="1737360" cy="237744"/>
          </a:xfrm>
          <a:prstGeom prst="rect">
            <a:avLst/>
          </a:prstGeom>
          <a:noFill/>
          <a:ln/>
        </p:spPr>
        <p:txBody>
          <a:bodyPr wrap="square" lIns="0" tIns="0" rIns="0" bIns="0" rtlCol="0" anchor="t"/>
          <a:lstStyle/>
          <a:p>
            <a:pPr indent="0" marL="0">
              <a:buNone/>
            </a:pPr>
            <a:r>
              <a:rPr lang="en-US" sz="1100" b="1" dirty="0">
                <a:solidFill>
                  <a:srgbClr val="1A2B3C"/>
                </a:solidFill>
                <a:latin typeface="Arial" pitchFamily="34" charset="0"/>
                <a:ea typeface="Arial" pitchFamily="34" charset="-122"/>
                <a:cs typeface="Arial" pitchFamily="34" charset="-120"/>
              </a:rPr>
              <a:t>TeraFlowSDN</a:t>
            </a:r>
            <a:endParaRPr lang="en-US" sz="1100" dirty="0"/>
          </a:p>
        </p:txBody>
      </p:sp>
      <p:sp>
        <p:nvSpPr>
          <p:cNvPr id="15" name="Text 11"/>
          <p:cNvSpPr txBox="1"/>
          <p:nvPr/>
        </p:nvSpPr>
        <p:spPr>
          <a:xfrm>
            <a:off x="3931920" y="1563624"/>
            <a:ext cx="1737360" cy="384048"/>
          </a:xfrm>
          <a:prstGeom prst="rect">
            <a:avLst/>
          </a:prstGeom>
          <a:noFill/>
          <a:ln/>
        </p:spPr>
        <p:txBody>
          <a:bodyPr wrap="square" lIns="0" tIns="0" rIns="0" bIns="0" rtlCol="0" anchor="t"/>
          <a:lstStyle/>
          <a:p>
            <a:pPr indent="0" marL="0">
              <a:buNone/>
            </a:pPr>
            <a:r>
              <a:rPr lang="en-US" sz="900" dirty="0">
                <a:solidFill>
                  <a:srgbClr val="5A6B7D"/>
                </a:solidFill>
                <a:latin typeface="Calibri" pitchFamily="34" charset="0"/>
                <a:ea typeface="Calibri" pitchFamily="34" charset="-122"/>
                <a:cs typeface="Calibri" pitchFamily="34" charset="-120"/>
              </a:rPr>
              <a:t>microk8s · NBI :8080</a:t>
            </a:r>
            <a:endParaRPr lang="en-US" sz="900" dirty="0"/>
          </a:p>
          <a:p>
            <a:pPr indent="0" marL="0">
              <a:buNone/>
            </a:pPr>
            <a:r>
              <a:rPr lang="en-US" sz="900" dirty="0">
                <a:solidFill>
                  <a:srgbClr val="5A6B7D"/>
                </a:solidFill>
                <a:latin typeface="Calibri" pitchFamily="34" charset="0"/>
                <a:ea typeface="Calibri" pitchFamily="34" charset="-122"/>
                <a:cs typeface="Calibri" pitchFamily="34" charset="-120"/>
              </a:rPr>
              <a:t>clients use localhost:8088</a:t>
            </a:r>
            <a:endParaRPr lang="en-US" sz="900" dirty="0"/>
          </a:p>
        </p:txBody>
      </p:sp>
      <p:sp>
        <p:nvSpPr>
          <p:cNvPr id="16" name="Shape 12"/>
          <p:cNvSpPr/>
          <p:nvPr/>
        </p:nvSpPr>
        <p:spPr>
          <a:xfrm>
            <a:off x="4782312" y="1993392"/>
            <a:ext cx="868680" cy="201168"/>
          </a:xfrm>
          <a:prstGeom prst="roundRect">
            <a:avLst>
              <a:gd name="adj" fmla="val 50000"/>
            </a:avLst>
          </a:prstGeom>
          <a:solidFill>
            <a:srgbClr val="22A06B"/>
          </a:solidFill>
          <a:ln w="12700">
            <a:solidFill>
              <a:srgbClr val="22A06B"/>
            </a:solidFill>
            <a:prstDash val="solid"/>
          </a:ln>
        </p:spPr>
      </p:sp>
      <p:sp>
        <p:nvSpPr>
          <p:cNvPr id="17" name="Text 13"/>
          <p:cNvSpPr txBox="1"/>
          <p:nvPr/>
        </p:nvSpPr>
        <p:spPr>
          <a:xfrm>
            <a:off x="4782312" y="1993392"/>
            <a:ext cx="868680" cy="201168"/>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Arial" pitchFamily="34" charset="0"/>
                <a:ea typeface="Arial" pitchFamily="34" charset="-122"/>
                <a:cs typeface="Arial" pitchFamily="34" charset="-120"/>
              </a:rPr>
              <a:t>IMPLEMENTED</a:t>
            </a:r>
            <a:endParaRPr lang="en-US" sz="700" dirty="0"/>
          </a:p>
        </p:txBody>
      </p:sp>
      <p:sp>
        <p:nvSpPr>
          <p:cNvPr id="18" name="Shape 14"/>
          <p:cNvSpPr/>
          <p:nvPr/>
        </p:nvSpPr>
        <p:spPr>
          <a:xfrm>
            <a:off x="6309360" y="1234440"/>
            <a:ext cx="2377440" cy="1051560"/>
          </a:xfrm>
          <a:prstGeom prst="roundRect">
            <a:avLst>
              <a:gd name="adj" fmla="val 6957"/>
            </a:avLst>
          </a:prstGeom>
          <a:solidFill>
            <a:srgbClr val="FFFFFF"/>
          </a:solidFill>
          <a:ln w="19050">
            <a:solidFill>
              <a:srgbClr val="22A06B"/>
            </a:solidFill>
            <a:prstDash val="solid"/>
          </a:ln>
          <a:effectLst>
            <a:outerShdw sx="100000" sy="100000" kx="0" ky="0" algn="bl" rotWithShape="0" blurRad="50800" dist="12700" dir="5400000">
              <a:srgbClr val="000000">
                <a:alpha val="12000"/>
              </a:srgbClr>
            </a:outerShdw>
          </a:effectLst>
        </p:spPr>
      </p:sp>
      <p:sp>
        <p:nvSpPr>
          <p:cNvPr id="19" name="Shape 15"/>
          <p:cNvSpPr/>
          <p:nvPr/>
        </p:nvSpPr>
        <p:spPr>
          <a:xfrm>
            <a:off x="6419088" y="1362456"/>
            <a:ext cx="365760" cy="365760"/>
          </a:xfrm>
          <a:prstGeom prst="ellipse">
            <a:avLst/>
          </a:prstGeom>
          <a:solidFill>
            <a:srgbClr val="22A06B"/>
          </a:solidFill>
          <a:ln w="12700">
            <a:solidFill>
              <a:srgbClr val="22A06B"/>
            </a:solidFill>
            <a:prstDash val="solid"/>
          </a:ln>
        </p:spPr>
      </p:sp>
      <p:pic>
        <p:nvPicPr>
          <p:cNvPr id="20" name="Image 2" descr="preencoded.png">    </p:cNvPr>
          <p:cNvPicPr>
            <a:picLocks noChangeAspect="1"/>
          </p:cNvPicPr>
          <p:nvPr/>
        </p:nvPicPr>
        <p:blipFill>
          <a:blip r:embed="rId3"/>
          <a:stretch>
            <a:fillRect/>
          </a:stretch>
        </p:blipFill>
        <p:spPr>
          <a:xfrm>
            <a:off x="6510528" y="1453896"/>
            <a:ext cx="182880" cy="182880"/>
          </a:xfrm>
          <a:prstGeom prst="rect">
            <a:avLst/>
          </a:prstGeom>
        </p:spPr>
      </p:pic>
      <p:sp>
        <p:nvSpPr>
          <p:cNvPr id="21" name="Text 16"/>
          <p:cNvSpPr txBox="1"/>
          <p:nvPr/>
        </p:nvSpPr>
        <p:spPr>
          <a:xfrm>
            <a:off x="6858000" y="1325880"/>
            <a:ext cx="1737360" cy="237744"/>
          </a:xfrm>
          <a:prstGeom prst="rect">
            <a:avLst/>
          </a:prstGeom>
          <a:noFill/>
          <a:ln/>
        </p:spPr>
        <p:txBody>
          <a:bodyPr wrap="square" lIns="0" tIns="0" rIns="0" bIns="0" rtlCol="0" anchor="t"/>
          <a:lstStyle/>
          <a:p>
            <a:pPr indent="0" marL="0">
              <a:buNone/>
            </a:pPr>
            <a:r>
              <a:rPr lang="en-US" sz="1100" b="1" dirty="0">
                <a:solidFill>
                  <a:srgbClr val="1A2B3C"/>
                </a:solidFill>
                <a:latin typeface="Arial" pitchFamily="34" charset="0"/>
                <a:ea typeface="Arial" pitchFamily="34" charset="-122"/>
                <a:cs typeface="Arial" pitchFamily="34" charset="-120"/>
              </a:rPr>
              <a:t>Ceragon MH-T261</a:t>
            </a:r>
            <a:endParaRPr lang="en-US" sz="1100" dirty="0"/>
          </a:p>
        </p:txBody>
      </p:sp>
      <p:sp>
        <p:nvSpPr>
          <p:cNvPr id="22" name="Text 17"/>
          <p:cNvSpPr txBox="1"/>
          <p:nvPr/>
        </p:nvSpPr>
        <p:spPr>
          <a:xfrm>
            <a:off x="6858000" y="1563624"/>
            <a:ext cx="1737360" cy="384048"/>
          </a:xfrm>
          <a:prstGeom prst="rect">
            <a:avLst/>
          </a:prstGeom>
          <a:noFill/>
          <a:ln/>
        </p:spPr>
        <p:txBody>
          <a:bodyPr wrap="square" lIns="0" tIns="0" rIns="0" bIns="0" rtlCol="0" anchor="t"/>
          <a:lstStyle/>
          <a:p>
            <a:pPr indent="0" marL="0">
              <a:buNone/>
            </a:pPr>
            <a:r>
              <a:rPr lang="en-US" sz="900" dirty="0">
                <a:solidFill>
                  <a:srgbClr val="5A6B7D"/>
                </a:solidFill>
                <a:latin typeface="Calibri" pitchFamily="34" charset="0"/>
                <a:ea typeface="Calibri" pitchFamily="34" charset="-122"/>
                <a:cs typeface="Calibri" pitchFamily="34" charset="-120"/>
              </a:rPr>
              <a:t>192.168.1.225 · RESTCONF</a:t>
            </a:r>
            <a:endParaRPr lang="en-US" sz="900" dirty="0"/>
          </a:p>
          <a:p>
            <a:pPr indent="0" marL="0">
              <a:buNone/>
            </a:pPr>
            <a:r>
              <a:rPr lang="en-US" sz="900" dirty="0">
                <a:solidFill>
                  <a:srgbClr val="5A6B7D"/>
                </a:solidFill>
                <a:latin typeface="Calibri" pitchFamily="34" charset="0"/>
                <a:ea typeface="Calibri" pitchFamily="34" charset="-122"/>
                <a:cs typeface="Calibri" pitchFamily="34" charset="-120"/>
              </a:rPr>
              <a:t>device ctu-96</a:t>
            </a:r>
            <a:endParaRPr lang="en-US" sz="900" dirty="0"/>
          </a:p>
        </p:txBody>
      </p:sp>
      <p:sp>
        <p:nvSpPr>
          <p:cNvPr id="23" name="Shape 18"/>
          <p:cNvSpPr/>
          <p:nvPr/>
        </p:nvSpPr>
        <p:spPr>
          <a:xfrm>
            <a:off x="7708392" y="1993392"/>
            <a:ext cx="868680" cy="201168"/>
          </a:xfrm>
          <a:prstGeom prst="roundRect">
            <a:avLst>
              <a:gd name="adj" fmla="val 50000"/>
            </a:avLst>
          </a:prstGeom>
          <a:solidFill>
            <a:srgbClr val="22A06B"/>
          </a:solidFill>
          <a:ln w="12700">
            <a:solidFill>
              <a:srgbClr val="22A06B"/>
            </a:solidFill>
            <a:prstDash val="solid"/>
          </a:ln>
        </p:spPr>
      </p:sp>
      <p:sp>
        <p:nvSpPr>
          <p:cNvPr id="24" name="Text 19"/>
          <p:cNvSpPr txBox="1"/>
          <p:nvPr/>
        </p:nvSpPr>
        <p:spPr>
          <a:xfrm>
            <a:off x="7708392" y="1993392"/>
            <a:ext cx="868680" cy="201168"/>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Arial" pitchFamily="34" charset="0"/>
                <a:ea typeface="Arial" pitchFamily="34" charset="-122"/>
                <a:cs typeface="Arial" pitchFamily="34" charset="-120"/>
              </a:rPr>
              <a:t>IMPLEMENTED</a:t>
            </a:r>
            <a:endParaRPr lang="en-US" sz="700" dirty="0"/>
          </a:p>
        </p:txBody>
      </p:sp>
      <p:sp>
        <p:nvSpPr>
          <p:cNvPr id="25" name="Shape 20"/>
          <p:cNvSpPr/>
          <p:nvPr/>
        </p:nvSpPr>
        <p:spPr>
          <a:xfrm>
            <a:off x="457200" y="3063240"/>
            <a:ext cx="2377440" cy="1051560"/>
          </a:xfrm>
          <a:prstGeom prst="roundRect">
            <a:avLst>
              <a:gd name="adj" fmla="val 6957"/>
            </a:avLst>
          </a:prstGeom>
          <a:solidFill>
            <a:srgbClr val="FFFFFF"/>
          </a:solidFill>
          <a:ln w="19050">
            <a:solidFill>
              <a:srgbClr val="E8912D"/>
            </a:solidFill>
            <a:prstDash val="solid"/>
          </a:ln>
          <a:effectLst>
            <a:outerShdw sx="100000" sy="100000" kx="0" ky="0" algn="bl" rotWithShape="0" blurRad="50800" dist="12700" dir="5400000">
              <a:srgbClr val="000000">
                <a:alpha val="12000"/>
              </a:srgbClr>
            </a:outerShdw>
          </a:effectLst>
        </p:spPr>
      </p:sp>
      <p:sp>
        <p:nvSpPr>
          <p:cNvPr id="26" name="Shape 21"/>
          <p:cNvSpPr/>
          <p:nvPr/>
        </p:nvSpPr>
        <p:spPr>
          <a:xfrm>
            <a:off x="566928" y="3191256"/>
            <a:ext cx="365760" cy="365760"/>
          </a:xfrm>
          <a:prstGeom prst="ellipse">
            <a:avLst/>
          </a:prstGeom>
          <a:solidFill>
            <a:srgbClr val="E8912D"/>
          </a:solidFill>
          <a:ln w="12700">
            <a:solidFill>
              <a:srgbClr val="E8912D"/>
            </a:solidFill>
            <a:prstDash val="solid"/>
          </a:ln>
        </p:spPr>
      </p:sp>
      <p:pic>
        <p:nvPicPr>
          <p:cNvPr id="27" name="Image 3" descr="preencoded.png">    </p:cNvPr>
          <p:cNvPicPr>
            <a:picLocks noChangeAspect="1"/>
          </p:cNvPicPr>
          <p:nvPr/>
        </p:nvPicPr>
        <p:blipFill>
          <a:blip r:embed="rId4"/>
          <a:stretch>
            <a:fillRect/>
          </a:stretch>
        </p:blipFill>
        <p:spPr>
          <a:xfrm>
            <a:off x="658368" y="3282696"/>
            <a:ext cx="182880" cy="182880"/>
          </a:xfrm>
          <a:prstGeom prst="rect">
            <a:avLst/>
          </a:prstGeom>
        </p:spPr>
      </p:pic>
      <p:sp>
        <p:nvSpPr>
          <p:cNvPr id="28" name="Text 22"/>
          <p:cNvSpPr txBox="1"/>
          <p:nvPr/>
        </p:nvSpPr>
        <p:spPr>
          <a:xfrm>
            <a:off x="1005840" y="3154680"/>
            <a:ext cx="1737360" cy="237744"/>
          </a:xfrm>
          <a:prstGeom prst="rect">
            <a:avLst/>
          </a:prstGeom>
          <a:noFill/>
          <a:ln/>
        </p:spPr>
        <p:txBody>
          <a:bodyPr wrap="square" lIns="0" tIns="0" rIns="0" bIns="0" rtlCol="0" anchor="t"/>
          <a:lstStyle/>
          <a:p>
            <a:pPr indent="0" marL="0">
              <a:buNone/>
            </a:pPr>
            <a:r>
              <a:rPr lang="en-US" sz="1100" b="1" dirty="0">
                <a:solidFill>
                  <a:srgbClr val="1A2B3C"/>
                </a:solidFill>
                <a:latin typeface="Arial" pitchFamily="34" charset="0"/>
                <a:ea typeface="Arial" pitchFamily="34" charset="-122"/>
                <a:cs typeface="Arial" pitchFamily="34" charset="-120"/>
              </a:rPr>
              <a:t>ns-3.45 on cersrv-029</a:t>
            </a:r>
            <a:endParaRPr lang="en-US" sz="1100" dirty="0"/>
          </a:p>
        </p:txBody>
      </p:sp>
      <p:sp>
        <p:nvSpPr>
          <p:cNvPr id="29" name="Text 23"/>
          <p:cNvSpPr txBox="1"/>
          <p:nvPr/>
        </p:nvSpPr>
        <p:spPr>
          <a:xfrm>
            <a:off x="1005840" y="3392424"/>
            <a:ext cx="1737360" cy="384048"/>
          </a:xfrm>
          <a:prstGeom prst="rect">
            <a:avLst/>
          </a:prstGeom>
          <a:noFill/>
          <a:ln/>
        </p:spPr>
        <p:txBody>
          <a:bodyPr wrap="square" lIns="0" tIns="0" rIns="0" bIns="0" rtlCol="0" anchor="t"/>
          <a:lstStyle/>
          <a:p>
            <a:pPr indent="0" marL="0">
              <a:buNone/>
            </a:pPr>
            <a:r>
              <a:rPr lang="en-US" sz="900" dirty="0">
                <a:solidFill>
                  <a:srgbClr val="5A6B7D"/>
                </a:solidFill>
                <a:latin typeface="Calibri" pitchFamily="34" charset="0"/>
                <a:ea typeface="Calibri" pitchFamily="34" charset="-122"/>
                <a:cs typeface="Calibri" pitchFamily="34" charset="-120"/>
              </a:rPr>
              <a:t>tsn_wifi_ceragon scenario</a:t>
            </a:r>
            <a:endParaRPr lang="en-US" sz="900" dirty="0"/>
          </a:p>
          <a:p>
            <a:pPr indent="0" marL="0">
              <a:buNone/>
            </a:pPr>
            <a:r>
              <a:rPr lang="en-US" sz="900" dirty="0">
                <a:solidFill>
                  <a:srgbClr val="5A6B7D"/>
                </a:solidFill>
                <a:latin typeface="Calibri" pitchFamily="34" charset="0"/>
                <a:ea typeface="Calibri" pitchFamily="34" charset="-122"/>
                <a:cs typeface="Calibri" pitchFamily="34" charset="-120"/>
              </a:rPr>
              <a:t>SSH + JSON markers</a:t>
            </a:r>
            <a:endParaRPr lang="en-US" sz="900" dirty="0"/>
          </a:p>
        </p:txBody>
      </p:sp>
      <p:sp>
        <p:nvSpPr>
          <p:cNvPr id="30" name="Shape 24"/>
          <p:cNvSpPr/>
          <p:nvPr/>
        </p:nvSpPr>
        <p:spPr>
          <a:xfrm>
            <a:off x="1856232" y="3822192"/>
            <a:ext cx="868680" cy="201168"/>
          </a:xfrm>
          <a:prstGeom prst="roundRect">
            <a:avLst>
              <a:gd name="adj" fmla="val 50000"/>
            </a:avLst>
          </a:prstGeom>
          <a:solidFill>
            <a:srgbClr val="E8912D"/>
          </a:solidFill>
          <a:ln w="12700">
            <a:solidFill>
              <a:srgbClr val="E8912D"/>
            </a:solidFill>
            <a:prstDash val="solid"/>
          </a:ln>
        </p:spPr>
      </p:sp>
      <p:sp>
        <p:nvSpPr>
          <p:cNvPr id="31" name="Text 25"/>
          <p:cNvSpPr txBox="1"/>
          <p:nvPr/>
        </p:nvSpPr>
        <p:spPr>
          <a:xfrm>
            <a:off x="1856232" y="3822192"/>
            <a:ext cx="868680" cy="201168"/>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Arial" pitchFamily="34" charset="0"/>
                <a:ea typeface="Arial" pitchFamily="34" charset="-122"/>
                <a:cs typeface="Arial" pitchFamily="34" charset="-120"/>
              </a:rPr>
              <a:t>PARTIAL</a:t>
            </a:r>
            <a:endParaRPr lang="en-US" sz="700" dirty="0"/>
          </a:p>
        </p:txBody>
      </p:sp>
      <p:sp>
        <p:nvSpPr>
          <p:cNvPr id="32" name="Shape 26"/>
          <p:cNvSpPr/>
          <p:nvPr/>
        </p:nvSpPr>
        <p:spPr>
          <a:xfrm>
            <a:off x="3383280" y="3063240"/>
            <a:ext cx="2377440" cy="1051560"/>
          </a:xfrm>
          <a:prstGeom prst="roundRect">
            <a:avLst>
              <a:gd name="adj" fmla="val 6957"/>
            </a:avLst>
          </a:prstGeom>
          <a:solidFill>
            <a:srgbClr val="FFFFFF"/>
          </a:solidFill>
          <a:ln w="19050">
            <a:solidFill>
              <a:srgbClr val="14304F"/>
            </a:solidFill>
            <a:prstDash val="solid"/>
          </a:ln>
          <a:effectLst>
            <a:outerShdw sx="100000" sy="100000" kx="0" ky="0" algn="bl" rotWithShape="0" blurRad="50800" dist="12700" dir="5400000">
              <a:srgbClr val="000000">
                <a:alpha val="12000"/>
              </a:srgbClr>
            </a:outerShdw>
          </a:effectLst>
        </p:spPr>
      </p:sp>
      <p:sp>
        <p:nvSpPr>
          <p:cNvPr id="33" name="Shape 27"/>
          <p:cNvSpPr/>
          <p:nvPr/>
        </p:nvSpPr>
        <p:spPr>
          <a:xfrm>
            <a:off x="3493008" y="3191256"/>
            <a:ext cx="365760" cy="365760"/>
          </a:xfrm>
          <a:prstGeom prst="ellipse">
            <a:avLst/>
          </a:prstGeom>
          <a:solidFill>
            <a:srgbClr val="14304F"/>
          </a:solidFill>
          <a:ln w="12700">
            <a:solidFill>
              <a:srgbClr val="14304F"/>
            </a:solidFill>
            <a:prstDash val="solid"/>
          </a:ln>
        </p:spPr>
      </p:sp>
      <p:pic>
        <p:nvPicPr>
          <p:cNvPr id="34" name="Image 4" descr="preencoded.png">    </p:cNvPr>
          <p:cNvPicPr>
            <a:picLocks noChangeAspect="1"/>
          </p:cNvPicPr>
          <p:nvPr/>
        </p:nvPicPr>
        <p:blipFill>
          <a:blip r:embed="rId5"/>
          <a:stretch>
            <a:fillRect/>
          </a:stretch>
        </p:blipFill>
        <p:spPr>
          <a:xfrm>
            <a:off x="3584448" y="3282696"/>
            <a:ext cx="182880" cy="182880"/>
          </a:xfrm>
          <a:prstGeom prst="rect">
            <a:avLst/>
          </a:prstGeom>
        </p:spPr>
      </p:pic>
      <p:sp>
        <p:nvSpPr>
          <p:cNvPr id="35" name="Text 28"/>
          <p:cNvSpPr txBox="1"/>
          <p:nvPr/>
        </p:nvSpPr>
        <p:spPr>
          <a:xfrm>
            <a:off x="3931920" y="3154680"/>
            <a:ext cx="1737360" cy="237744"/>
          </a:xfrm>
          <a:prstGeom prst="rect">
            <a:avLst/>
          </a:prstGeom>
          <a:noFill/>
          <a:ln/>
        </p:spPr>
        <p:txBody>
          <a:bodyPr wrap="square" lIns="0" tIns="0" rIns="0" bIns="0" rtlCol="0" anchor="t"/>
          <a:lstStyle/>
          <a:p>
            <a:pPr indent="0" marL="0">
              <a:buNone/>
            </a:pPr>
            <a:r>
              <a:rPr lang="en-US" sz="1100" b="1" dirty="0">
                <a:solidFill>
                  <a:srgbClr val="1A2B3C"/>
                </a:solidFill>
                <a:latin typeface="Arial" pitchFamily="34" charset="0"/>
                <a:ea typeface="Arial" pitchFamily="34" charset="-122"/>
                <a:cs typeface="Arial" pitchFamily="34" charset="-120"/>
              </a:rPr>
              <a:t>Twin API + bridge</a:t>
            </a:r>
            <a:endParaRPr lang="en-US" sz="1100" dirty="0"/>
          </a:p>
        </p:txBody>
      </p:sp>
      <p:sp>
        <p:nvSpPr>
          <p:cNvPr id="36" name="Text 29"/>
          <p:cNvSpPr txBox="1"/>
          <p:nvPr/>
        </p:nvSpPr>
        <p:spPr>
          <a:xfrm>
            <a:off x="3931920" y="3392424"/>
            <a:ext cx="1737360" cy="384048"/>
          </a:xfrm>
          <a:prstGeom prst="rect">
            <a:avLst/>
          </a:prstGeom>
          <a:noFill/>
          <a:ln/>
        </p:spPr>
        <p:txBody>
          <a:bodyPr wrap="square" lIns="0" tIns="0" rIns="0" bIns="0" rtlCol="0" anchor="t"/>
          <a:lstStyle/>
          <a:p>
            <a:pPr indent="0" marL="0">
              <a:buNone/>
            </a:pPr>
            <a:r>
              <a:rPr lang="en-US" sz="900" dirty="0">
                <a:solidFill>
                  <a:srgbClr val="5A6B7D"/>
                </a:solidFill>
                <a:latin typeface="Calibri" pitchFamily="34" charset="0"/>
                <a:ea typeface="Calibri" pitchFamily="34" charset="-122"/>
                <a:cs typeface="Calibri" pitchFamily="34" charset="-120"/>
              </a:rPr>
              <a:t>:9100 what-if = formulas</a:t>
            </a:r>
            <a:endParaRPr lang="en-US" sz="900" dirty="0"/>
          </a:p>
          <a:p>
            <a:pPr indent="0" marL="0">
              <a:buNone/>
            </a:pPr>
            <a:r>
              <a:rPr lang="en-US" sz="900" dirty="0">
                <a:solidFill>
                  <a:srgbClr val="5A6B7D"/>
                </a:solidFill>
                <a:latin typeface="Calibri" pitchFamily="34" charset="0"/>
                <a:ea typeface="Calibri" pitchFamily="34" charset="-122"/>
                <a:cs typeface="Calibri" pitchFamily="34" charset="-120"/>
              </a:rPr>
              <a:t>:9099 bridge output unused</a:t>
            </a:r>
            <a:endParaRPr lang="en-US" sz="900" dirty="0"/>
          </a:p>
        </p:txBody>
      </p:sp>
      <p:sp>
        <p:nvSpPr>
          <p:cNvPr id="37" name="Shape 30"/>
          <p:cNvSpPr/>
          <p:nvPr/>
        </p:nvSpPr>
        <p:spPr>
          <a:xfrm>
            <a:off x="4782312" y="3822192"/>
            <a:ext cx="868680" cy="201168"/>
          </a:xfrm>
          <a:prstGeom prst="roundRect">
            <a:avLst>
              <a:gd name="adj" fmla="val 50000"/>
            </a:avLst>
          </a:prstGeom>
          <a:solidFill>
            <a:srgbClr val="D64545"/>
          </a:solidFill>
          <a:ln w="12700">
            <a:solidFill>
              <a:srgbClr val="D64545"/>
            </a:solidFill>
            <a:prstDash val="solid"/>
          </a:ln>
        </p:spPr>
      </p:sp>
      <p:sp>
        <p:nvSpPr>
          <p:cNvPr id="38" name="Text 31"/>
          <p:cNvSpPr txBox="1"/>
          <p:nvPr/>
        </p:nvSpPr>
        <p:spPr>
          <a:xfrm>
            <a:off x="4782312" y="3822192"/>
            <a:ext cx="868680" cy="201168"/>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Arial" pitchFamily="34" charset="0"/>
                <a:ea typeface="Arial" pitchFamily="34" charset="-122"/>
                <a:cs typeface="Arial" pitchFamily="34" charset="-120"/>
              </a:rPr>
              <a:t>MOCK</a:t>
            </a:r>
            <a:endParaRPr lang="en-US" sz="700" dirty="0"/>
          </a:p>
        </p:txBody>
      </p:sp>
      <p:sp>
        <p:nvSpPr>
          <p:cNvPr id="39" name="Shape 32"/>
          <p:cNvSpPr/>
          <p:nvPr/>
        </p:nvSpPr>
        <p:spPr>
          <a:xfrm>
            <a:off x="2834640" y="1645920"/>
            <a:ext cx="548640" cy="0"/>
          </a:xfrm>
          <a:prstGeom prst="line">
            <a:avLst/>
          </a:prstGeom>
          <a:noFill/>
          <a:ln w="22225">
            <a:solidFill>
              <a:srgbClr val="0B1D33"/>
            </a:solidFill>
            <a:prstDash val="solid"/>
            <a:headEnd type="none"/>
            <a:tailEnd type="triangle"/>
          </a:ln>
        </p:spPr>
      </p:sp>
      <p:sp>
        <p:nvSpPr>
          <p:cNvPr id="40" name="Text 33"/>
          <p:cNvSpPr txBox="1"/>
          <p:nvPr/>
        </p:nvSpPr>
        <p:spPr>
          <a:xfrm>
            <a:off x="2697480" y="1417320"/>
            <a:ext cx="822960" cy="182880"/>
          </a:xfrm>
          <a:prstGeom prst="rect">
            <a:avLst/>
          </a:prstGeom>
          <a:noFill/>
          <a:ln/>
        </p:spPr>
        <p:txBody>
          <a:bodyPr wrap="square" lIns="0" tIns="0" rIns="0" bIns="0" rtlCol="0" anchor="t"/>
          <a:lstStyle/>
          <a:p>
            <a:pPr algn="ctr" indent="0" marL="0">
              <a:buNone/>
            </a:pPr>
            <a:r>
              <a:rPr lang="en-US" sz="850" b="1" dirty="0">
                <a:solidFill>
                  <a:srgbClr val="0B1D33"/>
                </a:solidFill>
                <a:latin typeface="Calibri" pitchFamily="34" charset="0"/>
                <a:ea typeface="Calibri" pitchFamily="34" charset="-122"/>
                <a:cs typeface="Calibri" pitchFamily="34" charset="-120"/>
              </a:rPr>
              <a:t>PUT device</a:t>
            </a:r>
            <a:endParaRPr lang="en-US" sz="850" dirty="0"/>
          </a:p>
        </p:txBody>
      </p:sp>
      <p:sp>
        <p:nvSpPr>
          <p:cNvPr id="41" name="Shape 34"/>
          <p:cNvSpPr/>
          <p:nvPr/>
        </p:nvSpPr>
        <p:spPr>
          <a:xfrm>
            <a:off x="5760720" y="1645920"/>
            <a:ext cx="548640" cy="0"/>
          </a:xfrm>
          <a:prstGeom prst="line">
            <a:avLst/>
          </a:prstGeom>
          <a:noFill/>
          <a:ln w="22225">
            <a:solidFill>
              <a:srgbClr val="0B1D33"/>
            </a:solidFill>
            <a:prstDash val="solid"/>
            <a:headEnd type="none"/>
            <a:tailEnd type="triangle"/>
          </a:ln>
        </p:spPr>
      </p:sp>
      <p:sp>
        <p:nvSpPr>
          <p:cNvPr id="42" name="Text 35"/>
          <p:cNvSpPr txBox="1"/>
          <p:nvPr/>
        </p:nvSpPr>
        <p:spPr>
          <a:xfrm>
            <a:off x="5623560" y="1417320"/>
            <a:ext cx="822960" cy="182880"/>
          </a:xfrm>
          <a:prstGeom prst="rect">
            <a:avLst/>
          </a:prstGeom>
          <a:noFill/>
          <a:ln/>
        </p:spPr>
        <p:txBody>
          <a:bodyPr wrap="square" lIns="0" tIns="0" rIns="0" bIns="0" rtlCol="0" anchor="t"/>
          <a:lstStyle/>
          <a:p>
            <a:pPr algn="ctr" indent="0" marL="0">
              <a:buNone/>
            </a:pPr>
            <a:r>
              <a:rPr lang="en-US" sz="850" b="1" dirty="0">
                <a:solidFill>
                  <a:srgbClr val="0B1D33"/>
                </a:solidFill>
                <a:latin typeface="Calibri" pitchFamily="34" charset="0"/>
                <a:ea typeface="Calibri" pitchFamily="34" charset="-122"/>
                <a:cs typeface="Calibri" pitchFamily="34" charset="-120"/>
              </a:rPr>
              <a:t>driver 22</a:t>
            </a:r>
            <a:endParaRPr lang="en-US" sz="850" dirty="0"/>
          </a:p>
        </p:txBody>
      </p:sp>
      <p:sp>
        <p:nvSpPr>
          <p:cNvPr id="43" name="Shape 36"/>
          <p:cNvSpPr/>
          <p:nvPr/>
        </p:nvSpPr>
        <p:spPr>
          <a:xfrm>
            <a:off x="1645920" y="2286000"/>
            <a:ext cx="0" cy="320040"/>
          </a:xfrm>
          <a:prstGeom prst="line">
            <a:avLst/>
          </a:prstGeom>
          <a:noFill/>
          <a:ln w="15875">
            <a:solidFill>
              <a:srgbClr val="D64545"/>
            </a:solidFill>
            <a:prstDash val="dash"/>
          </a:ln>
        </p:spPr>
      </p:sp>
      <p:sp>
        <p:nvSpPr>
          <p:cNvPr id="44" name="Shape 37"/>
          <p:cNvSpPr/>
          <p:nvPr/>
        </p:nvSpPr>
        <p:spPr>
          <a:xfrm>
            <a:off x="1645920" y="2606040"/>
            <a:ext cx="5852160" cy="0"/>
          </a:xfrm>
          <a:prstGeom prst="line">
            <a:avLst/>
          </a:prstGeom>
          <a:noFill/>
          <a:ln w="15875">
            <a:solidFill>
              <a:srgbClr val="D64545"/>
            </a:solidFill>
            <a:prstDash val="dash"/>
          </a:ln>
        </p:spPr>
      </p:sp>
      <p:sp>
        <p:nvSpPr>
          <p:cNvPr id="45" name="Shape 38"/>
          <p:cNvSpPr/>
          <p:nvPr/>
        </p:nvSpPr>
        <p:spPr>
          <a:xfrm flipV="1">
            <a:off x="7498080" y="2286000"/>
            <a:ext cx="0" cy="320040"/>
          </a:xfrm>
          <a:prstGeom prst="line">
            <a:avLst/>
          </a:prstGeom>
          <a:noFill/>
          <a:ln w="22225">
            <a:solidFill>
              <a:srgbClr val="D64545"/>
            </a:solidFill>
            <a:prstDash val="dash"/>
            <a:headEnd type="none"/>
            <a:tailEnd type="triangle"/>
          </a:ln>
        </p:spPr>
      </p:sp>
      <p:sp>
        <p:nvSpPr>
          <p:cNvPr id="46" name="Text 39"/>
          <p:cNvSpPr txBox="1"/>
          <p:nvPr/>
        </p:nvSpPr>
        <p:spPr>
          <a:xfrm>
            <a:off x="3931920" y="2651760"/>
            <a:ext cx="3474720" cy="182880"/>
          </a:xfrm>
          <a:prstGeom prst="rect">
            <a:avLst/>
          </a:prstGeom>
          <a:noFill/>
          <a:ln/>
        </p:spPr>
        <p:txBody>
          <a:bodyPr wrap="square" lIns="0" tIns="0" rIns="0" bIns="0" rtlCol="0" anchor="t"/>
          <a:lstStyle/>
          <a:p>
            <a:pPr algn="ctr" indent="0" marL="0">
              <a:buNone/>
            </a:pPr>
            <a:r>
              <a:rPr lang="en-US" sz="850" i="1" dirty="0">
                <a:solidFill>
                  <a:srgbClr val="D64545"/>
                </a:solidFill>
                <a:latin typeface="Calibri" pitchFamily="34" charset="0"/>
                <a:ea typeface="Calibri" pitchFamily="34" charset="-122"/>
                <a:cs typeface="Calibri" pitchFamily="34" charset="-120"/>
              </a:rPr>
              <a:t>direct GET of candidate datastore (health probe only)</a:t>
            </a:r>
            <a:endParaRPr lang="en-US" sz="850" dirty="0"/>
          </a:p>
        </p:txBody>
      </p:sp>
      <p:sp>
        <p:nvSpPr>
          <p:cNvPr id="47" name="Shape 40"/>
          <p:cNvSpPr/>
          <p:nvPr/>
        </p:nvSpPr>
        <p:spPr>
          <a:xfrm>
            <a:off x="1097280" y="2286000"/>
            <a:ext cx="0" cy="777240"/>
          </a:xfrm>
          <a:prstGeom prst="line">
            <a:avLst/>
          </a:prstGeom>
          <a:noFill/>
          <a:ln w="22225">
            <a:solidFill>
              <a:srgbClr val="E8912D"/>
            </a:solidFill>
            <a:prstDash val="solid"/>
            <a:headEnd type="none"/>
            <a:tailEnd type="triangle"/>
          </a:ln>
        </p:spPr>
      </p:sp>
      <p:sp>
        <p:nvSpPr>
          <p:cNvPr id="48" name="Text 41"/>
          <p:cNvSpPr txBox="1"/>
          <p:nvPr/>
        </p:nvSpPr>
        <p:spPr>
          <a:xfrm>
            <a:off x="182880" y="2715768"/>
            <a:ext cx="868680" cy="182880"/>
          </a:xfrm>
          <a:prstGeom prst="rect">
            <a:avLst/>
          </a:prstGeom>
          <a:noFill/>
          <a:ln/>
        </p:spPr>
        <p:txBody>
          <a:bodyPr wrap="square" lIns="0" tIns="0" rIns="0" bIns="0" rtlCol="0" anchor="t"/>
          <a:lstStyle/>
          <a:p>
            <a:pPr algn="ctr" indent="0" marL="0">
              <a:buNone/>
            </a:pPr>
            <a:r>
              <a:rPr lang="en-US" sz="850" b="1" dirty="0">
                <a:solidFill>
                  <a:srgbClr val="E8912D"/>
                </a:solidFill>
                <a:latin typeface="Calibri" pitchFamily="34" charset="0"/>
                <a:ea typeface="Calibri" pitchFamily="34" charset="-122"/>
                <a:cs typeface="Calibri" pitchFamily="34" charset="-120"/>
              </a:rPr>
              <a:t>SSH run</a:t>
            </a:r>
            <a:endParaRPr lang="en-US" sz="850" dirty="0"/>
          </a:p>
        </p:txBody>
      </p:sp>
      <p:sp>
        <p:nvSpPr>
          <p:cNvPr id="49" name="Shape 42"/>
          <p:cNvSpPr/>
          <p:nvPr/>
        </p:nvSpPr>
        <p:spPr>
          <a:xfrm flipV="1">
            <a:off x="4572000" y="2286000"/>
            <a:ext cx="0" cy="777240"/>
          </a:xfrm>
          <a:prstGeom prst="line">
            <a:avLst/>
          </a:prstGeom>
          <a:noFill/>
          <a:ln w="22225">
            <a:solidFill>
              <a:srgbClr val="5A6B7D"/>
            </a:solidFill>
            <a:prstDash val="dash"/>
            <a:headEnd type="none"/>
            <a:tailEnd type="triangle"/>
          </a:ln>
        </p:spPr>
      </p:sp>
      <p:sp>
        <p:nvSpPr>
          <p:cNvPr id="50" name="Text 43"/>
          <p:cNvSpPr txBox="1"/>
          <p:nvPr/>
        </p:nvSpPr>
        <p:spPr>
          <a:xfrm>
            <a:off x="4617720" y="2852928"/>
            <a:ext cx="914400" cy="182880"/>
          </a:xfrm>
          <a:prstGeom prst="rect">
            <a:avLst/>
          </a:prstGeom>
          <a:noFill/>
          <a:ln/>
        </p:spPr>
        <p:txBody>
          <a:bodyPr wrap="square" lIns="0" tIns="0" rIns="0" bIns="0" rtlCol="0" anchor="t"/>
          <a:lstStyle/>
          <a:p>
            <a:pPr algn="ctr" indent="0" marL="0">
              <a:buNone/>
            </a:pPr>
            <a:r>
              <a:rPr lang="en-US" sz="850" b="1" dirty="0">
                <a:solidFill>
                  <a:srgbClr val="5A6B7D"/>
                </a:solidFill>
                <a:latin typeface="Calibri" pitchFamily="34" charset="0"/>
                <a:ea typeface="Calibri" pitchFamily="34" charset="-122"/>
                <a:cs typeface="Calibri" pitchFamily="34" charset="-120"/>
              </a:rPr>
              <a:t>poll 1 s</a:t>
            </a:r>
            <a:endParaRPr lang="en-US" sz="850" dirty="0"/>
          </a:p>
        </p:txBody>
      </p:sp>
      <p:sp>
        <p:nvSpPr>
          <p:cNvPr id="51" name="Shape 44"/>
          <p:cNvSpPr/>
          <p:nvPr/>
        </p:nvSpPr>
        <p:spPr>
          <a:xfrm>
            <a:off x="6309360" y="3063240"/>
            <a:ext cx="2377440" cy="1051560"/>
          </a:xfrm>
          <a:prstGeom prst="roundRect">
            <a:avLst>
              <a:gd name="adj" fmla="val 6957"/>
            </a:avLst>
          </a:prstGeom>
          <a:solidFill>
            <a:srgbClr val="F2F5F8"/>
          </a:solidFill>
          <a:ln w="12700">
            <a:solidFill>
              <a:srgbClr val="F2F5F8"/>
            </a:solidFill>
            <a:prstDash val="solid"/>
          </a:ln>
        </p:spPr>
      </p:sp>
      <p:sp>
        <p:nvSpPr>
          <p:cNvPr id="52" name="Text 45"/>
          <p:cNvSpPr txBox="1"/>
          <p:nvPr/>
        </p:nvSpPr>
        <p:spPr>
          <a:xfrm>
            <a:off x="6446520" y="3154680"/>
            <a:ext cx="2103120" cy="868680"/>
          </a:xfrm>
          <a:prstGeom prst="rect">
            <a:avLst/>
          </a:prstGeom>
          <a:noFill/>
          <a:ln/>
        </p:spPr>
        <p:txBody>
          <a:bodyPr wrap="square" lIns="0" tIns="0" rIns="0" bIns="0" rtlCol="0" anchor="ctr"/>
          <a:lstStyle/>
          <a:p>
            <a:pPr indent="0" marL="0">
              <a:buNone/>
            </a:pPr>
            <a:r>
              <a:rPr lang="en-US" sz="1000" dirty="0">
                <a:solidFill>
                  <a:srgbClr val="1A2B3C"/>
                </a:solidFill>
                <a:latin typeface="Calibri" pitchFamily="34" charset="0"/>
                <a:ea typeface="Calibri" pitchFamily="34" charset="-122"/>
                <a:cs typeface="Calibri" pitchFamily="34" charset="-120"/>
              </a:rPr>
              <a:t>Only the solid arrows move real configuration. The twin API and bridge are not yet in the loop.</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000" b="1" spc="200" kern="0" dirty="0">
                <a:solidFill>
                  <a:srgbClr val="0FA3B1"/>
                </a:solidFill>
                <a:latin typeface="Arial" pitchFamily="34" charset="0"/>
                <a:ea typeface="Arial" pitchFamily="34" charset="-122"/>
                <a:cs typeface="Arial" pitchFamily="34" charset="-120"/>
              </a:rPr>
              <a:t>CODE MAP</a:t>
            </a:r>
            <a:endParaRPr lang="en-US" sz="10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400" b="1" dirty="0">
                <a:solidFill>
                  <a:srgbClr val="0B1D33"/>
                </a:solidFill>
                <a:latin typeface="Arial" pitchFamily="34" charset="0"/>
                <a:ea typeface="Arial" pitchFamily="34" charset="-122"/>
                <a:cs typeface="Arial" pitchFamily="34" charset="-120"/>
              </a:rPr>
              <a:t>Three repositories, one system</a:t>
            </a:r>
            <a:endParaRPr lang="en-US" sz="2400" dirty="0"/>
          </a:p>
        </p:txBody>
      </p:sp>
      <p:sp>
        <p:nvSpPr>
          <p:cNvPr id="4" name="Shape 2"/>
          <p:cNvSpPr/>
          <p:nvPr/>
        </p:nvSpPr>
        <p:spPr>
          <a:xfrm>
            <a:off x="457200" y="1234440"/>
            <a:ext cx="2651760" cy="3520440"/>
          </a:xfrm>
          <a:prstGeom prst="roundRect">
            <a:avLst>
              <a:gd name="adj" fmla="val 2759"/>
            </a:avLst>
          </a:prstGeom>
          <a:solidFill>
            <a:srgbClr val="F2F5F8"/>
          </a:solidFill>
          <a:ln w="12700">
            <a:solidFill>
              <a:srgbClr val="F2F5F8"/>
            </a:solidFill>
            <a:prstDash val="solid"/>
          </a:ln>
        </p:spPr>
      </p:sp>
      <p:sp>
        <p:nvSpPr>
          <p:cNvPr id="5" name="Shape 3"/>
          <p:cNvSpPr/>
          <p:nvPr/>
        </p:nvSpPr>
        <p:spPr>
          <a:xfrm>
            <a:off x="621792" y="1399032"/>
            <a:ext cx="457200" cy="457200"/>
          </a:xfrm>
          <a:prstGeom prst="ellipse">
            <a:avLst/>
          </a:prstGeom>
          <a:solidFill>
            <a:srgbClr val="7C5CFF"/>
          </a:solidFill>
          <a:ln w="12700">
            <a:solidFill>
              <a:srgbClr val="7C5CFF"/>
            </a:solidFill>
            <a:prstDash val="solid"/>
          </a:ln>
        </p:spPr>
      </p:sp>
      <p:pic>
        <p:nvPicPr>
          <p:cNvPr id="6" name="Image 0" descr="preencoded.png">    </p:cNvPr>
          <p:cNvPicPr>
            <a:picLocks noChangeAspect="1"/>
          </p:cNvPicPr>
          <p:nvPr/>
        </p:nvPicPr>
        <p:blipFill>
          <a:blip r:embed="rId1"/>
          <a:stretch>
            <a:fillRect/>
          </a:stretch>
        </p:blipFill>
        <p:spPr>
          <a:xfrm>
            <a:off x="736092" y="1513332"/>
            <a:ext cx="228600" cy="228600"/>
          </a:xfrm>
          <a:prstGeom prst="rect">
            <a:avLst/>
          </a:prstGeom>
        </p:spPr>
      </p:pic>
      <p:sp>
        <p:nvSpPr>
          <p:cNvPr id="7" name="Text 4"/>
          <p:cNvSpPr txBox="1"/>
          <p:nvPr/>
        </p:nvSpPr>
        <p:spPr>
          <a:xfrm>
            <a:off x="1188720" y="1399032"/>
            <a:ext cx="1828800" cy="256032"/>
          </a:xfrm>
          <a:prstGeom prst="rect">
            <a:avLst/>
          </a:prstGeom>
          <a:noFill/>
          <a:ln/>
        </p:spPr>
        <p:txBody>
          <a:bodyPr wrap="square" lIns="0" tIns="0" rIns="0" bIns="0" rtlCol="0" anchor="t"/>
          <a:lstStyle/>
          <a:p>
            <a:pPr indent="0" marL="0">
              <a:buNone/>
            </a:pPr>
            <a:r>
              <a:rPr lang="en-US" sz="1300" b="1" dirty="0">
                <a:solidFill>
                  <a:srgbClr val="0B1D33"/>
                </a:solidFill>
                <a:latin typeface="Arial" pitchFamily="34" charset="0"/>
                <a:ea typeface="Arial" pitchFamily="34" charset="-122"/>
                <a:cs typeface="Arial" pitchFamily="34" charset="-120"/>
              </a:rPr>
              <a:t>cer-intent</a:t>
            </a:r>
            <a:endParaRPr lang="en-US" sz="1300" dirty="0"/>
          </a:p>
        </p:txBody>
      </p:sp>
      <p:sp>
        <p:nvSpPr>
          <p:cNvPr id="8" name="Text 5"/>
          <p:cNvSpPr txBox="1"/>
          <p:nvPr/>
        </p:nvSpPr>
        <p:spPr>
          <a:xfrm>
            <a:off x="1188720" y="1655064"/>
            <a:ext cx="1828800" cy="329184"/>
          </a:xfrm>
          <a:prstGeom prst="rect">
            <a:avLst/>
          </a:prstGeom>
          <a:noFill/>
          <a:ln/>
        </p:spPr>
        <p:txBody>
          <a:bodyPr wrap="square" lIns="0" tIns="0" rIns="0" bIns="0" rtlCol="0" anchor="t"/>
          <a:lstStyle/>
          <a:p>
            <a:pPr indent="0" marL="0">
              <a:buNone/>
            </a:pPr>
            <a:r>
              <a:rPr lang="en-US" sz="900" dirty="0">
                <a:solidFill>
                  <a:srgbClr val="5A6B7D"/>
                </a:solidFill>
                <a:latin typeface="Calibri" pitchFamily="34" charset="0"/>
                <a:ea typeface="Calibri" pitchFamily="34" charset="-122"/>
                <a:cs typeface="Calibri" pitchFamily="34" charset="-120"/>
              </a:rPr>
              <a:t>45 Python files · 9.1k lines (core)</a:t>
            </a:r>
            <a:endParaRPr lang="en-US" sz="900" dirty="0"/>
          </a:p>
        </p:txBody>
      </p:sp>
      <p:pic>
        <p:nvPicPr>
          <p:cNvPr id="9" name="Image 1" descr="preencoded.png">    </p:cNvPr>
          <p:cNvPicPr>
            <a:picLocks noChangeAspect="1"/>
          </p:cNvPicPr>
          <p:nvPr/>
        </p:nvPicPr>
        <p:blipFill>
          <a:blip r:embed="rId2"/>
          <a:stretch>
            <a:fillRect/>
          </a:stretch>
        </p:blipFill>
        <p:spPr>
          <a:xfrm>
            <a:off x="658368" y="2203704"/>
            <a:ext cx="146304" cy="146304"/>
          </a:xfrm>
          <a:prstGeom prst="rect">
            <a:avLst/>
          </a:prstGeom>
        </p:spPr>
      </p:pic>
      <p:sp>
        <p:nvSpPr>
          <p:cNvPr id="10" name="Text 6"/>
          <p:cNvSpPr txBox="1"/>
          <p:nvPr/>
        </p:nvSpPr>
        <p:spPr>
          <a:xfrm>
            <a:off x="896112" y="2148840"/>
            <a:ext cx="2103120" cy="274320"/>
          </a:xfrm>
          <a:prstGeom prst="rect">
            <a:avLst/>
          </a:prstGeom>
          <a:noFill/>
          <a:ln/>
        </p:spPr>
        <p:txBody>
          <a:bodyPr wrap="square" lIns="0" tIns="0" rIns="0" bIns="0" rtlCol="0" anchor="t"/>
          <a:lstStyle/>
          <a:p>
            <a:pPr indent="0" marL="0">
              <a:buNone/>
            </a:pPr>
            <a:r>
              <a:rPr lang="en-US" sz="1050" dirty="0">
                <a:solidFill>
                  <a:srgbClr val="1A2B3C"/>
                </a:solidFill>
                <a:latin typeface="Calibri" pitchFamily="34" charset="0"/>
                <a:ea typeface="Calibri" pitchFamily="34" charset="-122"/>
                <a:cs typeface="Calibri" pitchFamily="34" charset="-120"/>
              </a:rPr>
              <a:t>Intent parser, schema, validator</a:t>
            </a:r>
            <a:endParaRPr lang="en-US" sz="1050" dirty="0"/>
          </a:p>
        </p:txBody>
      </p:sp>
      <p:pic>
        <p:nvPicPr>
          <p:cNvPr id="11" name="Image 2" descr="preencoded.png">    </p:cNvPr>
          <p:cNvPicPr>
            <a:picLocks noChangeAspect="1"/>
          </p:cNvPicPr>
          <p:nvPr/>
        </p:nvPicPr>
        <p:blipFill>
          <a:blip r:embed="rId3"/>
          <a:stretch>
            <a:fillRect/>
          </a:stretch>
        </p:blipFill>
        <p:spPr>
          <a:xfrm>
            <a:off x="658368" y="2615184"/>
            <a:ext cx="146304" cy="146304"/>
          </a:xfrm>
          <a:prstGeom prst="rect">
            <a:avLst/>
          </a:prstGeom>
        </p:spPr>
      </p:pic>
      <p:sp>
        <p:nvSpPr>
          <p:cNvPr id="12" name="Text 7"/>
          <p:cNvSpPr txBox="1"/>
          <p:nvPr/>
        </p:nvSpPr>
        <p:spPr>
          <a:xfrm>
            <a:off x="896112" y="2560320"/>
            <a:ext cx="2103120" cy="274320"/>
          </a:xfrm>
          <a:prstGeom prst="rect">
            <a:avLst/>
          </a:prstGeom>
          <a:noFill/>
          <a:ln/>
        </p:spPr>
        <p:txBody>
          <a:bodyPr wrap="square" lIns="0" tIns="0" rIns="0" bIns="0" rtlCol="0" anchor="t"/>
          <a:lstStyle/>
          <a:p>
            <a:pPr indent="0" marL="0">
              <a:buNone/>
            </a:pPr>
            <a:r>
              <a:rPr lang="en-US" sz="1050" dirty="0">
                <a:solidFill>
                  <a:srgbClr val="1A2B3C"/>
                </a:solidFill>
                <a:latin typeface="Calibri" pitchFamily="34" charset="0"/>
                <a:ea typeface="Calibri" pitchFamily="34" charset="-122"/>
                <a:cs typeface="Calibri" pitchFamily="34" charset="-120"/>
              </a:rPr>
              <a:t>Rule-based architect with 9 skills</a:t>
            </a:r>
            <a:endParaRPr lang="en-US" sz="1050" dirty="0"/>
          </a:p>
        </p:txBody>
      </p:sp>
      <p:pic>
        <p:nvPicPr>
          <p:cNvPr id="13" name="Image 3" descr="preencoded.png">    </p:cNvPr>
          <p:cNvPicPr>
            <a:picLocks noChangeAspect="1"/>
          </p:cNvPicPr>
          <p:nvPr/>
        </p:nvPicPr>
        <p:blipFill>
          <a:blip r:embed="rId4"/>
          <a:stretch>
            <a:fillRect/>
          </a:stretch>
        </p:blipFill>
        <p:spPr>
          <a:xfrm>
            <a:off x="658368" y="3026664"/>
            <a:ext cx="146304" cy="146304"/>
          </a:xfrm>
          <a:prstGeom prst="rect">
            <a:avLst/>
          </a:prstGeom>
        </p:spPr>
      </p:pic>
      <p:sp>
        <p:nvSpPr>
          <p:cNvPr id="14" name="Text 8"/>
          <p:cNvSpPr txBox="1"/>
          <p:nvPr/>
        </p:nvSpPr>
        <p:spPr>
          <a:xfrm>
            <a:off x="896112" y="2971800"/>
            <a:ext cx="2103120" cy="274320"/>
          </a:xfrm>
          <a:prstGeom prst="rect">
            <a:avLst/>
          </a:prstGeom>
          <a:noFill/>
          <a:ln/>
        </p:spPr>
        <p:txBody>
          <a:bodyPr wrap="square" lIns="0" tIns="0" rIns="0" bIns="0" rtlCol="0" anchor="t"/>
          <a:lstStyle/>
          <a:p>
            <a:pPr indent="0" marL="0">
              <a:buNone/>
            </a:pPr>
            <a:r>
              <a:rPr lang="en-US" sz="1050" dirty="0">
                <a:solidFill>
                  <a:srgbClr val="1A2B3C"/>
                </a:solidFill>
                <a:latin typeface="Calibri" pitchFamily="34" charset="0"/>
                <a:ea typeface="Calibri" pitchFamily="34" charset="-122"/>
                <a:cs typeface="Calibri" pitchFamily="34" charset="-120"/>
              </a:rPr>
              <a:t>TFS + RESTCONF + XML adapters</a:t>
            </a:r>
            <a:endParaRPr lang="en-US" sz="1050" dirty="0"/>
          </a:p>
        </p:txBody>
      </p:sp>
      <p:pic>
        <p:nvPicPr>
          <p:cNvPr id="15" name="Image 4" descr="preencoded.png">    </p:cNvPr>
          <p:cNvPicPr>
            <a:picLocks noChangeAspect="1"/>
          </p:cNvPicPr>
          <p:nvPr/>
        </p:nvPicPr>
        <p:blipFill>
          <a:blip r:embed="rId5"/>
          <a:stretch>
            <a:fillRect/>
          </a:stretch>
        </p:blipFill>
        <p:spPr>
          <a:xfrm>
            <a:off x="658368" y="3438144"/>
            <a:ext cx="146304" cy="146304"/>
          </a:xfrm>
          <a:prstGeom prst="rect">
            <a:avLst/>
          </a:prstGeom>
        </p:spPr>
      </p:pic>
      <p:sp>
        <p:nvSpPr>
          <p:cNvPr id="16" name="Text 9"/>
          <p:cNvSpPr txBox="1"/>
          <p:nvPr/>
        </p:nvSpPr>
        <p:spPr>
          <a:xfrm>
            <a:off x="896112" y="3383280"/>
            <a:ext cx="2103120" cy="274320"/>
          </a:xfrm>
          <a:prstGeom prst="rect">
            <a:avLst/>
          </a:prstGeom>
          <a:noFill/>
          <a:ln/>
        </p:spPr>
        <p:txBody>
          <a:bodyPr wrap="square" lIns="0" tIns="0" rIns="0" bIns="0" rtlCol="0" anchor="t"/>
          <a:lstStyle/>
          <a:p>
            <a:pPr indent="0" marL="0">
              <a:buNone/>
            </a:pPr>
            <a:r>
              <a:rPr lang="en-US" sz="1050" dirty="0">
                <a:solidFill>
                  <a:srgbClr val="1A2B3C"/>
                </a:solidFill>
                <a:latin typeface="Calibri" pitchFamily="34" charset="0"/>
                <a:ea typeface="Calibri" pitchFamily="34" charset="-122"/>
                <a:cs typeface="Calibri" pitchFamily="34" charset="-120"/>
              </a:rPr>
              <a:t>Reconciler, audit log, dashboards</a:t>
            </a:r>
            <a:endParaRPr lang="en-US" sz="1050" dirty="0"/>
          </a:p>
        </p:txBody>
      </p:sp>
      <p:sp>
        <p:nvSpPr>
          <p:cNvPr id="17" name="Shape 10"/>
          <p:cNvSpPr/>
          <p:nvPr/>
        </p:nvSpPr>
        <p:spPr>
          <a:xfrm>
            <a:off x="594360" y="3977640"/>
            <a:ext cx="2377440" cy="594360"/>
          </a:xfrm>
          <a:prstGeom prst="roundRect">
            <a:avLst>
              <a:gd name="adj" fmla="val 9231"/>
            </a:avLst>
          </a:prstGeom>
          <a:solidFill>
            <a:srgbClr val="FDECEC"/>
          </a:solidFill>
          <a:ln w="12700">
            <a:solidFill>
              <a:srgbClr val="FDECEC"/>
            </a:solidFill>
            <a:prstDash val="solid"/>
          </a:ln>
        </p:spPr>
      </p:sp>
      <p:pic>
        <p:nvPicPr>
          <p:cNvPr id="18" name="Image 5" descr="preencoded.png">    </p:cNvPr>
          <p:cNvPicPr>
            <a:picLocks noChangeAspect="1"/>
          </p:cNvPicPr>
          <p:nvPr/>
        </p:nvPicPr>
        <p:blipFill>
          <a:blip r:embed="rId6"/>
          <a:stretch>
            <a:fillRect/>
          </a:stretch>
        </p:blipFill>
        <p:spPr>
          <a:xfrm>
            <a:off x="704088" y="4160520"/>
            <a:ext cx="201168" cy="201168"/>
          </a:xfrm>
          <a:prstGeom prst="rect">
            <a:avLst/>
          </a:prstGeom>
        </p:spPr>
      </p:pic>
      <p:sp>
        <p:nvSpPr>
          <p:cNvPr id="19" name="Text 11"/>
          <p:cNvSpPr txBox="1"/>
          <p:nvPr/>
        </p:nvSpPr>
        <p:spPr>
          <a:xfrm>
            <a:off x="1005840" y="3977640"/>
            <a:ext cx="1920240" cy="594360"/>
          </a:xfrm>
          <a:prstGeom prst="rect">
            <a:avLst/>
          </a:prstGeom>
          <a:noFill/>
          <a:ln/>
        </p:spPr>
        <p:txBody>
          <a:bodyPr wrap="square" lIns="0" tIns="0" rIns="0" bIns="0" rtlCol="0" anchor="ctr"/>
          <a:lstStyle/>
          <a:p>
            <a:pPr indent="0" marL="0">
              <a:buNone/>
            </a:pPr>
            <a:r>
              <a:rPr lang="en-US" sz="950" dirty="0">
                <a:solidFill>
                  <a:srgbClr val="8A2A2A"/>
                </a:solidFill>
                <a:latin typeface="Calibri" pitchFamily="34" charset="0"/>
                <a:ea typeface="Calibri" pitchFamily="34" charset="-122"/>
                <a:cs typeface="Calibri" pitchFamily="34" charset="-120"/>
              </a:rPr>
              <a:t>Vendors a copy of the twin repo in tfs_unity/</a:t>
            </a:r>
            <a:endParaRPr lang="en-US" sz="950" dirty="0"/>
          </a:p>
        </p:txBody>
      </p:sp>
      <p:sp>
        <p:nvSpPr>
          <p:cNvPr id="20" name="Shape 12"/>
          <p:cNvSpPr/>
          <p:nvPr/>
        </p:nvSpPr>
        <p:spPr>
          <a:xfrm>
            <a:off x="3246120" y="1234440"/>
            <a:ext cx="2651760" cy="3520440"/>
          </a:xfrm>
          <a:prstGeom prst="roundRect">
            <a:avLst>
              <a:gd name="adj" fmla="val 2759"/>
            </a:avLst>
          </a:prstGeom>
          <a:solidFill>
            <a:srgbClr val="F2F5F8"/>
          </a:solidFill>
          <a:ln w="12700">
            <a:solidFill>
              <a:srgbClr val="F2F5F8"/>
            </a:solidFill>
            <a:prstDash val="solid"/>
          </a:ln>
        </p:spPr>
      </p:sp>
      <p:sp>
        <p:nvSpPr>
          <p:cNvPr id="21" name="Shape 13"/>
          <p:cNvSpPr/>
          <p:nvPr/>
        </p:nvSpPr>
        <p:spPr>
          <a:xfrm>
            <a:off x="3410712" y="1399032"/>
            <a:ext cx="457200" cy="457200"/>
          </a:xfrm>
          <a:prstGeom prst="ellipse">
            <a:avLst/>
          </a:prstGeom>
          <a:solidFill>
            <a:srgbClr val="E8912D"/>
          </a:solidFill>
          <a:ln w="12700">
            <a:solidFill>
              <a:srgbClr val="E8912D"/>
            </a:solidFill>
            <a:prstDash val="solid"/>
          </a:ln>
        </p:spPr>
      </p:sp>
      <p:pic>
        <p:nvPicPr>
          <p:cNvPr id="22" name="Image 6" descr="preencoded.png">    </p:cNvPr>
          <p:cNvPicPr>
            <a:picLocks noChangeAspect="1"/>
          </p:cNvPicPr>
          <p:nvPr/>
        </p:nvPicPr>
        <p:blipFill>
          <a:blip r:embed="rId7"/>
          <a:stretch>
            <a:fillRect/>
          </a:stretch>
        </p:blipFill>
        <p:spPr>
          <a:xfrm>
            <a:off x="3525012" y="1513332"/>
            <a:ext cx="228600" cy="228600"/>
          </a:xfrm>
          <a:prstGeom prst="rect">
            <a:avLst/>
          </a:prstGeom>
        </p:spPr>
      </p:pic>
      <p:sp>
        <p:nvSpPr>
          <p:cNvPr id="23" name="Text 14"/>
          <p:cNvSpPr txBox="1"/>
          <p:nvPr/>
        </p:nvSpPr>
        <p:spPr>
          <a:xfrm>
            <a:off x="3977640" y="1399032"/>
            <a:ext cx="1828800" cy="256032"/>
          </a:xfrm>
          <a:prstGeom prst="rect">
            <a:avLst/>
          </a:prstGeom>
          <a:noFill/>
          <a:ln/>
        </p:spPr>
        <p:txBody>
          <a:bodyPr wrap="square" lIns="0" tIns="0" rIns="0" bIns="0" rtlCol="0" anchor="t"/>
          <a:lstStyle/>
          <a:p>
            <a:pPr indent="0" marL="0">
              <a:buNone/>
            </a:pPr>
            <a:r>
              <a:rPr lang="en-US" sz="1300" b="1" dirty="0">
                <a:solidFill>
                  <a:srgbClr val="0B1D33"/>
                </a:solidFill>
                <a:latin typeface="Arial" pitchFamily="34" charset="0"/>
                <a:ea typeface="Arial" pitchFamily="34" charset="-122"/>
                <a:cs typeface="Arial" pitchFamily="34" charset="-120"/>
              </a:rPr>
              <a:t>tfs-ns3-digital-twin</a:t>
            </a:r>
            <a:endParaRPr lang="en-US" sz="1300" dirty="0"/>
          </a:p>
        </p:txBody>
      </p:sp>
      <p:sp>
        <p:nvSpPr>
          <p:cNvPr id="24" name="Text 15"/>
          <p:cNvSpPr txBox="1"/>
          <p:nvPr/>
        </p:nvSpPr>
        <p:spPr>
          <a:xfrm>
            <a:off x="3977640" y="1655064"/>
            <a:ext cx="1828800" cy="329184"/>
          </a:xfrm>
          <a:prstGeom prst="rect">
            <a:avLst/>
          </a:prstGeom>
          <a:noFill/>
          <a:ln/>
        </p:spPr>
        <p:txBody>
          <a:bodyPr wrap="square" lIns="0" tIns="0" rIns="0" bIns="0" rtlCol="0" anchor="t"/>
          <a:lstStyle/>
          <a:p>
            <a:pPr indent="0" marL="0">
              <a:buNone/>
            </a:pPr>
            <a:r>
              <a:rPr lang="en-US" sz="900" dirty="0">
                <a:solidFill>
                  <a:srgbClr val="5A6B7D"/>
                </a:solidFill>
                <a:latin typeface="Calibri" pitchFamily="34" charset="0"/>
                <a:ea typeface="Calibri" pitchFamily="34" charset="-122"/>
                <a:cs typeface="Calibri" pitchFamily="34" charset="-120"/>
              </a:rPr>
              <a:t>26 Python files · 8.7k lines · 22/22 tests</a:t>
            </a:r>
            <a:endParaRPr lang="en-US" sz="900" dirty="0"/>
          </a:p>
        </p:txBody>
      </p:sp>
      <p:pic>
        <p:nvPicPr>
          <p:cNvPr id="25" name="Image 7" descr="preencoded.png">    </p:cNvPr>
          <p:cNvPicPr>
            <a:picLocks noChangeAspect="1"/>
          </p:cNvPicPr>
          <p:nvPr/>
        </p:nvPicPr>
        <p:blipFill>
          <a:blip r:embed="rId8"/>
          <a:stretch>
            <a:fillRect/>
          </a:stretch>
        </p:blipFill>
        <p:spPr>
          <a:xfrm>
            <a:off x="3447288" y="2203704"/>
            <a:ext cx="146304" cy="146304"/>
          </a:xfrm>
          <a:prstGeom prst="rect">
            <a:avLst/>
          </a:prstGeom>
        </p:spPr>
      </p:pic>
      <p:sp>
        <p:nvSpPr>
          <p:cNvPr id="26" name="Text 16"/>
          <p:cNvSpPr txBox="1"/>
          <p:nvPr/>
        </p:nvSpPr>
        <p:spPr>
          <a:xfrm>
            <a:off x="3685032" y="2148840"/>
            <a:ext cx="2103120" cy="274320"/>
          </a:xfrm>
          <a:prstGeom prst="rect">
            <a:avLst/>
          </a:prstGeom>
          <a:noFill/>
          <a:ln/>
        </p:spPr>
        <p:txBody>
          <a:bodyPr wrap="square" lIns="0" tIns="0" rIns="0" bIns="0" rtlCol="0" anchor="t"/>
          <a:lstStyle/>
          <a:p>
            <a:pPr indent="0" marL="0">
              <a:buNone/>
            </a:pPr>
            <a:r>
              <a:rPr lang="en-US" sz="1050" dirty="0">
                <a:solidFill>
                  <a:srgbClr val="1A2B3C"/>
                </a:solidFill>
                <a:latin typeface="Calibri" pitchFamily="34" charset="0"/>
                <a:ea typeface="Calibri" pitchFamily="34" charset="-122"/>
                <a:cs typeface="Calibri" pitchFamily="34" charset="-120"/>
              </a:rPr>
              <a:t>TFS → ns-3 C++ generator</a:t>
            </a:r>
            <a:endParaRPr lang="en-US" sz="1050" dirty="0"/>
          </a:p>
        </p:txBody>
      </p:sp>
      <p:pic>
        <p:nvPicPr>
          <p:cNvPr id="27" name="Image 8" descr="preencoded.png">    </p:cNvPr>
          <p:cNvPicPr>
            <a:picLocks noChangeAspect="1"/>
          </p:cNvPicPr>
          <p:nvPr/>
        </p:nvPicPr>
        <p:blipFill>
          <a:blip r:embed="rId9"/>
          <a:stretch>
            <a:fillRect/>
          </a:stretch>
        </p:blipFill>
        <p:spPr>
          <a:xfrm>
            <a:off x="3447288" y="2615184"/>
            <a:ext cx="146304" cy="146304"/>
          </a:xfrm>
          <a:prstGeom prst="rect">
            <a:avLst/>
          </a:prstGeom>
        </p:spPr>
      </p:pic>
      <p:sp>
        <p:nvSpPr>
          <p:cNvPr id="28" name="Text 17"/>
          <p:cNvSpPr txBox="1"/>
          <p:nvPr/>
        </p:nvSpPr>
        <p:spPr>
          <a:xfrm>
            <a:off x="3685032" y="2560320"/>
            <a:ext cx="2103120" cy="274320"/>
          </a:xfrm>
          <a:prstGeom prst="rect">
            <a:avLst/>
          </a:prstGeom>
          <a:noFill/>
          <a:ln/>
        </p:spPr>
        <p:txBody>
          <a:bodyPr wrap="square" lIns="0" tIns="0" rIns="0" bIns="0" rtlCol="0" anchor="t"/>
          <a:lstStyle/>
          <a:p>
            <a:pPr indent="0" marL="0">
              <a:buNone/>
            </a:pPr>
            <a:r>
              <a:rPr lang="en-US" sz="1050" dirty="0">
                <a:solidFill>
                  <a:srgbClr val="1A2B3C"/>
                </a:solidFill>
                <a:latin typeface="Calibri" pitchFamily="34" charset="0"/>
                <a:ea typeface="Calibri" pitchFamily="34" charset="-122"/>
                <a:cs typeface="Calibri" pitchFamily="34" charset="-120"/>
              </a:rPr>
              <a:t>ns-3.45 TSN / 60 GHz scenario</a:t>
            </a:r>
            <a:endParaRPr lang="en-US" sz="1050" dirty="0"/>
          </a:p>
        </p:txBody>
      </p:sp>
      <p:pic>
        <p:nvPicPr>
          <p:cNvPr id="29" name="Image 9" descr="preencoded.png">    </p:cNvPr>
          <p:cNvPicPr>
            <a:picLocks noChangeAspect="1"/>
          </p:cNvPicPr>
          <p:nvPr/>
        </p:nvPicPr>
        <p:blipFill>
          <a:blip r:embed="rId10"/>
          <a:stretch>
            <a:fillRect/>
          </a:stretch>
        </p:blipFill>
        <p:spPr>
          <a:xfrm>
            <a:off x="3447288" y="3026664"/>
            <a:ext cx="146304" cy="146304"/>
          </a:xfrm>
          <a:prstGeom prst="rect">
            <a:avLst/>
          </a:prstGeom>
        </p:spPr>
      </p:pic>
      <p:sp>
        <p:nvSpPr>
          <p:cNvPr id="30" name="Text 18"/>
          <p:cNvSpPr txBox="1"/>
          <p:nvPr/>
        </p:nvSpPr>
        <p:spPr>
          <a:xfrm>
            <a:off x="3685032" y="2971800"/>
            <a:ext cx="2103120" cy="274320"/>
          </a:xfrm>
          <a:prstGeom prst="rect">
            <a:avLst/>
          </a:prstGeom>
          <a:noFill/>
          <a:ln/>
        </p:spPr>
        <p:txBody>
          <a:bodyPr wrap="square" lIns="0" tIns="0" rIns="0" bIns="0" rtlCol="0" anchor="t"/>
          <a:lstStyle/>
          <a:p>
            <a:pPr indent="0" marL="0">
              <a:buNone/>
            </a:pPr>
            <a:r>
              <a:rPr lang="en-US" sz="1050" dirty="0">
                <a:solidFill>
                  <a:srgbClr val="1A2B3C"/>
                </a:solidFill>
                <a:latin typeface="Calibri" pitchFamily="34" charset="0"/>
                <a:ea typeface="Calibri" pitchFamily="34" charset="-122"/>
                <a:cs typeface="Calibri" pitchFamily="34" charset="-120"/>
              </a:rPr>
              <a:t>Twin API :9100, bridge :9099</a:t>
            </a:r>
            <a:endParaRPr lang="en-US" sz="1050" dirty="0"/>
          </a:p>
        </p:txBody>
      </p:sp>
      <p:pic>
        <p:nvPicPr>
          <p:cNvPr id="31" name="Image 10" descr="preencoded.png">    </p:cNvPr>
          <p:cNvPicPr>
            <a:picLocks noChangeAspect="1"/>
          </p:cNvPicPr>
          <p:nvPr/>
        </p:nvPicPr>
        <p:blipFill>
          <a:blip r:embed="rId11"/>
          <a:stretch>
            <a:fillRect/>
          </a:stretch>
        </p:blipFill>
        <p:spPr>
          <a:xfrm>
            <a:off x="3447288" y="3438144"/>
            <a:ext cx="146304" cy="146304"/>
          </a:xfrm>
          <a:prstGeom prst="rect">
            <a:avLst/>
          </a:prstGeom>
        </p:spPr>
      </p:pic>
      <p:sp>
        <p:nvSpPr>
          <p:cNvPr id="32" name="Text 19"/>
          <p:cNvSpPr txBox="1"/>
          <p:nvPr/>
        </p:nvSpPr>
        <p:spPr>
          <a:xfrm>
            <a:off x="3685032" y="3383280"/>
            <a:ext cx="2103120" cy="274320"/>
          </a:xfrm>
          <a:prstGeom prst="rect">
            <a:avLst/>
          </a:prstGeom>
          <a:noFill/>
          <a:ln/>
        </p:spPr>
        <p:txBody>
          <a:bodyPr wrap="square" lIns="0" tIns="0" rIns="0" bIns="0" rtlCol="0" anchor="t"/>
          <a:lstStyle/>
          <a:p>
            <a:pPr indent="0" marL="0">
              <a:buNone/>
            </a:pPr>
            <a:r>
              <a:rPr lang="en-US" sz="1050" dirty="0">
                <a:solidFill>
                  <a:srgbClr val="1A2B3C"/>
                </a:solidFill>
                <a:latin typeface="Calibri" pitchFamily="34" charset="0"/>
                <a:ea typeface="Calibri" pitchFamily="34" charset="-122"/>
                <a:cs typeface="Calibri" pitchFamily="34" charset="-120"/>
              </a:rPr>
              <a:t>Fidelity governor, web dashboard</a:t>
            </a:r>
            <a:endParaRPr lang="en-US" sz="1050" dirty="0"/>
          </a:p>
        </p:txBody>
      </p:sp>
      <p:sp>
        <p:nvSpPr>
          <p:cNvPr id="33" name="Shape 20"/>
          <p:cNvSpPr/>
          <p:nvPr/>
        </p:nvSpPr>
        <p:spPr>
          <a:xfrm>
            <a:off x="3383280" y="3977640"/>
            <a:ext cx="2377440" cy="594360"/>
          </a:xfrm>
          <a:prstGeom prst="roundRect">
            <a:avLst>
              <a:gd name="adj" fmla="val 9231"/>
            </a:avLst>
          </a:prstGeom>
          <a:solidFill>
            <a:srgbClr val="FDECEC"/>
          </a:solidFill>
          <a:ln w="12700">
            <a:solidFill>
              <a:srgbClr val="FDECEC"/>
            </a:solidFill>
            <a:prstDash val="solid"/>
          </a:ln>
        </p:spPr>
      </p:sp>
      <p:pic>
        <p:nvPicPr>
          <p:cNvPr id="34" name="Image 11" descr="preencoded.png">    </p:cNvPr>
          <p:cNvPicPr>
            <a:picLocks noChangeAspect="1"/>
          </p:cNvPicPr>
          <p:nvPr/>
        </p:nvPicPr>
        <p:blipFill>
          <a:blip r:embed="rId12"/>
          <a:stretch>
            <a:fillRect/>
          </a:stretch>
        </p:blipFill>
        <p:spPr>
          <a:xfrm>
            <a:off x="3493008" y="4160520"/>
            <a:ext cx="201168" cy="201168"/>
          </a:xfrm>
          <a:prstGeom prst="rect">
            <a:avLst/>
          </a:prstGeom>
        </p:spPr>
      </p:pic>
      <p:sp>
        <p:nvSpPr>
          <p:cNvPr id="35" name="Text 21"/>
          <p:cNvSpPr txBox="1"/>
          <p:nvPr/>
        </p:nvSpPr>
        <p:spPr>
          <a:xfrm>
            <a:off x="3794760" y="3977640"/>
            <a:ext cx="1920240" cy="594360"/>
          </a:xfrm>
          <a:prstGeom prst="rect">
            <a:avLst/>
          </a:prstGeom>
          <a:noFill/>
          <a:ln/>
        </p:spPr>
        <p:txBody>
          <a:bodyPr wrap="square" lIns="0" tIns="0" rIns="0" bIns="0" rtlCol="0" anchor="ctr"/>
          <a:lstStyle/>
          <a:p>
            <a:pPr indent="0" marL="0">
              <a:buNone/>
            </a:pPr>
            <a:r>
              <a:rPr lang="en-US" sz="950" dirty="0">
                <a:solidFill>
                  <a:srgbClr val="8A2A2A"/>
                </a:solidFill>
                <a:latin typeface="Calibri" pitchFamily="34" charset="0"/>
                <a:ea typeface="Calibri" pitchFamily="34" charset="-122"/>
                <a:cs typeface="Calibri" pitchFamily="34" charset="-120"/>
              </a:rPr>
              <a:t>Modules duplicated at root and in src/</a:t>
            </a:r>
            <a:endParaRPr lang="en-US" sz="950" dirty="0"/>
          </a:p>
        </p:txBody>
      </p:sp>
      <p:sp>
        <p:nvSpPr>
          <p:cNvPr id="36" name="Shape 22"/>
          <p:cNvSpPr/>
          <p:nvPr/>
        </p:nvSpPr>
        <p:spPr>
          <a:xfrm>
            <a:off x="6035040" y="1234440"/>
            <a:ext cx="2651760" cy="3520440"/>
          </a:xfrm>
          <a:prstGeom prst="roundRect">
            <a:avLst>
              <a:gd name="adj" fmla="val 2759"/>
            </a:avLst>
          </a:prstGeom>
          <a:solidFill>
            <a:srgbClr val="F2F5F8"/>
          </a:solidFill>
          <a:ln w="12700">
            <a:solidFill>
              <a:srgbClr val="F2F5F8"/>
            </a:solidFill>
            <a:prstDash val="solid"/>
          </a:ln>
        </p:spPr>
      </p:sp>
      <p:sp>
        <p:nvSpPr>
          <p:cNvPr id="37" name="Shape 23"/>
          <p:cNvSpPr/>
          <p:nvPr/>
        </p:nvSpPr>
        <p:spPr>
          <a:xfrm>
            <a:off x="6199632" y="1399032"/>
            <a:ext cx="457200" cy="457200"/>
          </a:xfrm>
          <a:prstGeom prst="ellipse">
            <a:avLst/>
          </a:prstGeom>
          <a:solidFill>
            <a:srgbClr val="0FA3B1"/>
          </a:solidFill>
          <a:ln w="12700">
            <a:solidFill>
              <a:srgbClr val="0FA3B1"/>
            </a:solidFill>
            <a:prstDash val="solid"/>
          </a:ln>
        </p:spPr>
      </p:sp>
      <p:pic>
        <p:nvPicPr>
          <p:cNvPr id="38" name="Image 12" descr="preencoded.png">    </p:cNvPr>
          <p:cNvPicPr>
            <a:picLocks noChangeAspect="1"/>
          </p:cNvPicPr>
          <p:nvPr/>
        </p:nvPicPr>
        <p:blipFill>
          <a:blip r:embed="rId13"/>
          <a:stretch>
            <a:fillRect/>
          </a:stretch>
        </p:blipFill>
        <p:spPr>
          <a:xfrm>
            <a:off x="6313932" y="1513332"/>
            <a:ext cx="228600" cy="228600"/>
          </a:xfrm>
          <a:prstGeom prst="rect">
            <a:avLst/>
          </a:prstGeom>
        </p:spPr>
      </p:pic>
      <p:sp>
        <p:nvSpPr>
          <p:cNvPr id="39" name="Text 24"/>
          <p:cNvSpPr txBox="1"/>
          <p:nvPr/>
        </p:nvSpPr>
        <p:spPr>
          <a:xfrm>
            <a:off x="6766560" y="1399032"/>
            <a:ext cx="1828800" cy="256032"/>
          </a:xfrm>
          <a:prstGeom prst="rect">
            <a:avLst/>
          </a:prstGeom>
          <a:noFill/>
          <a:ln/>
        </p:spPr>
        <p:txBody>
          <a:bodyPr wrap="square" lIns="0" tIns="0" rIns="0" bIns="0" rtlCol="0" anchor="t"/>
          <a:lstStyle/>
          <a:p>
            <a:pPr indent="0" marL="0">
              <a:buNone/>
            </a:pPr>
            <a:r>
              <a:rPr lang="en-US" sz="1300" b="1" dirty="0">
                <a:solidFill>
                  <a:srgbClr val="0B1D33"/>
                </a:solidFill>
                <a:latin typeface="Arial" pitchFamily="34" charset="0"/>
                <a:ea typeface="Arial" pitchFamily="34" charset="-122"/>
                <a:cs typeface="Arial" pitchFamily="34" charset="-120"/>
              </a:rPr>
              <a:t>teraflowsdn</a:t>
            </a:r>
            <a:endParaRPr lang="en-US" sz="1300" dirty="0"/>
          </a:p>
        </p:txBody>
      </p:sp>
      <p:sp>
        <p:nvSpPr>
          <p:cNvPr id="40" name="Text 25"/>
          <p:cNvSpPr txBox="1"/>
          <p:nvPr/>
        </p:nvSpPr>
        <p:spPr>
          <a:xfrm>
            <a:off x="6766560" y="1655064"/>
            <a:ext cx="1828800" cy="329184"/>
          </a:xfrm>
          <a:prstGeom prst="rect">
            <a:avLst/>
          </a:prstGeom>
          <a:noFill/>
          <a:ln/>
        </p:spPr>
        <p:txBody>
          <a:bodyPr wrap="square" lIns="0" tIns="0" rIns="0" bIns="0" rtlCol="0" anchor="t"/>
          <a:lstStyle/>
          <a:p>
            <a:pPr indent="0" marL="0">
              <a:buNone/>
            </a:pPr>
            <a:r>
              <a:rPr lang="en-US" sz="900" dirty="0">
                <a:solidFill>
                  <a:srgbClr val="5A6B7D"/>
                </a:solidFill>
                <a:latin typeface="Calibri" pitchFamily="34" charset="0"/>
                <a:ea typeface="Calibri" pitchFamily="34" charset="-122"/>
                <a:cs typeface="Calibri" pitchFamily="34" charset="-120"/>
              </a:rPr>
              <a:t>upstream TFS + Ceragon driver (881 lines)</a:t>
            </a:r>
            <a:endParaRPr lang="en-US" sz="900" dirty="0"/>
          </a:p>
        </p:txBody>
      </p:sp>
      <p:pic>
        <p:nvPicPr>
          <p:cNvPr id="41" name="Image 13" descr="preencoded.png">    </p:cNvPr>
          <p:cNvPicPr>
            <a:picLocks noChangeAspect="1"/>
          </p:cNvPicPr>
          <p:nvPr/>
        </p:nvPicPr>
        <p:blipFill>
          <a:blip r:embed="rId14"/>
          <a:stretch>
            <a:fillRect/>
          </a:stretch>
        </p:blipFill>
        <p:spPr>
          <a:xfrm>
            <a:off x="6236208" y="2203704"/>
            <a:ext cx="146304" cy="146304"/>
          </a:xfrm>
          <a:prstGeom prst="rect">
            <a:avLst/>
          </a:prstGeom>
        </p:spPr>
      </p:pic>
      <p:sp>
        <p:nvSpPr>
          <p:cNvPr id="42" name="Text 26"/>
          <p:cNvSpPr txBox="1"/>
          <p:nvPr/>
        </p:nvSpPr>
        <p:spPr>
          <a:xfrm>
            <a:off x="6473952" y="2148840"/>
            <a:ext cx="2103120" cy="274320"/>
          </a:xfrm>
          <a:prstGeom prst="rect">
            <a:avLst/>
          </a:prstGeom>
          <a:noFill/>
          <a:ln/>
        </p:spPr>
        <p:txBody>
          <a:bodyPr wrap="square" lIns="0" tIns="0" rIns="0" bIns="0" rtlCol="0" anchor="t"/>
          <a:lstStyle/>
          <a:p>
            <a:pPr indent="0" marL="0">
              <a:buNone/>
            </a:pPr>
            <a:r>
              <a:rPr lang="en-US" sz="1050" dirty="0">
                <a:solidFill>
                  <a:srgbClr val="1A2B3C"/>
                </a:solidFill>
                <a:latin typeface="Calibri" pitchFamily="34" charset="0"/>
                <a:ea typeface="Calibri" pitchFamily="34" charset="-122"/>
                <a:cs typeface="Calibri" pitchFamily="34" charset="-120"/>
              </a:rPr>
              <a:t>CeragonDriver, driver enum 22</a:t>
            </a:r>
            <a:endParaRPr lang="en-US" sz="1050" dirty="0"/>
          </a:p>
        </p:txBody>
      </p:sp>
      <p:pic>
        <p:nvPicPr>
          <p:cNvPr id="43" name="Image 14" descr="preencoded.png">    </p:cNvPr>
          <p:cNvPicPr>
            <a:picLocks noChangeAspect="1"/>
          </p:cNvPicPr>
          <p:nvPr/>
        </p:nvPicPr>
        <p:blipFill>
          <a:blip r:embed="rId15"/>
          <a:stretch>
            <a:fillRect/>
          </a:stretch>
        </p:blipFill>
        <p:spPr>
          <a:xfrm>
            <a:off x="6236208" y="2615184"/>
            <a:ext cx="146304" cy="146304"/>
          </a:xfrm>
          <a:prstGeom prst="rect">
            <a:avLst/>
          </a:prstGeom>
        </p:spPr>
      </p:pic>
      <p:sp>
        <p:nvSpPr>
          <p:cNvPr id="44" name="Text 27"/>
          <p:cNvSpPr txBox="1"/>
          <p:nvPr/>
        </p:nvSpPr>
        <p:spPr>
          <a:xfrm>
            <a:off x="6473952" y="2560320"/>
            <a:ext cx="2103120" cy="274320"/>
          </a:xfrm>
          <a:prstGeom prst="rect">
            <a:avLst/>
          </a:prstGeom>
          <a:noFill/>
          <a:ln/>
        </p:spPr>
        <p:txBody>
          <a:bodyPr wrap="square" lIns="0" tIns="0" rIns="0" bIns="0" rtlCol="0" anchor="t"/>
          <a:lstStyle/>
          <a:p>
            <a:pPr indent="0" marL="0">
              <a:buNone/>
            </a:pPr>
            <a:r>
              <a:rPr lang="en-US" sz="1050" dirty="0">
                <a:solidFill>
                  <a:srgbClr val="1A2B3C"/>
                </a:solidFill>
                <a:latin typeface="Calibri" pitchFamily="34" charset="0"/>
                <a:ea typeface="Calibri" pitchFamily="34" charset="-122"/>
                <a:cs typeface="Calibri" pitchFamily="34" charset="-120"/>
              </a:rPr>
              <a:t>RESTCONF client: stage → commit</a:t>
            </a:r>
            <a:endParaRPr lang="en-US" sz="1050" dirty="0"/>
          </a:p>
        </p:txBody>
      </p:sp>
      <p:pic>
        <p:nvPicPr>
          <p:cNvPr id="45" name="Image 15" descr="preencoded.png">    </p:cNvPr>
          <p:cNvPicPr>
            <a:picLocks noChangeAspect="1"/>
          </p:cNvPicPr>
          <p:nvPr/>
        </p:nvPicPr>
        <p:blipFill>
          <a:blip r:embed="rId16"/>
          <a:stretch>
            <a:fillRect/>
          </a:stretch>
        </p:blipFill>
        <p:spPr>
          <a:xfrm>
            <a:off x="6236208" y="3026664"/>
            <a:ext cx="146304" cy="146304"/>
          </a:xfrm>
          <a:prstGeom prst="rect">
            <a:avLst/>
          </a:prstGeom>
        </p:spPr>
      </p:pic>
      <p:sp>
        <p:nvSpPr>
          <p:cNvPr id="46" name="Text 28"/>
          <p:cNvSpPr txBox="1"/>
          <p:nvPr/>
        </p:nvSpPr>
        <p:spPr>
          <a:xfrm>
            <a:off x="6473952" y="2971800"/>
            <a:ext cx="2103120" cy="274320"/>
          </a:xfrm>
          <a:prstGeom prst="rect">
            <a:avLst/>
          </a:prstGeom>
          <a:noFill/>
          <a:ln/>
        </p:spPr>
        <p:txBody>
          <a:bodyPr wrap="square" lIns="0" tIns="0" rIns="0" bIns="0" rtlCol="0" anchor="t"/>
          <a:lstStyle/>
          <a:p>
            <a:pPr indent="0" marL="0">
              <a:buNone/>
            </a:pPr>
            <a:r>
              <a:rPr lang="en-US" sz="1050" dirty="0">
                <a:solidFill>
                  <a:srgbClr val="1A2B3C"/>
                </a:solidFill>
                <a:latin typeface="Calibri" pitchFamily="34" charset="0"/>
                <a:ea typeface="Calibri" pitchFamily="34" charset="-122"/>
                <a:cs typeface="Calibri" pitchFamily="34" charset="-120"/>
              </a:rPr>
              <a:t>51 YANG models (radio-bridge-tg)</a:t>
            </a:r>
            <a:endParaRPr lang="en-US" sz="1050" dirty="0"/>
          </a:p>
        </p:txBody>
      </p:sp>
      <p:pic>
        <p:nvPicPr>
          <p:cNvPr id="47" name="Image 16" descr="preencoded.png">    </p:cNvPr>
          <p:cNvPicPr>
            <a:picLocks noChangeAspect="1"/>
          </p:cNvPicPr>
          <p:nvPr/>
        </p:nvPicPr>
        <p:blipFill>
          <a:blip r:embed="rId17"/>
          <a:stretch>
            <a:fillRect/>
          </a:stretch>
        </p:blipFill>
        <p:spPr>
          <a:xfrm>
            <a:off x="6236208" y="3438144"/>
            <a:ext cx="146304" cy="146304"/>
          </a:xfrm>
          <a:prstGeom prst="rect">
            <a:avLst/>
          </a:prstGeom>
        </p:spPr>
      </p:pic>
      <p:sp>
        <p:nvSpPr>
          <p:cNvPr id="48" name="Text 29"/>
          <p:cNvSpPr txBox="1"/>
          <p:nvPr/>
        </p:nvSpPr>
        <p:spPr>
          <a:xfrm>
            <a:off x="6473952" y="3383280"/>
            <a:ext cx="2103120" cy="274320"/>
          </a:xfrm>
          <a:prstGeom prst="rect">
            <a:avLst/>
          </a:prstGeom>
          <a:noFill/>
          <a:ln/>
        </p:spPr>
        <p:txBody>
          <a:bodyPr wrap="square" lIns="0" tIns="0" rIns="0" bIns="0" rtlCol="0" anchor="t"/>
          <a:lstStyle/>
          <a:p>
            <a:pPr indent="0" marL="0">
              <a:buNone/>
            </a:pPr>
            <a:r>
              <a:rPr lang="en-US" sz="1050" dirty="0">
                <a:solidFill>
                  <a:srgbClr val="1A2B3C"/>
                </a:solidFill>
                <a:latin typeface="Calibri" pitchFamily="34" charset="0"/>
                <a:ea typeface="Calibri" pitchFamily="34" charset="-122"/>
                <a:cs typeface="Calibri" pitchFamily="34" charset="-120"/>
              </a:rPr>
              <a:t>MH-T261 and IP-50C descriptors</a:t>
            </a:r>
            <a:endParaRPr lang="en-US" sz="1050" dirty="0"/>
          </a:p>
        </p:txBody>
      </p:sp>
      <p:sp>
        <p:nvSpPr>
          <p:cNvPr id="49" name="Shape 30"/>
          <p:cNvSpPr/>
          <p:nvPr/>
        </p:nvSpPr>
        <p:spPr>
          <a:xfrm>
            <a:off x="6172200" y="3977640"/>
            <a:ext cx="2377440" cy="594360"/>
          </a:xfrm>
          <a:prstGeom prst="roundRect">
            <a:avLst>
              <a:gd name="adj" fmla="val 9231"/>
            </a:avLst>
          </a:prstGeom>
          <a:solidFill>
            <a:srgbClr val="FDECEC"/>
          </a:solidFill>
          <a:ln w="12700">
            <a:solidFill>
              <a:srgbClr val="FDECEC"/>
            </a:solidFill>
            <a:prstDash val="solid"/>
          </a:ln>
        </p:spPr>
      </p:sp>
      <p:pic>
        <p:nvPicPr>
          <p:cNvPr id="50" name="Image 17" descr="preencoded.png">    </p:cNvPr>
          <p:cNvPicPr>
            <a:picLocks noChangeAspect="1"/>
          </p:cNvPicPr>
          <p:nvPr/>
        </p:nvPicPr>
        <p:blipFill>
          <a:blip r:embed="rId18"/>
          <a:stretch>
            <a:fillRect/>
          </a:stretch>
        </p:blipFill>
        <p:spPr>
          <a:xfrm>
            <a:off x="6281928" y="4160520"/>
            <a:ext cx="201168" cy="201168"/>
          </a:xfrm>
          <a:prstGeom prst="rect">
            <a:avLst/>
          </a:prstGeom>
        </p:spPr>
      </p:pic>
      <p:sp>
        <p:nvSpPr>
          <p:cNvPr id="51" name="Text 31"/>
          <p:cNvSpPr txBox="1"/>
          <p:nvPr/>
        </p:nvSpPr>
        <p:spPr>
          <a:xfrm>
            <a:off x="6583680" y="3977640"/>
            <a:ext cx="1920240" cy="594360"/>
          </a:xfrm>
          <a:prstGeom prst="rect">
            <a:avLst/>
          </a:prstGeom>
          <a:noFill/>
          <a:ln/>
        </p:spPr>
        <p:txBody>
          <a:bodyPr wrap="square" lIns="0" tIns="0" rIns="0" bIns="0" rtlCol="0" anchor="ctr"/>
          <a:lstStyle/>
          <a:p>
            <a:pPr indent="0" marL="0">
              <a:buNone/>
            </a:pPr>
            <a:r>
              <a:rPr lang="en-US" sz="950" dirty="0">
                <a:solidFill>
                  <a:srgbClr val="8A2A2A"/>
                </a:solidFill>
                <a:latin typeface="Calibri" pitchFamily="34" charset="0"/>
                <a:ea typeface="Calibri" pitchFamily="34" charset="-122"/>
                <a:cs typeface="Calibri" pitchFamily="34" charset="-120"/>
              </a:rPr>
              <a:t>Upstream history squashed; version label unverified</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000" b="1" spc="200" kern="0" dirty="0">
                <a:solidFill>
                  <a:srgbClr val="0FA3B1"/>
                </a:solidFill>
                <a:latin typeface="Arial" pitchFamily="34" charset="0"/>
                <a:ea typeface="Arial" pitchFamily="34" charset="-122"/>
                <a:cs typeface="Arial" pitchFamily="34" charset="-120"/>
              </a:rPr>
              <a:t>INTENT LAYER · CER-INTENT</a:t>
            </a:r>
            <a:endParaRPr lang="en-US" sz="10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400" b="1" dirty="0">
                <a:solidFill>
                  <a:srgbClr val="0B1D33"/>
                </a:solidFill>
                <a:latin typeface="Arial" pitchFamily="34" charset="0"/>
                <a:ea typeface="Arial" pitchFamily="34" charset="-122"/>
                <a:cs typeface="Arial" pitchFamily="34" charset="-120"/>
              </a:rPr>
              <a:t>From a sentence to device configuration</a:t>
            </a:r>
            <a:endParaRPr lang="en-US" sz="2400" dirty="0"/>
          </a:p>
        </p:txBody>
      </p:sp>
      <p:sp>
        <p:nvSpPr>
          <p:cNvPr id="4" name="Shape 2"/>
          <p:cNvSpPr/>
          <p:nvPr/>
        </p:nvSpPr>
        <p:spPr>
          <a:xfrm>
            <a:off x="457200" y="1188720"/>
            <a:ext cx="1572768" cy="1234440"/>
          </a:xfrm>
          <a:prstGeom prst="roundRect">
            <a:avLst>
              <a:gd name="adj" fmla="val 5926"/>
            </a:avLst>
          </a:prstGeom>
          <a:solidFill>
            <a:srgbClr val="F2F5F8"/>
          </a:solidFill>
          <a:ln w="12700">
            <a:solidFill>
              <a:srgbClr val="F2F5F8"/>
            </a:solidFill>
            <a:prstDash val="solid"/>
          </a:ln>
        </p:spPr>
      </p:sp>
      <p:sp>
        <p:nvSpPr>
          <p:cNvPr id="5" name="Shape 3"/>
          <p:cNvSpPr/>
          <p:nvPr/>
        </p:nvSpPr>
        <p:spPr>
          <a:xfrm>
            <a:off x="585216" y="1298448"/>
            <a:ext cx="384048" cy="384048"/>
          </a:xfrm>
          <a:prstGeom prst="ellipse">
            <a:avLst/>
          </a:prstGeom>
          <a:solidFill>
            <a:srgbClr val="7C5CFF"/>
          </a:solidFill>
          <a:ln w="12700">
            <a:solidFill>
              <a:srgbClr val="7C5CFF"/>
            </a:solidFill>
            <a:prstDash val="solid"/>
          </a:ln>
        </p:spPr>
      </p:sp>
      <p:pic>
        <p:nvPicPr>
          <p:cNvPr id="6" name="Image 0" descr="preencoded.png">    </p:cNvPr>
          <p:cNvPicPr>
            <a:picLocks noChangeAspect="1"/>
          </p:cNvPicPr>
          <p:nvPr/>
        </p:nvPicPr>
        <p:blipFill>
          <a:blip r:embed="rId1"/>
          <a:stretch>
            <a:fillRect/>
          </a:stretch>
        </p:blipFill>
        <p:spPr>
          <a:xfrm>
            <a:off x="681228" y="1394460"/>
            <a:ext cx="192024" cy="192024"/>
          </a:xfrm>
          <a:prstGeom prst="rect">
            <a:avLst/>
          </a:prstGeom>
        </p:spPr>
      </p:pic>
      <p:sp>
        <p:nvSpPr>
          <p:cNvPr id="7" name="Text 4"/>
          <p:cNvSpPr txBox="1"/>
          <p:nvPr/>
        </p:nvSpPr>
        <p:spPr>
          <a:xfrm>
            <a:off x="1042416" y="1335024"/>
            <a:ext cx="932688" cy="274320"/>
          </a:xfrm>
          <a:prstGeom prst="rect">
            <a:avLst/>
          </a:prstGeom>
          <a:noFill/>
          <a:ln/>
        </p:spPr>
        <p:txBody>
          <a:bodyPr wrap="square" lIns="0" tIns="0" rIns="0" bIns="0" rtlCol="0" anchor="ctr"/>
          <a:lstStyle/>
          <a:p>
            <a:pPr indent="0" marL="0">
              <a:buNone/>
            </a:pPr>
            <a:r>
              <a:rPr lang="en-US" sz="1150" b="1" dirty="0">
                <a:solidFill>
                  <a:srgbClr val="0B1D33"/>
                </a:solidFill>
                <a:latin typeface="Arial" pitchFamily="34" charset="0"/>
                <a:ea typeface="Arial" pitchFamily="34" charset="-122"/>
                <a:cs typeface="Arial" pitchFamily="34" charset="-120"/>
              </a:rPr>
              <a:t>1  Parse</a:t>
            </a:r>
            <a:endParaRPr lang="en-US" sz="1150" dirty="0"/>
          </a:p>
        </p:txBody>
      </p:sp>
      <p:sp>
        <p:nvSpPr>
          <p:cNvPr id="8" name="Text 5"/>
          <p:cNvSpPr txBox="1"/>
          <p:nvPr/>
        </p:nvSpPr>
        <p:spPr>
          <a:xfrm>
            <a:off x="585216" y="1737360"/>
            <a:ext cx="1344168" cy="329184"/>
          </a:xfrm>
          <a:prstGeom prst="rect">
            <a:avLst/>
          </a:prstGeom>
          <a:noFill/>
          <a:ln/>
        </p:spPr>
        <p:txBody>
          <a:bodyPr wrap="square" lIns="0" tIns="0" rIns="0" bIns="0" rtlCol="0" anchor="t"/>
          <a:lstStyle/>
          <a:p>
            <a:pPr indent="0" marL="0">
              <a:buNone/>
            </a:pPr>
            <a:r>
              <a:rPr lang="en-US" sz="950" dirty="0">
                <a:solidFill>
                  <a:srgbClr val="5A6B7D"/>
                </a:solidFill>
                <a:latin typeface="Calibri" pitchFamily="34" charset="0"/>
                <a:ea typeface="Calibri" pitchFamily="34" charset="-122"/>
                <a:cs typeface="Calibri" pitchFamily="34" charset="-120"/>
              </a:rPr>
              <a:t>Gemini 1.5 Flash, regex fallback</a:t>
            </a:r>
            <a:endParaRPr lang="en-US" sz="950" dirty="0"/>
          </a:p>
        </p:txBody>
      </p:sp>
      <p:sp>
        <p:nvSpPr>
          <p:cNvPr id="9" name="Shape 6"/>
          <p:cNvSpPr/>
          <p:nvPr/>
        </p:nvSpPr>
        <p:spPr>
          <a:xfrm>
            <a:off x="585216" y="2103120"/>
            <a:ext cx="868680" cy="201168"/>
          </a:xfrm>
          <a:prstGeom prst="roundRect">
            <a:avLst>
              <a:gd name="adj" fmla="val 50000"/>
            </a:avLst>
          </a:prstGeom>
          <a:solidFill>
            <a:srgbClr val="22A06B"/>
          </a:solidFill>
          <a:ln w="12700">
            <a:solidFill>
              <a:srgbClr val="22A06B"/>
            </a:solidFill>
            <a:prstDash val="solid"/>
          </a:ln>
        </p:spPr>
      </p:sp>
      <p:sp>
        <p:nvSpPr>
          <p:cNvPr id="10" name="Text 7"/>
          <p:cNvSpPr txBox="1"/>
          <p:nvPr/>
        </p:nvSpPr>
        <p:spPr>
          <a:xfrm>
            <a:off x="585216" y="2103120"/>
            <a:ext cx="868680" cy="201168"/>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Arial" pitchFamily="34" charset="0"/>
                <a:ea typeface="Arial" pitchFamily="34" charset="-122"/>
                <a:cs typeface="Arial" pitchFamily="34" charset="-120"/>
              </a:rPr>
              <a:t>IMPLEMENTED</a:t>
            </a:r>
            <a:endParaRPr lang="en-US" sz="700" dirty="0"/>
          </a:p>
        </p:txBody>
      </p:sp>
      <p:sp>
        <p:nvSpPr>
          <p:cNvPr id="11" name="Shape 8"/>
          <p:cNvSpPr/>
          <p:nvPr/>
        </p:nvSpPr>
        <p:spPr>
          <a:xfrm>
            <a:off x="2029968" y="1801368"/>
            <a:ext cx="91440" cy="0"/>
          </a:xfrm>
          <a:prstGeom prst="line">
            <a:avLst/>
          </a:prstGeom>
          <a:noFill/>
          <a:ln w="22225">
            <a:solidFill>
              <a:srgbClr val="0B1D33"/>
            </a:solidFill>
            <a:prstDash val="solid"/>
            <a:headEnd type="none"/>
            <a:tailEnd type="triangle"/>
          </a:ln>
        </p:spPr>
      </p:sp>
      <p:sp>
        <p:nvSpPr>
          <p:cNvPr id="12" name="Shape 9"/>
          <p:cNvSpPr/>
          <p:nvPr/>
        </p:nvSpPr>
        <p:spPr>
          <a:xfrm>
            <a:off x="2121408" y="1188720"/>
            <a:ext cx="1572768" cy="1234440"/>
          </a:xfrm>
          <a:prstGeom prst="roundRect">
            <a:avLst>
              <a:gd name="adj" fmla="val 5926"/>
            </a:avLst>
          </a:prstGeom>
          <a:solidFill>
            <a:srgbClr val="F2F5F8"/>
          </a:solidFill>
          <a:ln w="12700">
            <a:solidFill>
              <a:srgbClr val="F2F5F8"/>
            </a:solidFill>
            <a:prstDash val="solid"/>
          </a:ln>
        </p:spPr>
      </p:sp>
      <p:sp>
        <p:nvSpPr>
          <p:cNvPr id="13" name="Shape 10"/>
          <p:cNvSpPr/>
          <p:nvPr/>
        </p:nvSpPr>
        <p:spPr>
          <a:xfrm>
            <a:off x="2249424" y="1298448"/>
            <a:ext cx="384048" cy="384048"/>
          </a:xfrm>
          <a:prstGeom prst="ellipse">
            <a:avLst/>
          </a:prstGeom>
          <a:solidFill>
            <a:srgbClr val="7C5CFF"/>
          </a:solidFill>
          <a:ln w="12700">
            <a:solidFill>
              <a:srgbClr val="7C5CFF"/>
            </a:solidFill>
            <a:prstDash val="solid"/>
          </a:ln>
        </p:spPr>
      </p:sp>
      <p:pic>
        <p:nvPicPr>
          <p:cNvPr id="14" name="Image 1" descr="preencoded.png">    </p:cNvPr>
          <p:cNvPicPr>
            <a:picLocks noChangeAspect="1"/>
          </p:cNvPicPr>
          <p:nvPr/>
        </p:nvPicPr>
        <p:blipFill>
          <a:blip r:embed="rId2"/>
          <a:stretch>
            <a:fillRect/>
          </a:stretch>
        </p:blipFill>
        <p:spPr>
          <a:xfrm>
            <a:off x="2345436" y="1394460"/>
            <a:ext cx="192024" cy="192024"/>
          </a:xfrm>
          <a:prstGeom prst="rect">
            <a:avLst/>
          </a:prstGeom>
        </p:spPr>
      </p:pic>
      <p:sp>
        <p:nvSpPr>
          <p:cNvPr id="15" name="Text 11"/>
          <p:cNvSpPr txBox="1"/>
          <p:nvPr/>
        </p:nvSpPr>
        <p:spPr>
          <a:xfrm>
            <a:off x="2706624" y="1335024"/>
            <a:ext cx="932688" cy="274320"/>
          </a:xfrm>
          <a:prstGeom prst="rect">
            <a:avLst/>
          </a:prstGeom>
          <a:noFill/>
          <a:ln/>
        </p:spPr>
        <p:txBody>
          <a:bodyPr wrap="square" lIns="0" tIns="0" rIns="0" bIns="0" rtlCol="0" anchor="ctr"/>
          <a:lstStyle/>
          <a:p>
            <a:pPr indent="0" marL="0">
              <a:buNone/>
            </a:pPr>
            <a:r>
              <a:rPr lang="en-US" sz="1150" b="1" dirty="0">
                <a:solidFill>
                  <a:srgbClr val="0B1D33"/>
                </a:solidFill>
                <a:latin typeface="Arial" pitchFamily="34" charset="0"/>
                <a:ea typeface="Arial" pitchFamily="34" charset="-122"/>
                <a:cs typeface="Arial" pitchFamily="34" charset="-120"/>
              </a:rPr>
              <a:t>2  Validate</a:t>
            </a:r>
            <a:endParaRPr lang="en-US" sz="1150" dirty="0"/>
          </a:p>
        </p:txBody>
      </p:sp>
      <p:sp>
        <p:nvSpPr>
          <p:cNvPr id="16" name="Text 12"/>
          <p:cNvSpPr txBox="1"/>
          <p:nvPr/>
        </p:nvSpPr>
        <p:spPr>
          <a:xfrm>
            <a:off x="2249424" y="1737360"/>
            <a:ext cx="1344168" cy="329184"/>
          </a:xfrm>
          <a:prstGeom prst="rect">
            <a:avLst/>
          </a:prstGeom>
          <a:noFill/>
          <a:ln/>
        </p:spPr>
        <p:txBody>
          <a:bodyPr wrap="square" lIns="0" tIns="0" rIns="0" bIns="0" rtlCol="0" anchor="t"/>
          <a:lstStyle/>
          <a:p>
            <a:pPr indent="0" marL="0">
              <a:buNone/>
            </a:pPr>
            <a:r>
              <a:rPr lang="en-US" sz="950" dirty="0">
                <a:solidFill>
                  <a:srgbClr val="5A6B7D"/>
                </a:solidFill>
                <a:latin typeface="Calibri" pitchFamily="34" charset="0"/>
                <a:ea typeface="Calibri" pitchFamily="34" charset="-122"/>
                <a:cs typeface="Calibri" pitchFamily="34" charset="-120"/>
              </a:rPr>
              <a:t>topology + capability matrix</a:t>
            </a:r>
            <a:endParaRPr lang="en-US" sz="950" dirty="0"/>
          </a:p>
        </p:txBody>
      </p:sp>
      <p:sp>
        <p:nvSpPr>
          <p:cNvPr id="17" name="Shape 13"/>
          <p:cNvSpPr/>
          <p:nvPr/>
        </p:nvSpPr>
        <p:spPr>
          <a:xfrm>
            <a:off x="2249424" y="2103120"/>
            <a:ext cx="868680" cy="201168"/>
          </a:xfrm>
          <a:prstGeom prst="roundRect">
            <a:avLst>
              <a:gd name="adj" fmla="val 50000"/>
            </a:avLst>
          </a:prstGeom>
          <a:solidFill>
            <a:srgbClr val="22A06B"/>
          </a:solidFill>
          <a:ln w="12700">
            <a:solidFill>
              <a:srgbClr val="22A06B"/>
            </a:solidFill>
            <a:prstDash val="solid"/>
          </a:ln>
        </p:spPr>
      </p:sp>
      <p:sp>
        <p:nvSpPr>
          <p:cNvPr id="18" name="Text 14"/>
          <p:cNvSpPr txBox="1"/>
          <p:nvPr/>
        </p:nvSpPr>
        <p:spPr>
          <a:xfrm>
            <a:off x="2249424" y="2103120"/>
            <a:ext cx="868680" cy="201168"/>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Arial" pitchFamily="34" charset="0"/>
                <a:ea typeface="Arial" pitchFamily="34" charset="-122"/>
                <a:cs typeface="Arial" pitchFamily="34" charset="-120"/>
              </a:rPr>
              <a:t>IMPLEMENTED</a:t>
            </a:r>
            <a:endParaRPr lang="en-US" sz="700" dirty="0"/>
          </a:p>
        </p:txBody>
      </p:sp>
      <p:sp>
        <p:nvSpPr>
          <p:cNvPr id="19" name="Shape 15"/>
          <p:cNvSpPr/>
          <p:nvPr/>
        </p:nvSpPr>
        <p:spPr>
          <a:xfrm>
            <a:off x="3694176" y="1801368"/>
            <a:ext cx="91440" cy="0"/>
          </a:xfrm>
          <a:prstGeom prst="line">
            <a:avLst/>
          </a:prstGeom>
          <a:noFill/>
          <a:ln w="22225">
            <a:solidFill>
              <a:srgbClr val="0B1D33"/>
            </a:solidFill>
            <a:prstDash val="solid"/>
            <a:headEnd type="none"/>
            <a:tailEnd type="triangle"/>
          </a:ln>
        </p:spPr>
      </p:sp>
      <p:sp>
        <p:nvSpPr>
          <p:cNvPr id="20" name="Shape 16"/>
          <p:cNvSpPr/>
          <p:nvPr/>
        </p:nvSpPr>
        <p:spPr>
          <a:xfrm>
            <a:off x="3785616" y="1188720"/>
            <a:ext cx="1572768" cy="1234440"/>
          </a:xfrm>
          <a:prstGeom prst="roundRect">
            <a:avLst>
              <a:gd name="adj" fmla="val 5926"/>
            </a:avLst>
          </a:prstGeom>
          <a:solidFill>
            <a:srgbClr val="F2F5F8"/>
          </a:solidFill>
          <a:ln w="12700">
            <a:solidFill>
              <a:srgbClr val="F2F5F8"/>
            </a:solidFill>
            <a:prstDash val="solid"/>
          </a:ln>
        </p:spPr>
      </p:sp>
      <p:sp>
        <p:nvSpPr>
          <p:cNvPr id="21" name="Shape 17"/>
          <p:cNvSpPr/>
          <p:nvPr/>
        </p:nvSpPr>
        <p:spPr>
          <a:xfrm>
            <a:off x="3913632" y="1298448"/>
            <a:ext cx="384048" cy="384048"/>
          </a:xfrm>
          <a:prstGeom prst="ellipse">
            <a:avLst/>
          </a:prstGeom>
          <a:solidFill>
            <a:srgbClr val="7C5CFF"/>
          </a:solidFill>
          <a:ln w="12700">
            <a:solidFill>
              <a:srgbClr val="7C5CFF"/>
            </a:solidFill>
            <a:prstDash val="solid"/>
          </a:ln>
        </p:spPr>
      </p:sp>
      <p:pic>
        <p:nvPicPr>
          <p:cNvPr id="22" name="Image 2" descr="preencoded.png">    </p:cNvPr>
          <p:cNvPicPr>
            <a:picLocks noChangeAspect="1"/>
          </p:cNvPicPr>
          <p:nvPr/>
        </p:nvPicPr>
        <p:blipFill>
          <a:blip r:embed="rId3"/>
          <a:stretch>
            <a:fillRect/>
          </a:stretch>
        </p:blipFill>
        <p:spPr>
          <a:xfrm>
            <a:off x="4009644" y="1394460"/>
            <a:ext cx="192024" cy="192024"/>
          </a:xfrm>
          <a:prstGeom prst="rect">
            <a:avLst/>
          </a:prstGeom>
        </p:spPr>
      </p:pic>
      <p:sp>
        <p:nvSpPr>
          <p:cNvPr id="23" name="Text 18"/>
          <p:cNvSpPr txBox="1"/>
          <p:nvPr/>
        </p:nvSpPr>
        <p:spPr>
          <a:xfrm>
            <a:off x="4370832" y="1335024"/>
            <a:ext cx="932688" cy="274320"/>
          </a:xfrm>
          <a:prstGeom prst="rect">
            <a:avLst/>
          </a:prstGeom>
          <a:noFill/>
          <a:ln/>
        </p:spPr>
        <p:txBody>
          <a:bodyPr wrap="square" lIns="0" tIns="0" rIns="0" bIns="0" rtlCol="0" anchor="ctr"/>
          <a:lstStyle/>
          <a:p>
            <a:pPr indent="0" marL="0">
              <a:buNone/>
            </a:pPr>
            <a:r>
              <a:rPr lang="en-US" sz="1150" b="1" dirty="0">
                <a:solidFill>
                  <a:srgbClr val="0B1D33"/>
                </a:solidFill>
                <a:latin typeface="Arial" pitchFamily="34" charset="0"/>
                <a:ea typeface="Arial" pitchFamily="34" charset="-122"/>
                <a:cs typeface="Arial" pitchFamily="34" charset="-120"/>
              </a:rPr>
              <a:t>3  Plan</a:t>
            </a:r>
            <a:endParaRPr lang="en-US" sz="1150" dirty="0"/>
          </a:p>
        </p:txBody>
      </p:sp>
      <p:sp>
        <p:nvSpPr>
          <p:cNvPr id="24" name="Text 19"/>
          <p:cNvSpPr txBox="1"/>
          <p:nvPr/>
        </p:nvSpPr>
        <p:spPr>
          <a:xfrm>
            <a:off x="3913632" y="1737360"/>
            <a:ext cx="1344168" cy="329184"/>
          </a:xfrm>
          <a:prstGeom prst="rect">
            <a:avLst/>
          </a:prstGeom>
          <a:noFill/>
          <a:ln/>
        </p:spPr>
        <p:txBody>
          <a:bodyPr wrap="square" lIns="0" tIns="0" rIns="0" bIns="0" rtlCol="0" anchor="t"/>
          <a:lstStyle/>
          <a:p>
            <a:pPr indent="0" marL="0">
              <a:buNone/>
            </a:pPr>
            <a:r>
              <a:rPr lang="en-US" sz="950" dirty="0">
                <a:solidFill>
                  <a:srgbClr val="5A6B7D"/>
                </a:solidFill>
                <a:latin typeface="Calibri" pitchFamily="34" charset="0"/>
                <a:ea typeface="Calibri" pitchFamily="34" charset="-122"/>
                <a:cs typeface="Calibri" pitchFamily="34" charset="-120"/>
              </a:rPr>
              <a:t>9 rule-based skills</a:t>
            </a:r>
            <a:endParaRPr lang="en-US" sz="950" dirty="0"/>
          </a:p>
        </p:txBody>
      </p:sp>
      <p:sp>
        <p:nvSpPr>
          <p:cNvPr id="25" name="Shape 20"/>
          <p:cNvSpPr/>
          <p:nvPr/>
        </p:nvSpPr>
        <p:spPr>
          <a:xfrm>
            <a:off x="3913632" y="2103120"/>
            <a:ext cx="868680" cy="201168"/>
          </a:xfrm>
          <a:prstGeom prst="roundRect">
            <a:avLst>
              <a:gd name="adj" fmla="val 50000"/>
            </a:avLst>
          </a:prstGeom>
          <a:solidFill>
            <a:srgbClr val="E8912D"/>
          </a:solidFill>
          <a:ln w="12700">
            <a:solidFill>
              <a:srgbClr val="E8912D"/>
            </a:solidFill>
            <a:prstDash val="solid"/>
          </a:ln>
        </p:spPr>
      </p:sp>
      <p:sp>
        <p:nvSpPr>
          <p:cNvPr id="26" name="Text 21"/>
          <p:cNvSpPr txBox="1"/>
          <p:nvPr/>
        </p:nvSpPr>
        <p:spPr>
          <a:xfrm>
            <a:off x="3913632" y="2103120"/>
            <a:ext cx="868680" cy="201168"/>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Arial" pitchFamily="34" charset="0"/>
                <a:ea typeface="Arial" pitchFamily="34" charset="-122"/>
                <a:cs typeface="Arial" pitchFamily="34" charset="-120"/>
              </a:rPr>
              <a:t>PARTIAL</a:t>
            </a:r>
            <a:endParaRPr lang="en-US" sz="700" dirty="0"/>
          </a:p>
        </p:txBody>
      </p:sp>
      <p:sp>
        <p:nvSpPr>
          <p:cNvPr id="27" name="Shape 22"/>
          <p:cNvSpPr/>
          <p:nvPr/>
        </p:nvSpPr>
        <p:spPr>
          <a:xfrm>
            <a:off x="5358384" y="1801368"/>
            <a:ext cx="91440" cy="0"/>
          </a:xfrm>
          <a:prstGeom prst="line">
            <a:avLst/>
          </a:prstGeom>
          <a:noFill/>
          <a:ln w="22225">
            <a:solidFill>
              <a:srgbClr val="0B1D33"/>
            </a:solidFill>
            <a:prstDash val="solid"/>
            <a:headEnd type="none"/>
            <a:tailEnd type="triangle"/>
          </a:ln>
        </p:spPr>
      </p:sp>
      <p:sp>
        <p:nvSpPr>
          <p:cNvPr id="28" name="Shape 23"/>
          <p:cNvSpPr/>
          <p:nvPr/>
        </p:nvSpPr>
        <p:spPr>
          <a:xfrm>
            <a:off x="5449824" y="1188720"/>
            <a:ext cx="1572768" cy="1234440"/>
          </a:xfrm>
          <a:prstGeom prst="roundRect">
            <a:avLst>
              <a:gd name="adj" fmla="val 5926"/>
            </a:avLst>
          </a:prstGeom>
          <a:solidFill>
            <a:srgbClr val="F2F5F8"/>
          </a:solidFill>
          <a:ln w="12700">
            <a:solidFill>
              <a:srgbClr val="F2F5F8"/>
            </a:solidFill>
            <a:prstDash val="solid"/>
          </a:ln>
        </p:spPr>
      </p:sp>
      <p:sp>
        <p:nvSpPr>
          <p:cNvPr id="29" name="Shape 24"/>
          <p:cNvSpPr/>
          <p:nvPr/>
        </p:nvSpPr>
        <p:spPr>
          <a:xfrm>
            <a:off x="5577840" y="1298448"/>
            <a:ext cx="384048" cy="384048"/>
          </a:xfrm>
          <a:prstGeom prst="ellipse">
            <a:avLst/>
          </a:prstGeom>
          <a:solidFill>
            <a:srgbClr val="7C5CFF"/>
          </a:solidFill>
          <a:ln w="12700">
            <a:solidFill>
              <a:srgbClr val="7C5CFF"/>
            </a:solidFill>
            <a:prstDash val="solid"/>
          </a:ln>
        </p:spPr>
      </p:sp>
      <p:pic>
        <p:nvPicPr>
          <p:cNvPr id="30" name="Image 3" descr="preencoded.png">    </p:cNvPr>
          <p:cNvPicPr>
            <a:picLocks noChangeAspect="1"/>
          </p:cNvPicPr>
          <p:nvPr/>
        </p:nvPicPr>
        <p:blipFill>
          <a:blip r:embed="rId4"/>
          <a:stretch>
            <a:fillRect/>
          </a:stretch>
        </p:blipFill>
        <p:spPr>
          <a:xfrm>
            <a:off x="5673852" y="1394460"/>
            <a:ext cx="192024" cy="192024"/>
          </a:xfrm>
          <a:prstGeom prst="rect">
            <a:avLst/>
          </a:prstGeom>
        </p:spPr>
      </p:pic>
      <p:sp>
        <p:nvSpPr>
          <p:cNvPr id="31" name="Text 25"/>
          <p:cNvSpPr txBox="1"/>
          <p:nvPr/>
        </p:nvSpPr>
        <p:spPr>
          <a:xfrm>
            <a:off x="6035040" y="1335024"/>
            <a:ext cx="932688" cy="274320"/>
          </a:xfrm>
          <a:prstGeom prst="rect">
            <a:avLst/>
          </a:prstGeom>
          <a:noFill/>
          <a:ln/>
        </p:spPr>
        <p:txBody>
          <a:bodyPr wrap="square" lIns="0" tIns="0" rIns="0" bIns="0" rtlCol="0" anchor="ctr"/>
          <a:lstStyle/>
          <a:p>
            <a:pPr indent="0" marL="0">
              <a:buNone/>
            </a:pPr>
            <a:r>
              <a:rPr lang="en-US" sz="1150" b="1" dirty="0">
                <a:solidFill>
                  <a:srgbClr val="0B1D33"/>
                </a:solidFill>
                <a:latin typeface="Arial" pitchFamily="34" charset="0"/>
                <a:ea typeface="Arial" pitchFamily="34" charset="-122"/>
                <a:cs typeface="Arial" pitchFamily="34" charset="-120"/>
              </a:rPr>
              <a:t>4  Approve</a:t>
            </a:r>
            <a:endParaRPr lang="en-US" sz="1150" dirty="0"/>
          </a:p>
        </p:txBody>
      </p:sp>
      <p:sp>
        <p:nvSpPr>
          <p:cNvPr id="32" name="Text 26"/>
          <p:cNvSpPr txBox="1"/>
          <p:nvPr/>
        </p:nvSpPr>
        <p:spPr>
          <a:xfrm>
            <a:off x="5577840" y="1737360"/>
            <a:ext cx="1344168" cy="329184"/>
          </a:xfrm>
          <a:prstGeom prst="rect">
            <a:avLst/>
          </a:prstGeom>
          <a:noFill/>
          <a:ln/>
        </p:spPr>
        <p:txBody>
          <a:bodyPr wrap="square" lIns="0" tIns="0" rIns="0" bIns="0" rtlCol="0" anchor="t"/>
          <a:lstStyle/>
          <a:p>
            <a:pPr indent="0" marL="0">
              <a:buNone/>
            </a:pPr>
            <a:r>
              <a:rPr lang="en-US" sz="950" dirty="0">
                <a:solidFill>
                  <a:srgbClr val="5A6B7D"/>
                </a:solidFill>
                <a:latin typeface="Calibri" pitchFamily="34" charset="0"/>
                <a:ea typeface="Calibri" pitchFamily="34" charset="-122"/>
                <a:cs typeface="Calibri" pitchFamily="34" charset="-120"/>
              </a:rPr>
              <a:t>human gate (HTTP 202)</a:t>
            </a:r>
            <a:endParaRPr lang="en-US" sz="950" dirty="0"/>
          </a:p>
        </p:txBody>
      </p:sp>
      <p:sp>
        <p:nvSpPr>
          <p:cNvPr id="33" name="Shape 27"/>
          <p:cNvSpPr/>
          <p:nvPr/>
        </p:nvSpPr>
        <p:spPr>
          <a:xfrm>
            <a:off x="5577840" y="2103120"/>
            <a:ext cx="868680" cy="201168"/>
          </a:xfrm>
          <a:prstGeom prst="roundRect">
            <a:avLst>
              <a:gd name="adj" fmla="val 50000"/>
            </a:avLst>
          </a:prstGeom>
          <a:solidFill>
            <a:srgbClr val="22A06B"/>
          </a:solidFill>
          <a:ln w="12700">
            <a:solidFill>
              <a:srgbClr val="22A06B"/>
            </a:solidFill>
            <a:prstDash val="solid"/>
          </a:ln>
        </p:spPr>
      </p:sp>
      <p:sp>
        <p:nvSpPr>
          <p:cNvPr id="34" name="Text 28"/>
          <p:cNvSpPr txBox="1"/>
          <p:nvPr/>
        </p:nvSpPr>
        <p:spPr>
          <a:xfrm>
            <a:off x="5577840" y="2103120"/>
            <a:ext cx="868680" cy="201168"/>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Arial" pitchFamily="34" charset="0"/>
                <a:ea typeface="Arial" pitchFamily="34" charset="-122"/>
                <a:cs typeface="Arial" pitchFamily="34" charset="-120"/>
              </a:rPr>
              <a:t>IMPLEMENTED</a:t>
            </a:r>
            <a:endParaRPr lang="en-US" sz="700" dirty="0"/>
          </a:p>
        </p:txBody>
      </p:sp>
      <p:sp>
        <p:nvSpPr>
          <p:cNvPr id="35" name="Shape 29"/>
          <p:cNvSpPr/>
          <p:nvPr/>
        </p:nvSpPr>
        <p:spPr>
          <a:xfrm>
            <a:off x="7022592" y="1801368"/>
            <a:ext cx="91440" cy="0"/>
          </a:xfrm>
          <a:prstGeom prst="line">
            <a:avLst/>
          </a:prstGeom>
          <a:noFill/>
          <a:ln w="22225">
            <a:solidFill>
              <a:srgbClr val="0B1D33"/>
            </a:solidFill>
            <a:prstDash val="solid"/>
            <a:headEnd type="none"/>
            <a:tailEnd type="triangle"/>
          </a:ln>
        </p:spPr>
      </p:sp>
      <p:sp>
        <p:nvSpPr>
          <p:cNvPr id="36" name="Shape 30"/>
          <p:cNvSpPr/>
          <p:nvPr/>
        </p:nvSpPr>
        <p:spPr>
          <a:xfrm>
            <a:off x="7114032" y="1188720"/>
            <a:ext cx="1572768" cy="1234440"/>
          </a:xfrm>
          <a:prstGeom prst="roundRect">
            <a:avLst>
              <a:gd name="adj" fmla="val 5926"/>
            </a:avLst>
          </a:prstGeom>
          <a:solidFill>
            <a:srgbClr val="F2F5F8"/>
          </a:solidFill>
          <a:ln w="12700">
            <a:solidFill>
              <a:srgbClr val="F2F5F8"/>
            </a:solidFill>
            <a:prstDash val="solid"/>
          </a:ln>
        </p:spPr>
      </p:sp>
      <p:sp>
        <p:nvSpPr>
          <p:cNvPr id="37" name="Shape 31"/>
          <p:cNvSpPr/>
          <p:nvPr/>
        </p:nvSpPr>
        <p:spPr>
          <a:xfrm>
            <a:off x="7242048" y="1298448"/>
            <a:ext cx="384048" cy="384048"/>
          </a:xfrm>
          <a:prstGeom prst="ellipse">
            <a:avLst/>
          </a:prstGeom>
          <a:solidFill>
            <a:srgbClr val="7C5CFF"/>
          </a:solidFill>
          <a:ln w="12700">
            <a:solidFill>
              <a:srgbClr val="7C5CFF"/>
            </a:solidFill>
            <a:prstDash val="solid"/>
          </a:ln>
        </p:spPr>
      </p:sp>
      <p:pic>
        <p:nvPicPr>
          <p:cNvPr id="38" name="Image 4" descr="preencoded.png">    </p:cNvPr>
          <p:cNvPicPr>
            <a:picLocks noChangeAspect="1"/>
          </p:cNvPicPr>
          <p:nvPr/>
        </p:nvPicPr>
        <p:blipFill>
          <a:blip r:embed="rId5"/>
          <a:stretch>
            <a:fillRect/>
          </a:stretch>
        </p:blipFill>
        <p:spPr>
          <a:xfrm>
            <a:off x="7338060" y="1394460"/>
            <a:ext cx="192024" cy="192024"/>
          </a:xfrm>
          <a:prstGeom prst="rect">
            <a:avLst/>
          </a:prstGeom>
        </p:spPr>
      </p:pic>
      <p:sp>
        <p:nvSpPr>
          <p:cNvPr id="39" name="Text 32"/>
          <p:cNvSpPr txBox="1"/>
          <p:nvPr/>
        </p:nvSpPr>
        <p:spPr>
          <a:xfrm>
            <a:off x="7699248" y="1335024"/>
            <a:ext cx="932688" cy="274320"/>
          </a:xfrm>
          <a:prstGeom prst="rect">
            <a:avLst/>
          </a:prstGeom>
          <a:noFill/>
          <a:ln/>
        </p:spPr>
        <p:txBody>
          <a:bodyPr wrap="square" lIns="0" tIns="0" rIns="0" bIns="0" rtlCol="0" anchor="ctr"/>
          <a:lstStyle/>
          <a:p>
            <a:pPr indent="0" marL="0">
              <a:buNone/>
            </a:pPr>
            <a:r>
              <a:rPr lang="en-US" sz="1150" b="1" dirty="0">
                <a:solidFill>
                  <a:srgbClr val="0B1D33"/>
                </a:solidFill>
                <a:latin typeface="Arial" pitchFamily="34" charset="0"/>
                <a:ea typeface="Arial" pitchFamily="34" charset="-122"/>
                <a:cs typeface="Arial" pitchFamily="34" charset="-120"/>
              </a:rPr>
              <a:t>5  Apply</a:t>
            </a:r>
            <a:endParaRPr lang="en-US" sz="1150" dirty="0"/>
          </a:p>
        </p:txBody>
      </p:sp>
      <p:sp>
        <p:nvSpPr>
          <p:cNvPr id="40" name="Text 33"/>
          <p:cNvSpPr txBox="1"/>
          <p:nvPr/>
        </p:nvSpPr>
        <p:spPr>
          <a:xfrm>
            <a:off x="7242048" y="1737360"/>
            <a:ext cx="1344168" cy="329184"/>
          </a:xfrm>
          <a:prstGeom prst="rect">
            <a:avLst/>
          </a:prstGeom>
          <a:noFill/>
          <a:ln/>
        </p:spPr>
        <p:txBody>
          <a:bodyPr wrap="square" lIns="0" tIns="0" rIns="0" bIns="0" rtlCol="0" anchor="t"/>
          <a:lstStyle/>
          <a:p>
            <a:pPr indent="0" marL="0">
              <a:buNone/>
            </a:pPr>
            <a:r>
              <a:rPr lang="en-US" sz="950" dirty="0">
                <a:solidFill>
                  <a:srgbClr val="5A6B7D"/>
                </a:solidFill>
                <a:latin typeface="Calibri" pitchFamily="34" charset="0"/>
                <a:ea typeface="Calibri" pitchFamily="34" charset="-122"/>
                <a:cs typeface="Calibri" pitchFamily="34" charset="-120"/>
              </a:rPr>
              <a:t>TFS · RESTCONF · simulated</a:t>
            </a:r>
            <a:endParaRPr lang="en-US" sz="950" dirty="0"/>
          </a:p>
        </p:txBody>
      </p:sp>
      <p:sp>
        <p:nvSpPr>
          <p:cNvPr id="41" name="Shape 34"/>
          <p:cNvSpPr/>
          <p:nvPr/>
        </p:nvSpPr>
        <p:spPr>
          <a:xfrm>
            <a:off x="7242048" y="2103120"/>
            <a:ext cx="868680" cy="201168"/>
          </a:xfrm>
          <a:prstGeom prst="roundRect">
            <a:avLst>
              <a:gd name="adj" fmla="val 50000"/>
            </a:avLst>
          </a:prstGeom>
          <a:solidFill>
            <a:srgbClr val="22A06B"/>
          </a:solidFill>
          <a:ln w="12700">
            <a:solidFill>
              <a:srgbClr val="22A06B"/>
            </a:solidFill>
            <a:prstDash val="solid"/>
          </a:ln>
        </p:spPr>
      </p:sp>
      <p:sp>
        <p:nvSpPr>
          <p:cNvPr id="42" name="Text 35"/>
          <p:cNvSpPr txBox="1"/>
          <p:nvPr/>
        </p:nvSpPr>
        <p:spPr>
          <a:xfrm>
            <a:off x="7242048" y="2103120"/>
            <a:ext cx="868680" cy="201168"/>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Arial" pitchFamily="34" charset="0"/>
                <a:ea typeface="Arial" pitchFamily="34" charset="-122"/>
                <a:cs typeface="Arial" pitchFamily="34" charset="-120"/>
              </a:rPr>
              <a:t>IMPLEMENTED</a:t>
            </a:r>
            <a:endParaRPr lang="en-US" sz="700" dirty="0"/>
          </a:p>
        </p:txBody>
      </p:sp>
      <p:graphicFrame>
        <p:nvGraphicFramePr>
          <p:cNvPr id="43" name="Chart 0" descr=""/>
          <p:cNvGraphicFramePr/>
          <p:nvPr/>
        </p:nvGraphicFramePr>
        <p:xfrm>
          <a:off x="365760" y="2606040"/>
          <a:ext cx="4846320" cy="2240280"/>
        </p:xfrm>
        <a:graphic xmlns:a="http://schemas.openxmlformats.org/drawingml/2006/main">
          <a:graphicData uri="http://schemas.openxmlformats.org/drawingml/2006/chart">
            <c:chart xmlns:c="http://schemas.openxmlformats.org/drawingml/2006/chart" r:id="rId6"/>
          </a:graphicData>
        </a:graphic>
      </p:graphicFrame>
      <p:sp>
        <p:nvSpPr>
          <p:cNvPr id="44" name="Shape 36"/>
          <p:cNvSpPr/>
          <p:nvPr/>
        </p:nvSpPr>
        <p:spPr>
          <a:xfrm>
            <a:off x="5486400" y="2651760"/>
            <a:ext cx="3200400" cy="2148840"/>
          </a:xfrm>
          <a:prstGeom prst="roundRect">
            <a:avLst>
              <a:gd name="adj" fmla="val 3404"/>
            </a:avLst>
          </a:prstGeom>
          <a:solidFill>
            <a:srgbClr val="F2F5F8"/>
          </a:solidFill>
          <a:ln w="12700">
            <a:solidFill>
              <a:srgbClr val="F2F5F8"/>
            </a:solidFill>
            <a:prstDash val="solid"/>
          </a:ln>
        </p:spPr>
      </p:sp>
      <p:sp>
        <p:nvSpPr>
          <p:cNvPr id="45" name="Text 37"/>
          <p:cNvSpPr txBox="1"/>
          <p:nvPr/>
        </p:nvSpPr>
        <p:spPr>
          <a:xfrm>
            <a:off x="5669280" y="2743200"/>
            <a:ext cx="2834640" cy="256032"/>
          </a:xfrm>
          <a:prstGeom prst="rect">
            <a:avLst/>
          </a:prstGeom>
          <a:noFill/>
          <a:ln/>
        </p:spPr>
        <p:txBody>
          <a:bodyPr wrap="square" lIns="0" tIns="0" rIns="0" bIns="0" rtlCol="0" anchor="t"/>
          <a:lstStyle/>
          <a:p>
            <a:pPr indent="0" marL="0">
              <a:buNone/>
            </a:pPr>
            <a:r>
              <a:rPr lang="en-US" sz="1100" b="1" dirty="0">
                <a:solidFill>
                  <a:srgbClr val="0B1D33"/>
                </a:solidFill>
                <a:latin typeface="Arial" pitchFamily="34" charset="0"/>
                <a:ea typeface="Arial" pitchFamily="34" charset="-122"/>
                <a:cs typeface="Arial" pitchFamily="34" charset="-120"/>
              </a:rPr>
              <a:t>Real operator inputs</a:t>
            </a:r>
            <a:endParaRPr lang="en-US" sz="1100" dirty="0"/>
          </a:p>
        </p:txBody>
      </p:sp>
      <p:sp>
        <p:nvSpPr>
          <p:cNvPr id="46" name="Shape 38"/>
          <p:cNvSpPr/>
          <p:nvPr/>
        </p:nvSpPr>
        <p:spPr>
          <a:xfrm>
            <a:off x="5623560" y="3063240"/>
            <a:ext cx="2926080" cy="493776"/>
          </a:xfrm>
          <a:prstGeom prst="roundRect">
            <a:avLst>
              <a:gd name="adj" fmla="val 11111"/>
            </a:avLst>
          </a:prstGeom>
          <a:solidFill>
            <a:srgbClr val="FFFFFF"/>
          </a:solidFill>
          <a:ln w="12700">
            <a:solidFill>
              <a:srgbClr val="FFFFFF"/>
            </a:solidFill>
            <a:prstDash val="solid"/>
          </a:ln>
        </p:spPr>
      </p:sp>
      <p:sp>
        <p:nvSpPr>
          <p:cNvPr id="47" name="Text 39"/>
          <p:cNvSpPr txBox="1"/>
          <p:nvPr/>
        </p:nvSpPr>
        <p:spPr>
          <a:xfrm>
            <a:off x="5715000" y="3063240"/>
            <a:ext cx="2743200" cy="493776"/>
          </a:xfrm>
          <a:prstGeom prst="rect">
            <a:avLst/>
          </a:prstGeom>
          <a:noFill/>
          <a:ln/>
        </p:spPr>
        <p:txBody>
          <a:bodyPr wrap="square" lIns="0" tIns="0" rIns="0" bIns="0" rtlCol="0" anchor="ctr"/>
          <a:lstStyle/>
          <a:p>
            <a:pPr indent="0" marL="0">
              <a:buNone/>
            </a:pPr>
            <a:r>
              <a:rPr lang="en-US" sz="950" i="1" dirty="0">
                <a:solidFill>
                  <a:srgbClr val="1A2B3C"/>
                </a:solidFill>
                <a:latin typeface="Calibri" pitchFamily="34" charset="0"/>
                <a:ea typeface="Calibri" pitchFamily="34" charset="-122"/>
                <a:cs typeface="Calibri" pitchFamily="34" charset="-120"/>
              </a:rPr>
              <a:t>“Increase capacity on link-A-B to 5 Gbps for eMBB slice”</a:t>
            </a:r>
            <a:endParaRPr lang="en-US" sz="950" dirty="0"/>
          </a:p>
        </p:txBody>
      </p:sp>
      <p:sp>
        <p:nvSpPr>
          <p:cNvPr id="48" name="Shape 40"/>
          <p:cNvSpPr/>
          <p:nvPr/>
        </p:nvSpPr>
        <p:spPr>
          <a:xfrm>
            <a:off x="5623560" y="3630168"/>
            <a:ext cx="2926080" cy="493776"/>
          </a:xfrm>
          <a:prstGeom prst="roundRect">
            <a:avLst>
              <a:gd name="adj" fmla="val 11111"/>
            </a:avLst>
          </a:prstGeom>
          <a:solidFill>
            <a:srgbClr val="FFFFFF"/>
          </a:solidFill>
          <a:ln w="12700">
            <a:solidFill>
              <a:srgbClr val="FFFFFF"/>
            </a:solidFill>
            <a:prstDash val="solid"/>
          </a:ln>
        </p:spPr>
      </p:sp>
      <p:sp>
        <p:nvSpPr>
          <p:cNvPr id="49" name="Text 41"/>
          <p:cNvSpPr txBox="1"/>
          <p:nvPr/>
        </p:nvSpPr>
        <p:spPr>
          <a:xfrm>
            <a:off x="5715000" y="3630168"/>
            <a:ext cx="2743200" cy="493776"/>
          </a:xfrm>
          <a:prstGeom prst="rect">
            <a:avLst/>
          </a:prstGeom>
          <a:noFill/>
          <a:ln/>
        </p:spPr>
        <p:txBody>
          <a:bodyPr wrap="square" lIns="0" tIns="0" rIns="0" bIns="0" rtlCol="0" anchor="ctr"/>
          <a:lstStyle/>
          <a:p>
            <a:pPr indent="0" marL="0">
              <a:buNone/>
            </a:pPr>
            <a:r>
              <a:rPr lang="en-US" sz="950" i="1" dirty="0">
                <a:solidFill>
                  <a:srgbClr val="1A2B3C"/>
                </a:solidFill>
                <a:latin typeface="Calibri" pitchFamily="34" charset="0"/>
                <a:ea typeface="Calibri" pitchFamily="34" charset="-122"/>
                <a:cs typeface="Calibri" pitchFamily="34" charset="-120"/>
              </a:rPr>
              <a:t>“Set ACM range 64QAM to 2048QAM on sector-south links”</a:t>
            </a:r>
            <a:endParaRPr lang="en-US" sz="950" dirty="0"/>
          </a:p>
        </p:txBody>
      </p:sp>
      <p:sp>
        <p:nvSpPr>
          <p:cNvPr id="50" name="Shape 42"/>
          <p:cNvSpPr/>
          <p:nvPr/>
        </p:nvSpPr>
        <p:spPr>
          <a:xfrm>
            <a:off x="5623560" y="4197096"/>
            <a:ext cx="2926080" cy="493776"/>
          </a:xfrm>
          <a:prstGeom prst="roundRect">
            <a:avLst>
              <a:gd name="adj" fmla="val 11111"/>
            </a:avLst>
          </a:prstGeom>
          <a:solidFill>
            <a:srgbClr val="FFFFFF"/>
          </a:solidFill>
          <a:ln w="12700">
            <a:solidFill>
              <a:srgbClr val="FFFFFF"/>
            </a:solidFill>
            <a:prstDash val="solid"/>
          </a:ln>
        </p:spPr>
      </p:sp>
      <p:sp>
        <p:nvSpPr>
          <p:cNvPr id="51" name="Text 43"/>
          <p:cNvSpPr txBox="1"/>
          <p:nvPr/>
        </p:nvSpPr>
        <p:spPr>
          <a:xfrm>
            <a:off x="5715000" y="4197096"/>
            <a:ext cx="2743200" cy="493776"/>
          </a:xfrm>
          <a:prstGeom prst="rect">
            <a:avLst/>
          </a:prstGeom>
          <a:noFill/>
          <a:ln/>
        </p:spPr>
        <p:txBody>
          <a:bodyPr wrap="square" lIns="0" tIns="0" rIns="0" bIns="0" rtlCol="0" anchor="ctr"/>
          <a:lstStyle/>
          <a:p>
            <a:pPr indent="0" marL="0">
              <a:buNone/>
            </a:pPr>
            <a:r>
              <a:rPr lang="en-US" sz="950" i="1" dirty="0">
                <a:solidFill>
                  <a:srgbClr val="1A2B3C"/>
                </a:solidFill>
                <a:latin typeface="Calibri" pitchFamily="34" charset="0"/>
                <a:ea typeface="Calibri" pitchFamily="34" charset="-122"/>
                <a:cs typeface="Calibri" pitchFamily="34" charset="-120"/>
              </a:rPr>
              <a:t>“Create slice slice-uran-6g with 1 Gbps on Ceragon MH-T261”</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000" b="1" spc="200" kern="0" dirty="0">
                <a:solidFill>
                  <a:srgbClr val="0FA3B1"/>
                </a:solidFill>
                <a:latin typeface="Arial" pitchFamily="34" charset="0"/>
                <a:ea typeface="Arial" pitchFamily="34" charset="-122"/>
                <a:cs typeface="Arial" pitchFamily="34" charset="-120"/>
              </a:rPr>
              <a:t>OPERATING DATA</a:t>
            </a:r>
            <a:endParaRPr lang="en-US" sz="10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400" b="1" dirty="0">
                <a:solidFill>
                  <a:srgbClr val="0B1D33"/>
                </a:solidFill>
                <a:latin typeface="Arial" pitchFamily="34" charset="0"/>
                <a:ea typeface="Arial" pitchFamily="34" charset="-122"/>
                <a:cs typeface="Arial" pitchFamily="34" charset="-120"/>
              </a:rPr>
              <a:t>What the audit log shows</a:t>
            </a:r>
            <a:endParaRPr lang="en-US" sz="2400" dirty="0"/>
          </a:p>
        </p:txBody>
      </p:sp>
      <p:sp>
        <p:nvSpPr>
          <p:cNvPr id="4" name="Shape 2"/>
          <p:cNvSpPr/>
          <p:nvPr/>
        </p:nvSpPr>
        <p:spPr>
          <a:xfrm>
            <a:off x="457200" y="1188720"/>
            <a:ext cx="1965960" cy="914400"/>
          </a:xfrm>
          <a:prstGeom prst="roundRect">
            <a:avLst>
              <a:gd name="adj" fmla="val 8000"/>
            </a:avLst>
          </a:prstGeom>
          <a:solidFill>
            <a:srgbClr val="F2F5F8"/>
          </a:solidFill>
          <a:ln w="12700">
            <a:solidFill>
              <a:srgbClr val="F2F5F8"/>
            </a:solidFill>
            <a:prstDash val="solid"/>
          </a:ln>
        </p:spPr>
      </p:sp>
      <p:sp>
        <p:nvSpPr>
          <p:cNvPr id="5" name="Text 3"/>
          <p:cNvSpPr txBox="1"/>
          <p:nvPr/>
        </p:nvSpPr>
        <p:spPr>
          <a:xfrm>
            <a:off x="621792" y="1243584"/>
            <a:ext cx="1737360" cy="502920"/>
          </a:xfrm>
          <a:prstGeom prst="rect">
            <a:avLst/>
          </a:prstGeom>
          <a:noFill/>
          <a:ln/>
        </p:spPr>
        <p:txBody>
          <a:bodyPr wrap="square" lIns="0" tIns="0" rIns="0" bIns="0" rtlCol="0" anchor="ctr"/>
          <a:lstStyle/>
          <a:p>
            <a:pPr indent="0" marL="0">
              <a:buNone/>
            </a:pPr>
            <a:r>
              <a:rPr lang="en-US" sz="2600" b="1" dirty="0">
                <a:solidFill>
                  <a:srgbClr val="0FA3B1"/>
                </a:solidFill>
                <a:latin typeface="Arial" pitchFamily="34" charset="0"/>
                <a:ea typeface="Arial" pitchFamily="34" charset="-122"/>
                <a:cs typeface="Arial" pitchFamily="34" charset="-120"/>
              </a:rPr>
              <a:t>52</a:t>
            </a:r>
            <a:endParaRPr lang="en-US" sz="2600" dirty="0"/>
          </a:p>
        </p:txBody>
      </p:sp>
      <p:sp>
        <p:nvSpPr>
          <p:cNvPr id="6" name="Text 4"/>
          <p:cNvSpPr txBox="1"/>
          <p:nvPr/>
        </p:nvSpPr>
        <p:spPr>
          <a:xfrm>
            <a:off x="621792" y="1755648"/>
            <a:ext cx="1737360" cy="274320"/>
          </a:xfrm>
          <a:prstGeom prst="rect">
            <a:avLst/>
          </a:prstGeom>
          <a:noFill/>
          <a:ln/>
        </p:spPr>
        <p:txBody>
          <a:bodyPr wrap="square" lIns="0" tIns="0" rIns="0" bIns="0" rtlCol="0" anchor="t"/>
          <a:lstStyle/>
          <a:p>
            <a:pPr indent="0" marL="0">
              <a:buNone/>
            </a:pPr>
            <a:r>
              <a:rPr lang="en-US" sz="1050" dirty="0">
                <a:solidFill>
                  <a:srgbClr val="1A2B3C"/>
                </a:solidFill>
                <a:latin typeface="Calibri" pitchFamily="34" charset="0"/>
                <a:ea typeface="Calibri" pitchFamily="34" charset="-122"/>
                <a:cs typeface="Calibri" pitchFamily="34" charset="-120"/>
              </a:rPr>
              <a:t>intents parsed</a:t>
            </a:r>
            <a:endParaRPr lang="en-US" sz="1050" dirty="0"/>
          </a:p>
        </p:txBody>
      </p:sp>
      <p:sp>
        <p:nvSpPr>
          <p:cNvPr id="7" name="Shape 5"/>
          <p:cNvSpPr/>
          <p:nvPr/>
        </p:nvSpPr>
        <p:spPr>
          <a:xfrm>
            <a:off x="2560320" y="1188720"/>
            <a:ext cx="1965960" cy="914400"/>
          </a:xfrm>
          <a:prstGeom prst="roundRect">
            <a:avLst>
              <a:gd name="adj" fmla="val 8000"/>
            </a:avLst>
          </a:prstGeom>
          <a:solidFill>
            <a:srgbClr val="F2F5F8"/>
          </a:solidFill>
          <a:ln w="12700">
            <a:solidFill>
              <a:srgbClr val="F2F5F8"/>
            </a:solidFill>
            <a:prstDash val="solid"/>
          </a:ln>
        </p:spPr>
      </p:sp>
      <p:sp>
        <p:nvSpPr>
          <p:cNvPr id="8" name="Text 6"/>
          <p:cNvSpPr txBox="1"/>
          <p:nvPr/>
        </p:nvSpPr>
        <p:spPr>
          <a:xfrm>
            <a:off x="2724912" y="1243584"/>
            <a:ext cx="1737360" cy="502920"/>
          </a:xfrm>
          <a:prstGeom prst="rect">
            <a:avLst/>
          </a:prstGeom>
          <a:noFill/>
          <a:ln/>
        </p:spPr>
        <p:txBody>
          <a:bodyPr wrap="square" lIns="0" tIns="0" rIns="0" bIns="0" rtlCol="0" anchor="ctr"/>
          <a:lstStyle/>
          <a:p>
            <a:pPr indent="0" marL="0">
              <a:buNone/>
            </a:pPr>
            <a:r>
              <a:rPr lang="en-US" sz="2600" b="1" dirty="0">
                <a:solidFill>
                  <a:srgbClr val="0FA3B1"/>
                </a:solidFill>
                <a:latin typeface="Arial" pitchFamily="34" charset="0"/>
                <a:ea typeface="Arial" pitchFamily="34" charset="-122"/>
                <a:cs typeface="Arial" pitchFamily="34" charset="-120"/>
              </a:rPr>
              <a:t>1,143</a:t>
            </a:r>
            <a:endParaRPr lang="en-US" sz="2600" dirty="0"/>
          </a:p>
        </p:txBody>
      </p:sp>
      <p:sp>
        <p:nvSpPr>
          <p:cNvPr id="9" name="Text 7"/>
          <p:cNvSpPr txBox="1"/>
          <p:nvPr/>
        </p:nvSpPr>
        <p:spPr>
          <a:xfrm>
            <a:off x="2724912" y="1755648"/>
            <a:ext cx="1737360" cy="274320"/>
          </a:xfrm>
          <a:prstGeom prst="rect">
            <a:avLst/>
          </a:prstGeom>
          <a:noFill/>
          <a:ln/>
        </p:spPr>
        <p:txBody>
          <a:bodyPr wrap="square" lIns="0" tIns="0" rIns="0" bIns="0" rtlCol="0" anchor="t"/>
          <a:lstStyle/>
          <a:p>
            <a:pPr indent="0" marL="0">
              <a:buNone/>
            </a:pPr>
            <a:r>
              <a:rPr lang="en-US" sz="1050" dirty="0">
                <a:solidFill>
                  <a:srgbClr val="1A2B3C"/>
                </a:solidFill>
                <a:latin typeface="Calibri" pitchFamily="34" charset="0"/>
                <a:ea typeface="Calibri" pitchFamily="34" charset="-122"/>
                <a:cs typeface="Calibri" pitchFamily="34" charset="-120"/>
              </a:rPr>
              <a:t>configuration applies</a:t>
            </a:r>
            <a:endParaRPr lang="en-US" sz="1050" dirty="0"/>
          </a:p>
        </p:txBody>
      </p:sp>
      <p:sp>
        <p:nvSpPr>
          <p:cNvPr id="10" name="Shape 8"/>
          <p:cNvSpPr/>
          <p:nvPr/>
        </p:nvSpPr>
        <p:spPr>
          <a:xfrm>
            <a:off x="4663440" y="1188720"/>
            <a:ext cx="1965960" cy="914400"/>
          </a:xfrm>
          <a:prstGeom prst="roundRect">
            <a:avLst>
              <a:gd name="adj" fmla="val 8000"/>
            </a:avLst>
          </a:prstGeom>
          <a:solidFill>
            <a:srgbClr val="F2F5F8"/>
          </a:solidFill>
          <a:ln w="12700">
            <a:solidFill>
              <a:srgbClr val="F2F5F8"/>
            </a:solidFill>
            <a:prstDash val="solid"/>
          </a:ln>
        </p:spPr>
      </p:sp>
      <p:sp>
        <p:nvSpPr>
          <p:cNvPr id="11" name="Text 9"/>
          <p:cNvSpPr txBox="1"/>
          <p:nvPr/>
        </p:nvSpPr>
        <p:spPr>
          <a:xfrm>
            <a:off x="4828032" y="1243584"/>
            <a:ext cx="1737360" cy="502920"/>
          </a:xfrm>
          <a:prstGeom prst="rect">
            <a:avLst/>
          </a:prstGeom>
          <a:noFill/>
          <a:ln/>
        </p:spPr>
        <p:txBody>
          <a:bodyPr wrap="square" lIns="0" tIns="0" rIns="0" bIns="0" rtlCol="0" anchor="ctr"/>
          <a:lstStyle/>
          <a:p>
            <a:pPr indent="0" marL="0">
              <a:buNone/>
            </a:pPr>
            <a:r>
              <a:rPr lang="en-US" sz="2600" b="1" dirty="0">
                <a:solidFill>
                  <a:srgbClr val="0FA3B1"/>
                </a:solidFill>
                <a:latin typeface="Arial" pitchFamily="34" charset="0"/>
                <a:ea typeface="Arial" pitchFamily="34" charset="-122"/>
                <a:cs typeface="Arial" pitchFamily="34" charset="-120"/>
              </a:rPr>
              <a:t>96.7%</a:t>
            </a:r>
            <a:endParaRPr lang="en-US" sz="2600" dirty="0"/>
          </a:p>
        </p:txBody>
      </p:sp>
      <p:sp>
        <p:nvSpPr>
          <p:cNvPr id="12" name="Text 10"/>
          <p:cNvSpPr txBox="1"/>
          <p:nvPr/>
        </p:nvSpPr>
        <p:spPr>
          <a:xfrm>
            <a:off x="4828032" y="1755648"/>
            <a:ext cx="1737360" cy="274320"/>
          </a:xfrm>
          <a:prstGeom prst="rect">
            <a:avLst/>
          </a:prstGeom>
          <a:noFill/>
          <a:ln/>
        </p:spPr>
        <p:txBody>
          <a:bodyPr wrap="square" lIns="0" tIns="0" rIns="0" bIns="0" rtlCol="0" anchor="t"/>
          <a:lstStyle/>
          <a:p>
            <a:pPr indent="0" marL="0">
              <a:buNone/>
            </a:pPr>
            <a:r>
              <a:rPr lang="en-US" sz="1050" dirty="0">
                <a:solidFill>
                  <a:srgbClr val="1A2B3C"/>
                </a:solidFill>
                <a:latin typeface="Calibri" pitchFamily="34" charset="0"/>
                <a:ea typeface="Calibri" pitchFamily="34" charset="-122"/>
                <a:cs typeface="Calibri" pitchFamily="34" charset="-120"/>
              </a:rPr>
              <a:t>accepted by TeraFlowSDN</a:t>
            </a:r>
            <a:endParaRPr lang="en-US" sz="1050" dirty="0"/>
          </a:p>
        </p:txBody>
      </p:sp>
      <p:sp>
        <p:nvSpPr>
          <p:cNvPr id="13" name="Shape 11"/>
          <p:cNvSpPr/>
          <p:nvPr/>
        </p:nvSpPr>
        <p:spPr>
          <a:xfrm>
            <a:off x="6766560" y="1188720"/>
            <a:ext cx="1965960" cy="914400"/>
          </a:xfrm>
          <a:prstGeom prst="roundRect">
            <a:avLst>
              <a:gd name="adj" fmla="val 8000"/>
            </a:avLst>
          </a:prstGeom>
          <a:solidFill>
            <a:srgbClr val="F2F5F8"/>
          </a:solidFill>
          <a:ln w="12700">
            <a:solidFill>
              <a:srgbClr val="F2F5F8"/>
            </a:solidFill>
            <a:prstDash val="solid"/>
          </a:ln>
        </p:spPr>
      </p:sp>
      <p:sp>
        <p:nvSpPr>
          <p:cNvPr id="14" name="Text 12"/>
          <p:cNvSpPr txBox="1"/>
          <p:nvPr/>
        </p:nvSpPr>
        <p:spPr>
          <a:xfrm>
            <a:off x="6931152" y="1243584"/>
            <a:ext cx="1737360" cy="502920"/>
          </a:xfrm>
          <a:prstGeom prst="rect">
            <a:avLst/>
          </a:prstGeom>
          <a:noFill/>
          <a:ln/>
        </p:spPr>
        <p:txBody>
          <a:bodyPr wrap="square" lIns="0" tIns="0" rIns="0" bIns="0" rtlCol="0" anchor="ctr"/>
          <a:lstStyle/>
          <a:p>
            <a:pPr indent="0" marL="0">
              <a:buNone/>
            </a:pPr>
            <a:r>
              <a:rPr lang="en-US" sz="2600" b="1" dirty="0">
                <a:solidFill>
                  <a:srgbClr val="0FA3B1"/>
                </a:solidFill>
                <a:latin typeface="Arial" pitchFamily="34" charset="0"/>
                <a:ea typeface="Arial" pitchFamily="34" charset="-122"/>
                <a:cs typeface="Arial" pitchFamily="34" charset="-120"/>
              </a:rPr>
              <a:t>61</a:t>
            </a:r>
            <a:endParaRPr lang="en-US" sz="2600" dirty="0"/>
          </a:p>
        </p:txBody>
      </p:sp>
      <p:sp>
        <p:nvSpPr>
          <p:cNvPr id="15" name="Text 13"/>
          <p:cNvSpPr txBox="1"/>
          <p:nvPr/>
        </p:nvSpPr>
        <p:spPr>
          <a:xfrm>
            <a:off x="6931152" y="1755648"/>
            <a:ext cx="1737360" cy="274320"/>
          </a:xfrm>
          <a:prstGeom prst="rect">
            <a:avLst/>
          </a:prstGeom>
          <a:noFill/>
          <a:ln/>
        </p:spPr>
        <p:txBody>
          <a:bodyPr wrap="square" lIns="0" tIns="0" rIns="0" bIns="0" rtlCol="0" anchor="t"/>
          <a:lstStyle/>
          <a:p>
            <a:pPr indent="0" marL="0">
              <a:buNone/>
            </a:pPr>
            <a:r>
              <a:rPr lang="en-US" sz="1050" dirty="0">
                <a:solidFill>
                  <a:srgbClr val="1A2B3C"/>
                </a:solidFill>
                <a:latin typeface="Calibri" pitchFamily="34" charset="0"/>
                <a:ea typeface="Calibri" pitchFamily="34" charset="-122"/>
                <a:cs typeface="Calibri" pitchFamily="34" charset="-120"/>
              </a:rPr>
              <a:t>devices configured</a:t>
            </a:r>
            <a:endParaRPr lang="en-US" sz="1050" dirty="0"/>
          </a:p>
        </p:txBody>
      </p:sp>
      <p:graphicFrame>
        <p:nvGraphicFramePr>
          <p:cNvPr id="16" name="Chart 0" descr=""/>
          <p:cNvGraphicFramePr/>
          <p:nvPr/>
        </p:nvGraphicFramePr>
        <p:xfrm>
          <a:off x="365760" y="2286000"/>
          <a:ext cx="4206240" cy="2514600"/>
        </p:xfrm>
        <a:graphic xmlns:a="http://schemas.openxmlformats.org/drawingml/2006/main">
          <a:graphicData uri="http://schemas.openxmlformats.org/drawingml/2006/chart">
            <c:chart xmlns:c="http://schemas.openxmlformats.org/drawingml/2006/chart" r:id="rId1"/>
          </a:graphicData>
        </a:graphic>
      </p:graphicFrame>
      <p:graphicFrame>
        <p:nvGraphicFramePr>
          <p:cNvPr id="17" name="Chart 1" descr=""/>
          <p:cNvGraphicFramePr/>
          <p:nvPr/>
        </p:nvGraphicFramePr>
        <p:xfrm>
          <a:off x="4754880" y="2286000"/>
          <a:ext cx="4023360" cy="1828800"/>
        </p:xfrm>
        <a:graphic xmlns:a="http://schemas.openxmlformats.org/drawingml/2006/main">
          <a:graphicData uri="http://schemas.openxmlformats.org/drawingml/2006/chart">
            <c:chart xmlns:c="http://schemas.openxmlformats.org/drawingml/2006/chart" r:id="rId2"/>
          </a:graphicData>
        </a:graphic>
      </p:graphicFrame>
      <p:sp>
        <p:nvSpPr>
          <p:cNvPr id="18" name="Text 14"/>
          <p:cNvSpPr txBox="1"/>
          <p:nvPr/>
        </p:nvSpPr>
        <p:spPr>
          <a:xfrm>
            <a:off x="4846320" y="4206240"/>
            <a:ext cx="3840480" cy="548640"/>
          </a:xfrm>
          <a:prstGeom prst="rect">
            <a:avLst/>
          </a:prstGeom>
          <a:noFill/>
          <a:ln/>
        </p:spPr>
        <p:txBody>
          <a:bodyPr wrap="square" lIns="0" tIns="0" rIns="0" bIns="0" rtlCol="0" anchor="ctr"/>
          <a:lstStyle/>
          <a:p>
            <a:pPr indent="0" marL="0">
              <a:buNone/>
            </a:pPr>
            <a:r>
              <a:rPr lang="en-US" sz="1000" b="1" dirty="0">
                <a:solidFill>
                  <a:srgbClr val="0B1D33"/>
                </a:solidFill>
                <a:latin typeface="Calibri" pitchFamily="34" charset="0"/>
                <a:ea typeface="Calibri" pitchFamily="34" charset="-122"/>
                <a:cs typeface="Calibri" pitchFamily="34" charset="-120"/>
              </a:rPr>
              <a:t>Parse → last apply: median 396 ms</a:t>
            </a:r>
            <a:pPr indent="0" marL="0">
              <a:buNone/>
            </a:pPr>
            <a:r>
              <a:rPr lang="en-US" sz="1000" dirty="0">
                <a:solidFill>
                  <a:srgbClr val="5A6B7D"/>
                </a:solidFill>
                <a:latin typeface="Calibri" pitchFamily="34" charset="0"/>
                <a:ea typeface="Calibri" pitchFamily="34" charset="-122"/>
                <a:cs typeface="Calibri" pitchFamily="34" charset="-120"/>
              </a:rPr>
              <a:t> (n = 22, 13 under 1 s). 2026-04-13 – 2026-09-23.</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000" b="1" spc="200" kern="0" dirty="0">
                <a:solidFill>
                  <a:srgbClr val="0FA3B1"/>
                </a:solidFill>
                <a:latin typeface="Arial" pitchFamily="34" charset="0"/>
                <a:ea typeface="Arial" pitchFamily="34" charset="-122"/>
                <a:cs typeface="Arial" pitchFamily="34" charset="-120"/>
              </a:rPr>
              <a:t>TERAFLOWSDN INTEGRATION</a:t>
            </a:r>
            <a:endParaRPr lang="en-US" sz="10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400" b="1" dirty="0">
                <a:solidFill>
                  <a:srgbClr val="0B1D33"/>
                </a:solidFill>
                <a:latin typeface="Arial" pitchFamily="34" charset="0"/>
                <a:ea typeface="Arial" pitchFamily="34" charset="-122"/>
                <a:cs typeface="Arial" pitchFamily="34" charset="-120"/>
              </a:rPr>
              <a:t>Deployed components and the calls we use</a:t>
            </a:r>
            <a:endParaRPr lang="en-US" sz="2400" dirty="0"/>
          </a:p>
        </p:txBody>
      </p:sp>
      <p:sp>
        <p:nvSpPr>
          <p:cNvPr id="4" name="Text 2"/>
          <p:cNvSpPr txBox="1"/>
          <p:nvPr/>
        </p:nvSpPr>
        <p:spPr>
          <a:xfrm>
            <a:off x="457200" y="1188720"/>
            <a:ext cx="4023360" cy="201168"/>
          </a:xfrm>
          <a:prstGeom prst="rect">
            <a:avLst/>
          </a:prstGeom>
          <a:noFill/>
          <a:ln/>
        </p:spPr>
        <p:txBody>
          <a:bodyPr wrap="square" lIns="0" tIns="0" rIns="0" bIns="0" rtlCol="0" anchor="t"/>
          <a:lstStyle/>
          <a:p>
            <a:pPr indent="0" marL="0">
              <a:buNone/>
            </a:pPr>
            <a:r>
              <a:rPr lang="en-US" sz="900" b="1" spc="150" kern="0" dirty="0">
                <a:solidFill>
                  <a:srgbClr val="22A06B"/>
                </a:solidFill>
                <a:latin typeface="Calibri" pitchFamily="34" charset="0"/>
                <a:ea typeface="Calibri" pitchFamily="34" charset="-122"/>
                <a:cs typeface="Calibri" pitchFamily="34" charset="-120"/>
              </a:rPr>
              <a:t>DEPLOYED (my_deploy.sh)</a:t>
            </a:r>
            <a:endParaRPr lang="en-US" sz="900" dirty="0"/>
          </a:p>
        </p:txBody>
      </p:sp>
      <p:sp>
        <p:nvSpPr>
          <p:cNvPr id="5" name="Shape 3"/>
          <p:cNvSpPr/>
          <p:nvPr/>
        </p:nvSpPr>
        <p:spPr>
          <a:xfrm>
            <a:off x="457200" y="1463040"/>
            <a:ext cx="1280160" cy="411480"/>
          </a:xfrm>
          <a:prstGeom prst="roundRect">
            <a:avLst>
              <a:gd name="adj" fmla="val 13333"/>
            </a:avLst>
          </a:prstGeom>
          <a:solidFill>
            <a:srgbClr val="DDF3E8"/>
          </a:solidFill>
          <a:ln w="12700">
            <a:solidFill>
              <a:srgbClr val="DDF3E8"/>
            </a:solidFill>
            <a:prstDash val="solid"/>
          </a:ln>
        </p:spPr>
      </p:sp>
      <p:sp>
        <p:nvSpPr>
          <p:cNvPr id="6" name="Text 4"/>
          <p:cNvSpPr txBox="1"/>
          <p:nvPr/>
        </p:nvSpPr>
        <p:spPr>
          <a:xfrm>
            <a:off x="548640" y="1463040"/>
            <a:ext cx="1143000" cy="411480"/>
          </a:xfrm>
          <a:prstGeom prst="rect">
            <a:avLst/>
          </a:prstGeom>
          <a:noFill/>
          <a:ln/>
        </p:spPr>
        <p:txBody>
          <a:bodyPr wrap="square" lIns="0" tIns="0" rIns="0" bIns="0" rtlCol="0" anchor="ctr"/>
          <a:lstStyle/>
          <a:p>
            <a:pPr indent="0" marL="0">
              <a:buNone/>
            </a:pPr>
            <a:r>
              <a:rPr lang="en-US" sz="1000" b="1" dirty="0">
                <a:solidFill>
                  <a:srgbClr val="157A50"/>
                </a:solidFill>
                <a:latin typeface="Calibri" pitchFamily="34" charset="0"/>
                <a:ea typeface="Calibri" pitchFamily="34" charset="-122"/>
                <a:cs typeface="Calibri" pitchFamily="34" charset="-120"/>
              </a:rPr>
              <a:t>context</a:t>
            </a:r>
            <a:endParaRPr lang="en-US" sz="1000" dirty="0"/>
          </a:p>
          <a:p>
            <a:pPr indent="0" marL="0">
              <a:buNone/>
            </a:pPr>
            <a:r>
              <a:rPr lang="en-US" sz="850" dirty="0">
                <a:solidFill>
                  <a:srgbClr val="5A6B7D"/>
                </a:solidFill>
                <a:latin typeface="Calibri" pitchFamily="34" charset="0"/>
                <a:ea typeface="Calibri" pitchFamily="34" charset="-122"/>
                <a:cs typeface="Calibri" pitchFamily="34" charset="-120"/>
              </a:rPr>
              <a:t>gRPC 1010</a:t>
            </a:r>
            <a:endParaRPr lang="en-US" sz="1000" dirty="0"/>
          </a:p>
        </p:txBody>
      </p:sp>
      <p:sp>
        <p:nvSpPr>
          <p:cNvPr id="7" name="Shape 5"/>
          <p:cNvSpPr/>
          <p:nvPr/>
        </p:nvSpPr>
        <p:spPr>
          <a:xfrm>
            <a:off x="1810512" y="1463040"/>
            <a:ext cx="1280160" cy="411480"/>
          </a:xfrm>
          <a:prstGeom prst="roundRect">
            <a:avLst>
              <a:gd name="adj" fmla="val 13333"/>
            </a:avLst>
          </a:prstGeom>
          <a:solidFill>
            <a:srgbClr val="DDF3E8"/>
          </a:solidFill>
          <a:ln w="12700">
            <a:solidFill>
              <a:srgbClr val="DDF3E8"/>
            </a:solidFill>
            <a:prstDash val="solid"/>
          </a:ln>
        </p:spPr>
      </p:sp>
      <p:sp>
        <p:nvSpPr>
          <p:cNvPr id="8" name="Text 6"/>
          <p:cNvSpPr txBox="1"/>
          <p:nvPr/>
        </p:nvSpPr>
        <p:spPr>
          <a:xfrm>
            <a:off x="1901952" y="1463040"/>
            <a:ext cx="1143000" cy="411480"/>
          </a:xfrm>
          <a:prstGeom prst="rect">
            <a:avLst/>
          </a:prstGeom>
          <a:noFill/>
          <a:ln/>
        </p:spPr>
        <p:txBody>
          <a:bodyPr wrap="square" lIns="0" tIns="0" rIns="0" bIns="0" rtlCol="0" anchor="ctr"/>
          <a:lstStyle/>
          <a:p>
            <a:pPr indent="0" marL="0">
              <a:buNone/>
            </a:pPr>
            <a:r>
              <a:rPr lang="en-US" sz="1000" b="1" dirty="0">
                <a:solidFill>
                  <a:srgbClr val="157A50"/>
                </a:solidFill>
                <a:latin typeface="Calibri" pitchFamily="34" charset="0"/>
                <a:ea typeface="Calibri" pitchFamily="34" charset="-122"/>
                <a:cs typeface="Calibri" pitchFamily="34" charset="-120"/>
              </a:rPr>
              <a:t>device</a:t>
            </a:r>
            <a:endParaRPr lang="en-US" sz="1000" dirty="0"/>
          </a:p>
          <a:p>
            <a:pPr indent="0" marL="0">
              <a:buNone/>
            </a:pPr>
            <a:r>
              <a:rPr lang="en-US" sz="850" dirty="0">
                <a:solidFill>
                  <a:srgbClr val="5A6B7D"/>
                </a:solidFill>
                <a:latin typeface="Calibri" pitchFamily="34" charset="0"/>
                <a:ea typeface="Calibri" pitchFamily="34" charset="-122"/>
                <a:cs typeface="Calibri" pitchFamily="34" charset="-120"/>
              </a:rPr>
              <a:t>gRPC 2020</a:t>
            </a:r>
            <a:endParaRPr lang="en-US" sz="1000" dirty="0"/>
          </a:p>
        </p:txBody>
      </p:sp>
      <p:sp>
        <p:nvSpPr>
          <p:cNvPr id="9" name="Shape 7"/>
          <p:cNvSpPr/>
          <p:nvPr/>
        </p:nvSpPr>
        <p:spPr>
          <a:xfrm>
            <a:off x="3163824" y="1463040"/>
            <a:ext cx="1280160" cy="411480"/>
          </a:xfrm>
          <a:prstGeom prst="roundRect">
            <a:avLst>
              <a:gd name="adj" fmla="val 13333"/>
            </a:avLst>
          </a:prstGeom>
          <a:solidFill>
            <a:srgbClr val="DDF3E8"/>
          </a:solidFill>
          <a:ln w="12700">
            <a:solidFill>
              <a:srgbClr val="DDF3E8"/>
            </a:solidFill>
            <a:prstDash val="solid"/>
          </a:ln>
        </p:spPr>
      </p:sp>
      <p:sp>
        <p:nvSpPr>
          <p:cNvPr id="10" name="Text 8"/>
          <p:cNvSpPr txBox="1"/>
          <p:nvPr/>
        </p:nvSpPr>
        <p:spPr>
          <a:xfrm>
            <a:off x="3255264" y="1463040"/>
            <a:ext cx="1143000" cy="411480"/>
          </a:xfrm>
          <a:prstGeom prst="rect">
            <a:avLst/>
          </a:prstGeom>
          <a:noFill/>
          <a:ln/>
        </p:spPr>
        <p:txBody>
          <a:bodyPr wrap="square" lIns="0" tIns="0" rIns="0" bIns="0" rtlCol="0" anchor="ctr"/>
          <a:lstStyle/>
          <a:p>
            <a:pPr indent="0" marL="0">
              <a:buNone/>
            </a:pPr>
            <a:r>
              <a:rPr lang="en-US" sz="1000" b="1" dirty="0">
                <a:solidFill>
                  <a:srgbClr val="157A50"/>
                </a:solidFill>
                <a:latin typeface="Calibri" pitchFamily="34" charset="0"/>
                <a:ea typeface="Calibri" pitchFamily="34" charset="-122"/>
                <a:cs typeface="Calibri" pitchFamily="34" charset="-120"/>
              </a:rPr>
              <a:t>service</a:t>
            </a:r>
            <a:endParaRPr lang="en-US" sz="1000" dirty="0"/>
          </a:p>
          <a:p>
            <a:pPr indent="0" marL="0">
              <a:buNone/>
            </a:pPr>
            <a:r>
              <a:rPr lang="en-US" sz="850" dirty="0">
                <a:solidFill>
                  <a:srgbClr val="5A6B7D"/>
                </a:solidFill>
                <a:latin typeface="Calibri" pitchFamily="34" charset="0"/>
                <a:ea typeface="Calibri" pitchFamily="34" charset="-122"/>
                <a:cs typeface="Calibri" pitchFamily="34" charset="-120"/>
              </a:rPr>
              <a:t>gRPC 3030</a:t>
            </a:r>
            <a:endParaRPr lang="en-US" sz="1000" dirty="0"/>
          </a:p>
        </p:txBody>
      </p:sp>
      <p:sp>
        <p:nvSpPr>
          <p:cNvPr id="11" name="Shape 9"/>
          <p:cNvSpPr/>
          <p:nvPr/>
        </p:nvSpPr>
        <p:spPr>
          <a:xfrm>
            <a:off x="457200" y="1965960"/>
            <a:ext cx="1280160" cy="411480"/>
          </a:xfrm>
          <a:prstGeom prst="roundRect">
            <a:avLst>
              <a:gd name="adj" fmla="val 13333"/>
            </a:avLst>
          </a:prstGeom>
          <a:solidFill>
            <a:srgbClr val="DDF3E8"/>
          </a:solidFill>
          <a:ln w="12700">
            <a:solidFill>
              <a:srgbClr val="DDF3E8"/>
            </a:solidFill>
            <a:prstDash val="solid"/>
          </a:ln>
        </p:spPr>
      </p:sp>
      <p:sp>
        <p:nvSpPr>
          <p:cNvPr id="12" name="Text 10"/>
          <p:cNvSpPr txBox="1"/>
          <p:nvPr/>
        </p:nvSpPr>
        <p:spPr>
          <a:xfrm>
            <a:off x="548640" y="1965960"/>
            <a:ext cx="1143000" cy="411480"/>
          </a:xfrm>
          <a:prstGeom prst="rect">
            <a:avLst/>
          </a:prstGeom>
          <a:noFill/>
          <a:ln/>
        </p:spPr>
        <p:txBody>
          <a:bodyPr wrap="square" lIns="0" tIns="0" rIns="0" bIns="0" rtlCol="0" anchor="ctr"/>
          <a:lstStyle/>
          <a:p>
            <a:pPr indent="0" marL="0">
              <a:buNone/>
            </a:pPr>
            <a:r>
              <a:rPr lang="en-US" sz="1000" b="1" dirty="0">
                <a:solidFill>
                  <a:srgbClr val="157A50"/>
                </a:solidFill>
                <a:latin typeface="Calibri" pitchFamily="34" charset="0"/>
                <a:ea typeface="Calibri" pitchFamily="34" charset="-122"/>
                <a:cs typeface="Calibri" pitchFamily="34" charset="-120"/>
              </a:rPr>
              <a:t>pathcomp</a:t>
            </a:r>
            <a:endParaRPr lang="en-US" sz="1000" dirty="0"/>
          </a:p>
          <a:p>
            <a:pPr indent="0" marL="0">
              <a:buNone/>
            </a:pPr>
            <a:r>
              <a:rPr lang="en-US" sz="850" dirty="0">
                <a:solidFill>
                  <a:srgbClr val="5A6B7D"/>
                </a:solidFill>
                <a:latin typeface="Calibri" pitchFamily="34" charset="0"/>
                <a:ea typeface="Calibri" pitchFamily="34" charset="-122"/>
                <a:cs typeface="Calibri" pitchFamily="34" charset="-120"/>
              </a:rPr>
              <a:t>gRPC 10020</a:t>
            </a:r>
            <a:endParaRPr lang="en-US" sz="1000" dirty="0"/>
          </a:p>
        </p:txBody>
      </p:sp>
      <p:sp>
        <p:nvSpPr>
          <p:cNvPr id="13" name="Shape 11"/>
          <p:cNvSpPr/>
          <p:nvPr/>
        </p:nvSpPr>
        <p:spPr>
          <a:xfrm>
            <a:off x="1810512" y="1965960"/>
            <a:ext cx="1280160" cy="411480"/>
          </a:xfrm>
          <a:prstGeom prst="roundRect">
            <a:avLst>
              <a:gd name="adj" fmla="val 13333"/>
            </a:avLst>
          </a:prstGeom>
          <a:solidFill>
            <a:srgbClr val="DDF3E8"/>
          </a:solidFill>
          <a:ln w="12700">
            <a:solidFill>
              <a:srgbClr val="DDF3E8"/>
            </a:solidFill>
            <a:prstDash val="solid"/>
          </a:ln>
        </p:spPr>
      </p:sp>
      <p:sp>
        <p:nvSpPr>
          <p:cNvPr id="14" name="Text 12"/>
          <p:cNvSpPr txBox="1"/>
          <p:nvPr/>
        </p:nvSpPr>
        <p:spPr>
          <a:xfrm>
            <a:off x="1901952" y="1965960"/>
            <a:ext cx="1143000" cy="411480"/>
          </a:xfrm>
          <a:prstGeom prst="rect">
            <a:avLst/>
          </a:prstGeom>
          <a:noFill/>
          <a:ln/>
        </p:spPr>
        <p:txBody>
          <a:bodyPr wrap="square" lIns="0" tIns="0" rIns="0" bIns="0" rtlCol="0" anchor="ctr"/>
          <a:lstStyle/>
          <a:p>
            <a:pPr indent="0" marL="0">
              <a:buNone/>
            </a:pPr>
            <a:r>
              <a:rPr lang="en-US" sz="1000" b="1" dirty="0">
                <a:solidFill>
                  <a:srgbClr val="157A50"/>
                </a:solidFill>
                <a:latin typeface="Calibri" pitchFamily="34" charset="0"/>
                <a:ea typeface="Calibri" pitchFamily="34" charset="-122"/>
                <a:cs typeface="Calibri" pitchFamily="34" charset="-120"/>
              </a:rPr>
              <a:t>nbi</a:t>
            </a:r>
            <a:endParaRPr lang="en-US" sz="1000" dirty="0"/>
          </a:p>
          <a:p>
            <a:pPr indent="0" marL="0">
              <a:buNone/>
            </a:pPr>
            <a:r>
              <a:rPr lang="en-US" sz="850" dirty="0">
                <a:solidFill>
                  <a:srgbClr val="5A6B7D"/>
                </a:solidFill>
                <a:latin typeface="Calibri" pitchFamily="34" charset="0"/>
                <a:ea typeface="Calibri" pitchFamily="34" charset="-122"/>
                <a:cs typeface="Calibri" pitchFamily="34" charset="-120"/>
              </a:rPr>
              <a:t>HTTP 8080</a:t>
            </a:r>
            <a:endParaRPr lang="en-US" sz="1000" dirty="0"/>
          </a:p>
        </p:txBody>
      </p:sp>
      <p:sp>
        <p:nvSpPr>
          <p:cNvPr id="15" name="Shape 13"/>
          <p:cNvSpPr/>
          <p:nvPr/>
        </p:nvSpPr>
        <p:spPr>
          <a:xfrm>
            <a:off x="3163824" y="1965960"/>
            <a:ext cx="1280160" cy="411480"/>
          </a:xfrm>
          <a:prstGeom prst="roundRect">
            <a:avLst>
              <a:gd name="adj" fmla="val 13333"/>
            </a:avLst>
          </a:prstGeom>
          <a:solidFill>
            <a:srgbClr val="DDF3E8"/>
          </a:solidFill>
          <a:ln w="12700">
            <a:solidFill>
              <a:srgbClr val="DDF3E8"/>
            </a:solidFill>
            <a:prstDash val="solid"/>
          </a:ln>
        </p:spPr>
      </p:sp>
      <p:sp>
        <p:nvSpPr>
          <p:cNvPr id="16" name="Text 14"/>
          <p:cNvSpPr txBox="1"/>
          <p:nvPr/>
        </p:nvSpPr>
        <p:spPr>
          <a:xfrm>
            <a:off x="3255264" y="1965960"/>
            <a:ext cx="1143000" cy="411480"/>
          </a:xfrm>
          <a:prstGeom prst="rect">
            <a:avLst/>
          </a:prstGeom>
          <a:noFill/>
          <a:ln/>
        </p:spPr>
        <p:txBody>
          <a:bodyPr wrap="square" lIns="0" tIns="0" rIns="0" bIns="0" rtlCol="0" anchor="ctr"/>
          <a:lstStyle/>
          <a:p>
            <a:pPr indent="0" marL="0">
              <a:buNone/>
            </a:pPr>
            <a:r>
              <a:rPr lang="en-US" sz="1000" b="1" dirty="0">
                <a:solidFill>
                  <a:srgbClr val="157A50"/>
                </a:solidFill>
                <a:latin typeface="Calibri" pitchFamily="34" charset="0"/>
                <a:ea typeface="Calibri" pitchFamily="34" charset="-122"/>
                <a:cs typeface="Calibri" pitchFamily="34" charset="-120"/>
              </a:rPr>
              <a:t>webui</a:t>
            </a:r>
            <a:endParaRPr lang="en-US" sz="1000" dirty="0"/>
          </a:p>
          <a:p>
            <a:pPr indent="0" marL="0">
              <a:buNone/>
            </a:pPr>
            <a:r>
              <a:rPr lang="en-US" sz="850" dirty="0">
                <a:solidFill>
                  <a:srgbClr val="5A6B7D"/>
                </a:solidFill>
                <a:latin typeface="Calibri" pitchFamily="34" charset="0"/>
                <a:ea typeface="Calibri" pitchFamily="34" charset="-122"/>
                <a:cs typeface="Calibri" pitchFamily="34" charset="-120"/>
              </a:rPr>
              <a:t>HTTP 8004</a:t>
            </a:r>
            <a:endParaRPr lang="en-US" sz="1000" dirty="0"/>
          </a:p>
        </p:txBody>
      </p:sp>
      <p:sp>
        <p:nvSpPr>
          <p:cNvPr id="17" name="Text 15"/>
          <p:cNvSpPr txBox="1"/>
          <p:nvPr/>
        </p:nvSpPr>
        <p:spPr>
          <a:xfrm>
            <a:off x="457200" y="2606040"/>
            <a:ext cx="4023360" cy="201168"/>
          </a:xfrm>
          <a:prstGeom prst="rect">
            <a:avLst/>
          </a:prstGeom>
          <a:noFill/>
          <a:ln/>
        </p:spPr>
        <p:txBody>
          <a:bodyPr wrap="square" lIns="0" tIns="0" rIns="0" bIns="0" rtlCol="0" anchor="t"/>
          <a:lstStyle/>
          <a:p>
            <a:pPr indent="0" marL="0">
              <a:buNone/>
            </a:pPr>
            <a:r>
              <a:rPr lang="en-US" sz="900" b="1" spc="100" kern="0" dirty="0">
                <a:solidFill>
                  <a:srgbClr val="5A6B7D"/>
                </a:solidFill>
                <a:latin typeface="Calibri" pitchFamily="34" charset="0"/>
                <a:ea typeface="Calibri" pitchFamily="34" charset="-122"/>
                <a:cs typeface="Calibri" pitchFamily="34" charset="-120"/>
              </a:rPr>
              <a:t>NOT DEPLOYED (telemetry · analytics · ML)</a:t>
            </a:r>
            <a:endParaRPr lang="en-US" sz="900" dirty="0"/>
          </a:p>
        </p:txBody>
      </p:sp>
      <p:sp>
        <p:nvSpPr>
          <p:cNvPr id="18" name="Shape 16"/>
          <p:cNvSpPr/>
          <p:nvPr/>
        </p:nvSpPr>
        <p:spPr>
          <a:xfrm>
            <a:off x="457200" y="2880360"/>
            <a:ext cx="1280160" cy="411480"/>
          </a:xfrm>
          <a:prstGeom prst="roundRect">
            <a:avLst>
              <a:gd name="adj" fmla="val 13333"/>
            </a:avLst>
          </a:prstGeom>
          <a:solidFill>
            <a:srgbClr val="FFFFFF"/>
          </a:solidFill>
          <a:ln w="12700">
            <a:solidFill>
              <a:srgbClr val="9AA7B4"/>
            </a:solidFill>
            <a:prstDash val="dash"/>
          </a:ln>
        </p:spPr>
      </p:sp>
      <p:sp>
        <p:nvSpPr>
          <p:cNvPr id="19" name="Text 17"/>
          <p:cNvSpPr txBox="1"/>
          <p:nvPr/>
        </p:nvSpPr>
        <p:spPr>
          <a:xfrm>
            <a:off x="548640" y="2880360"/>
            <a:ext cx="1143000" cy="411480"/>
          </a:xfrm>
          <a:prstGeom prst="rect">
            <a:avLst/>
          </a:prstGeom>
          <a:noFill/>
          <a:ln/>
        </p:spPr>
        <p:txBody>
          <a:bodyPr wrap="square" lIns="0" tIns="0" rIns="0" bIns="0" rtlCol="0" anchor="ctr"/>
          <a:lstStyle/>
          <a:p>
            <a:pPr indent="0" marL="0">
              <a:buNone/>
            </a:pPr>
            <a:r>
              <a:rPr lang="en-US" sz="1000" b="1" dirty="0">
                <a:solidFill>
                  <a:srgbClr val="5A6B7D"/>
                </a:solidFill>
                <a:latin typeface="Calibri" pitchFamily="34" charset="0"/>
                <a:ea typeface="Calibri" pitchFamily="34" charset="-122"/>
                <a:cs typeface="Calibri" pitchFamily="34" charset="-120"/>
              </a:rPr>
              <a:t>monitoring</a:t>
            </a:r>
            <a:endParaRPr lang="en-US" sz="1000" dirty="0"/>
          </a:p>
          <a:p>
            <a:pPr indent="0" marL="0">
              <a:buNone/>
            </a:pPr>
            <a:r>
              <a:rPr lang="en-US" sz="850" dirty="0">
                <a:solidFill>
                  <a:srgbClr val="5A6B7D"/>
                </a:solidFill>
                <a:latin typeface="Calibri" pitchFamily="34" charset="0"/>
                <a:ea typeface="Calibri" pitchFamily="34" charset="-122"/>
                <a:cs typeface="Calibri" pitchFamily="34" charset="-120"/>
              </a:rPr>
              <a:t>gRPC 7070</a:t>
            </a:r>
            <a:endParaRPr lang="en-US" sz="1000" dirty="0"/>
          </a:p>
        </p:txBody>
      </p:sp>
      <p:sp>
        <p:nvSpPr>
          <p:cNvPr id="20" name="Shape 18"/>
          <p:cNvSpPr/>
          <p:nvPr/>
        </p:nvSpPr>
        <p:spPr>
          <a:xfrm>
            <a:off x="1810512" y="2880360"/>
            <a:ext cx="1280160" cy="411480"/>
          </a:xfrm>
          <a:prstGeom prst="roundRect">
            <a:avLst>
              <a:gd name="adj" fmla="val 13333"/>
            </a:avLst>
          </a:prstGeom>
          <a:solidFill>
            <a:srgbClr val="FFFFFF"/>
          </a:solidFill>
          <a:ln w="12700">
            <a:solidFill>
              <a:srgbClr val="9AA7B4"/>
            </a:solidFill>
            <a:prstDash val="dash"/>
          </a:ln>
        </p:spPr>
      </p:sp>
      <p:sp>
        <p:nvSpPr>
          <p:cNvPr id="21" name="Text 19"/>
          <p:cNvSpPr txBox="1"/>
          <p:nvPr/>
        </p:nvSpPr>
        <p:spPr>
          <a:xfrm>
            <a:off x="1901952" y="2880360"/>
            <a:ext cx="1143000" cy="411480"/>
          </a:xfrm>
          <a:prstGeom prst="rect">
            <a:avLst/>
          </a:prstGeom>
          <a:noFill/>
          <a:ln/>
        </p:spPr>
        <p:txBody>
          <a:bodyPr wrap="square" lIns="0" tIns="0" rIns="0" bIns="0" rtlCol="0" anchor="ctr"/>
          <a:lstStyle/>
          <a:p>
            <a:pPr indent="0" marL="0">
              <a:buNone/>
            </a:pPr>
            <a:r>
              <a:rPr lang="en-US" sz="1000" b="1" dirty="0">
                <a:solidFill>
                  <a:srgbClr val="5A6B7D"/>
                </a:solidFill>
                <a:latin typeface="Calibri" pitchFamily="34" charset="0"/>
                <a:ea typeface="Calibri" pitchFamily="34" charset="-122"/>
                <a:cs typeface="Calibri" pitchFamily="34" charset="-120"/>
              </a:rPr>
              <a:t>kpi_manager</a:t>
            </a:r>
            <a:endParaRPr lang="en-US" sz="1000" dirty="0"/>
          </a:p>
          <a:p>
            <a:pPr indent="0" marL="0">
              <a:buNone/>
            </a:pPr>
            <a:r>
              <a:rPr lang="en-US" sz="850" dirty="0">
                <a:solidFill>
                  <a:srgbClr val="5A6B7D"/>
                </a:solidFill>
                <a:latin typeface="Calibri" pitchFamily="34" charset="0"/>
                <a:ea typeface="Calibri" pitchFamily="34" charset="-122"/>
                <a:cs typeface="Calibri" pitchFamily="34" charset="-120"/>
              </a:rPr>
              <a:t>gRPC 30010</a:t>
            </a:r>
            <a:endParaRPr lang="en-US" sz="1000" dirty="0"/>
          </a:p>
        </p:txBody>
      </p:sp>
      <p:sp>
        <p:nvSpPr>
          <p:cNvPr id="22" name="Shape 20"/>
          <p:cNvSpPr/>
          <p:nvPr/>
        </p:nvSpPr>
        <p:spPr>
          <a:xfrm>
            <a:off x="3163824" y="2880360"/>
            <a:ext cx="1280160" cy="411480"/>
          </a:xfrm>
          <a:prstGeom prst="roundRect">
            <a:avLst>
              <a:gd name="adj" fmla="val 13333"/>
            </a:avLst>
          </a:prstGeom>
          <a:solidFill>
            <a:srgbClr val="FFFFFF"/>
          </a:solidFill>
          <a:ln w="12700">
            <a:solidFill>
              <a:srgbClr val="9AA7B4"/>
            </a:solidFill>
            <a:prstDash val="dash"/>
          </a:ln>
        </p:spPr>
      </p:sp>
      <p:sp>
        <p:nvSpPr>
          <p:cNvPr id="23" name="Text 21"/>
          <p:cNvSpPr txBox="1"/>
          <p:nvPr/>
        </p:nvSpPr>
        <p:spPr>
          <a:xfrm>
            <a:off x="3255264" y="2880360"/>
            <a:ext cx="1143000" cy="411480"/>
          </a:xfrm>
          <a:prstGeom prst="rect">
            <a:avLst/>
          </a:prstGeom>
          <a:noFill/>
          <a:ln/>
        </p:spPr>
        <p:txBody>
          <a:bodyPr wrap="square" lIns="0" tIns="0" rIns="0" bIns="0" rtlCol="0" anchor="ctr"/>
          <a:lstStyle/>
          <a:p>
            <a:pPr indent="0" marL="0">
              <a:buNone/>
            </a:pPr>
            <a:r>
              <a:rPr lang="en-US" sz="1000" b="1" dirty="0">
                <a:solidFill>
                  <a:srgbClr val="5A6B7D"/>
                </a:solidFill>
                <a:latin typeface="Calibri" pitchFamily="34" charset="0"/>
                <a:ea typeface="Calibri" pitchFamily="34" charset="-122"/>
                <a:cs typeface="Calibri" pitchFamily="34" charset="-120"/>
              </a:rPr>
              <a:t>telemetry</a:t>
            </a:r>
            <a:endParaRPr lang="en-US" sz="1000" dirty="0"/>
          </a:p>
          <a:p>
            <a:pPr indent="0" marL="0">
              <a:buNone/>
            </a:pPr>
            <a:r>
              <a:rPr lang="en-US" sz="850" dirty="0">
                <a:solidFill>
                  <a:srgbClr val="5A6B7D"/>
                </a:solidFill>
                <a:latin typeface="Calibri" pitchFamily="34" charset="0"/>
                <a:ea typeface="Calibri" pitchFamily="34" charset="-122"/>
                <a:cs typeface="Calibri" pitchFamily="34" charset="-120"/>
              </a:rPr>
              <a:t>gRPC 30050</a:t>
            </a:r>
            <a:endParaRPr lang="en-US" sz="1000" dirty="0"/>
          </a:p>
        </p:txBody>
      </p:sp>
      <p:sp>
        <p:nvSpPr>
          <p:cNvPr id="24" name="Shape 22"/>
          <p:cNvSpPr/>
          <p:nvPr/>
        </p:nvSpPr>
        <p:spPr>
          <a:xfrm>
            <a:off x="457200" y="3383280"/>
            <a:ext cx="1280160" cy="411480"/>
          </a:xfrm>
          <a:prstGeom prst="roundRect">
            <a:avLst>
              <a:gd name="adj" fmla="val 13333"/>
            </a:avLst>
          </a:prstGeom>
          <a:solidFill>
            <a:srgbClr val="FFFFFF"/>
          </a:solidFill>
          <a:ln w="12700">
            <a:solidFill>
              <a:srgbClr val="9AA7B4"/>
            </a:solidFill>
            <a:prstDash val="dash"/>
          </a:ln>
        </p:spPr>
      </p:sp>
      <p:sp>
        <p:nvSpPr>
          <p:cNvPr id="25" name="Text 23"/>
          <p:cNvSpPr txBox="1"/>
          <p:nvPr/>
        </p:nvSpPr>
        <p:spPr>
          <a:xfrm>
            <a:off x="548640" y="3383280"/>
            <a:ext cx="1143000" cy="411480"/>
          </a:xfrm>
          <a:prstGeom prst="rect">
            <a:avLst/>
          </a:prstGeom>
          <a:noFill/>
          <a:ln/>
        </p:spPr>
        <p:txBody>
          <a:bodyPr wrap="square" lIns="0" tIns="0" rIns="0" bIns="0" rtlCol="0" anchor="ctr"/>
          <a:lstStyle/>
          <a:p>
            <a:pPr indent="0" marL="0">
              <a:buNone/>
            </a:pPr>
            <a:r>
              <a:rPr lang="en-US" sz="1000" b="1" dirty="0">
                <a:solidFill>
                  <a:srgbClr val="5A6B7D"/>
                </a:solidFill>
                <a:latin typeface="Calibri" pitchFamily="34" charset="0"/>
                <a:ea typeface="Calibri" pitchFamily="34" charset="-122"/>
                <a:cs typeface="Calibri" pitchFamily="34" charset="-120"/>
              </a:rPr>
              <a:t>analytics</a:t>
            </a:r>
            <a:endParaRPr lang="en-US" sz="1000" dirty="0"/>
          </a:p>
          <a:p>
            <a:pPr indent="0" marL="0">
              <a:buNone/>
            </a:pPr>
            <a:r>
              <a:rPr lang="en-US" sz="850" dirty="0">
                <a:solidFill>
                  <a:srgbClr val="5A6B7D"/>
                </a:solidFill>
                <a:latin typeface="Calibri" pitchFamily="34" charset="0"/>
                <a:ea typeface="Calibri" pitchFamily="34" charset="-122"/>
                <a:cs typeface="Calibri" pitchFamily="34" charset="-120"/>
              </a:rPr>
              <a:t>gRPC 30080</a:t>
            </a:r>
            <a:endParaRPr lang="en-US" sz="1000" dirty="0"/>
          </a:p>
        </p:txBody>
      </p:sp>
      <p:sp>
        <p:nvSpPr>
          <p:cNvPr id="26" name="Shape 24"/>
          <p:cNvSpPr/>
          <p:nvPr/>
        </p:nvSpPr>
        <p:spPr>
          <a:xfrm>
            <a:off x="1810512" y="3383280"/>
            <a:ext cx="1280160" cy="411480"/>
          </a:xfrm>
          <a:prstGeom prst="roundRect">
            <a:avLst>
              <a:gd name="adj" fmla="val 13333"/>
            </a:avLst>
          </a:prstGeom>
          <a:solidFill>
            <a:srgbClr val="FFFFFF"/>
          </a:solidFill>
          <a:ln w="12700">
            <a:solidFill>
              <a:srgbClr val="9AA7B4"/>
            </a:solidFill>
            <a:prstDash val="dash"/>
          </a:ln>
        </p:spPr>
      </p:sp>
      <p:sp>
        <p:nvSpPr>
          <p:cNvPr id="27" name="Text 25"/>
          <p:cNvSpPr txBox="1"/>
          <p:nvPr/>
        </p:nvSpPr>
        <p:spPr>
          <a:xfrm>
            <a:off x="1901952" y="3383280"/>
            <a:ext cx="1143000" cy="411480"/>
          </a:xfrm>
          <a:prstGeom prst="rect">
            <a:avLst/>
          </a:prstGeom>
          <a:noFill/>
          <a:ln/>
        </p:spPr>
        <p:txBody>
          <a:bodyPr wrap="square" lIns="0" tIns="0" rIns="0" bIns="0" rtlCol="0" anchor="ctr"/>
          <a:lstStyle/>
          <a:p>
            <a:pPr indent="0" marL="0">
              <a:buNone/>
            </a:pPr>
            <a:r>
              <a:rPr lang="en-US" sz="1000" b="1" dirty="0">
                <a:solidFill>
                  <a:srgbClr val="5A6B7D"/>
                </a:solidFill>
                <a:latin typeface="Calibri" pitchFamily="34" charset="0"/>
                <a:ea typeface="Calibri" pitchFamily="34" charset="-122"/>
                <a:cs typeface="Calibri" pitchFamily="34" charset="-120"/>
              </a:rPr>
              <a:t>automation</a:t>
            </a:r>
            <a:endParaRPr lang="en-US" sz="1000" dirty="0"/>
          </a:p>
          <a:p>
            <a:pPr indent="0" marL="0">
              <a:buNone/>
            </a:pPr>
            <a:r>
              <a:rPr lang="en-US" sz="850" dirty="0">
                <a:solidFill>
                  <a:srgbClr val="5A6B7D"/>
                </a:solidFill>
                <a:latin typeface="Calibri" pitchFamily="34" charset="0"/>
                <a:ea typeface="Calibri" pitchFamily="34" charset="-122"/>
                <a:cs typeface="Calibri" pitchFamily="34" charset="-120"/>
              </a:rPr>
              <a:t>gRPC 30200</a:t>
            </a:r>
            <a:endParaRPr lang="en-US" sz="1000" dirty="0"/>
          </a:p>
        </p:txBody>
      </p:sp>
      <p:sp>
        <p:nvSpPr>
          <p:cNvPr id="28" name="Shape 26"/>
          <p:cNvSpPr/>
          <p:nvPr/>
        </p:nvSpPr>
        <p:spPr>
          <a:xfrm>
            <a:off x="3163824" y="3383280"/>
            <a:ext cx="1280160" cy="411480"/>
          </a:xfrm>
          <a:prstGeom prst="roundRect">
            <a:avLst>
              <a:gd name="adj" fmla="val 13333"/>
            </a:avLst>
          </a:prstGeom>
          <a:solidFill>
            <a:srgbClr val="FFFFFF"/>
          </a:solidFill>
          <a:ln w="12700">
            <a:solidFill>
              <a:srgbClr val="9AA7B4"/>
            </a:solidFill>
            <a:prstDash val="dash"/>
          </a:ln>
        </p:spPr>
      </p:sp>
      <p:sp>
        <p:nvSpPr>
          <p:cNvPr id="29" name="Text 27"/>
          <p:cNvSpPr txBox="1"/>
          <p:nvPr/>
        </p:nvSpPr>
        <p:spPr>
          <a:xfrm>
            <a:off x="3255264" y="3383280"/>
            <a:ext cx="1143000" cy="411480"/>
          </a:xfrm>
          <a:prstGeom prst="rect">
            <a:avLst/>
          </a:prstGeom>
          <a:noFill/>
          <a:ln/>
        </p:spPr>
        <p:txBody>
          <a:bodyPr wrap="square" lIns="0" tIns="0" rIns="0" bIns="0" rtlCol="0" anchor="ctr"/>
          <a:lstStyle/>
          <a:p>
            <a:pPr indent="0" marL="0">
              <a:buNone/>
            </a:pPr>
            <a:r>
              <a:rPr lang="en-US" sz="1000" b="1" dirty="0">
                <a:solidFill>
                  <a:srgbClr val="5A6B7D"/>
                </a:solidFill>
                <a:latin typeface="Calibri" pitchFamily="34" charset="0"/>
                <a:ea typeface="Calibri" pitchFamily="34" charset="-122"/>
                <a:cs typeface="Calibri" pitchFamily="34" charset="-120"/>
              </a:rPr>
              <a:t>forecaster</a:t>
            </a:r>
            <a:endParaRPr lang="en-US" sz="1000" dirty="0"/>
          </a:p>
          <a:p>
            <a:pPr indent="0" marL="0">
              <a:buNone/>
            </a:pPr>
            <a:r>
              <a:rPr lang="en-US" sz="850" dirty="0">
                <a:solidFill>
                  <a:srgbClr val="5A6B7D"/>
                </a:solidFill>
                <a:latin typeface="Calibri" pitchFamily="34" charset="0"/>
                <a:ea typeface="Calibri" pitchFamily="34" charset="-122"/>
                <a:cs typeface="Calibri" pitchFamily="34" charset="-120"/>
              </a:rPr>
              <a:t>gRPC 10040</a:t>
            </a:r>
            <a:endParaRPr lang="en-US" sz="1000" dirty="0"/>
          </a:p>
        </p:txBody>
      </p:sp>
      <p:sp>
        <p:nvSpPr>
          <p:cNvPr id="30" name="Text 28"/>
          <p:cNvSpPr txBox="1"/>
          <p:nvPr/>
        </p:nvSpPr>
        <p:spPr>
          <a:xfrm>
            <a:off x="457200" y="3977640"/>
            <a:ext cx="4023360" cy="365760"/>
          </a:xfrm>
          <a:prstGeom prst="rect">
            <a:avLst/>
          </a:prstGeom>
          <a:noFill/>
          <a:ln/>
        </p:spPr>
        <p:txBody>
          <a:bodyPr wrap="square" lIns="0" tIns="0" rIns="0" bIns="0" rtlCol="0" anchor="t"/>
          <a:lstStyle/>
          <a:p>
            <a:pPr indent="0" marL="0">
              <a:buNone/>
            </a:pPr>
            <a:r>
              <a:rPr lang="en-US" sz="950" i="1" dirty="0">
                <a:solidFill>
                  <a:srgbClr val="D64545"/>
                </a:solidFill>
                <a:latin typeface="Calibri" pitchFamily="34" charset="0"/>
                <a:ea typeface="Calibri" pitchFamily="34" charset="-122"/>
                <a:cs typeface="Calibri" pitchFamily="34" charset="-120"/>
              </a:rPr>
              <a:t>The 10010–10040 ports shown in the old dashboard are mock values.</a:t>
            </a:r>
            <a:endParaRPr lang="en-US" sz="950" dirty="0"/>
          </a:p>
        </p:txBody>
      </p:sp>
      <p:sp>
        <p:nvSpPr>
          <p:cNvPr id="31" name="Shape 29"/>
          <p:cNvSpPr/>
          <p:nvPr/>
        </p:nvSpPr>
        <p:spPr>
          <a:xfrm>
            <a:off x="4846320" y="1188720"/>
            <a:ext cx="3840480" cy="3611880"/>
          </a:xfrm>
          <a:prstGeom prst="roundRect">
            <a:avLst>
              <a:gd name="adj" fmla="val 2025"/>
            </a:avLst>
          </a:prstGeom>
          <a:solidFill>
            <a:srgbClr val="F2F5F8"/>
          </a:solidFill>
          <a:ln w="12700">
            <a:solidFill>
              <a:srgbClr val="F2F5F8"/>
            </a:solidFill>
            <a:prstDash val="solid"/>
          </a:ln>
        </p:spPr>
      </p:sp>
      <p:sp>
        <p:nvSpPr>
          <p:cNvPr id="32" name="Text 30"/>
          <p:cNvSpPr txBox="1"/>
          <p:nvPr/>
        </p:nvSpPr>
        <p:spPr>
          <a:xfrm>
            <a:off x="5029200" y="1298448"/>
            <a:ext cx="3566160" cy="256032"/>
          </a:xfrm>
          <a:prstGeom prst="rect">
            <a:avLst/>
          </a:prstGeom>
          <a:noFill/>
          <a:ln/>
        </p:spPr>
        <p:txBody>
          <a:bodyPr wrap="square" lIns="0" tIns="0" rIns="0" bIns="0" rtlCol="0" anchor="t"/>
          <a:lstStyle/>
          <a:p>
            <a:pPr indent="0" marL="0">
              <a:buNone/>
            </a:pPr>
            <a:r>
              <a:rPr lang="en-US" sz="1100" b="1" dirty="0">
                <a:solidFill>
                  <a:srgbClr val="0B1D33"/>
                </a:solidFill>
                <a:latin typeface="Arial" pitchFamily="34" charset="0"/>
                <a:ea typeface="Arial" pitchFamily="34" charset="-122"/>
                <a:cs typeface="Arial" pitchFamily="34" charset="-120"/>
              </a:rPr>
              <a:t>NBI calls used by CER-Intent and the twin</a:t>
            </a:r>
            <a:endParaRPr lang="en-US" sz="1100" dirty="0"/>
          </a:p>
        </p:txBody>
      </p:sp>
      <p:sp>
        <p:nvSpPr>
          <p:cNvPr id="33" name="Shape 31"/>
          <p:cNvSpPr/>
          <p:nvPr/>
        </p:nvSpPr>
        <p:spPr>
          <a:xfrm>
            <a:off x="5029200" y="1700784"/>
            <a:ext cx="502920" cy="237744"/>
          </a:xfrm>
          <a:prstGeom prst="roundRect">
            <a:avLst>
              <a:gd name="adj" fmla="val 19231"/>
            </a:avLst>
          </a:prstGeom>
          <a:solidFill>
            <a:srgbClr val="0FA3B1"/>
          </a:solidFill>
          <a:ln w="12700">
            <a:solidFill>
              <a:srgbClr val="FFFFFF"/>
            </a:solidFill>
            <a:prstDash val="solid"/>
          </a:ln>
        </p:spPr>
      </p:sp>
      <p:sp>
        <p:nvSpPr>
          <p:cNvPr id="34" name="Text 32"/>
          <p:cNvSpPr txBox="1"/>
          <p:nvPr/>
        </p:nvSpPr>
        <p:spPr>
          <a:xfrm>
            <a:off x="5029200" y="1700784"/>
            <a:ext cx="50292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GET</a:t>
            </a:r>
            <a:endParaRPr lang="en-US" sz="800" dirty="0"/>
          </a:p>
        </p:txBody>
      </p:sp>
      <p:sp>
        <p:nvSpPr>
          <p:cNvPr id="35" name="Text 33"/>
          <p:cNvSpPr txBox="1"/>
          <p:nvPr/>
        </p:nvSpPr>
        <p:spPr>
          <a:xfrm>
            <a:off x="5623560" y="1664208"/>
            <a:ext cx="3017520" cy="310896"/>
          </a:xfrm>
          <a:prstGeom prst="rect">
            <a:avLst/>
          </a:prstGeom>
          <a:noFill/>
          <a:ln/>
        </p:spPr>
        <p:txBody>
          <a:bodyPr wrap="square" lIns="0" tIns="0" rIns="0" bIns="0" rtlCol="0" anchor="ctr"/>
          <a:lstStyle/>
          <a:p>
            <a:pPr indent="0" marL="0">
              <a:buNone/>
            </a:pPr>
            <a:r>
              <a:rPr lang="en-US" sz="850" dirty="0">
                <a:solidFill>
                  <a:srgbClr val="1A2B3C"/>
                </a:solidFill>
                <a:latin typeface="Courier New" pitchFamily="34" charset="0"/>
                <a:ea typeface="Courier New" pitchFamily="34" charset="-122"/>
                <a:cs typeface="Courier New" pitchFamily="34" charset="-120"/>
              </a:rPr>
              <a:t>/tfs-api/contexts</a:t>
            </a:r>
            <a:endParaRPr lang="en-US" sz="850" dirty="0"/>
          </a:p>
        </p:txBody>
      </p:sp>
      <p:sp>
        <p:nvSpPr>
          <p:cNvPr id="36" name="Shape 34"/>
          <p:cNvSpPr/>
          <p:nvPr/>
        </p:nvSpPr>
        <p:spPr>
          <a:xfrm>
            <a:off x="5029200" y="2066544"/>
            <a:ext cx="502920" cy="237744"/>
          </a:xfrm>
          <a:prstGeom prst="roundRect">
            <a:avLst>
              <a:gd name="adj" fmla="val 19231"/>
            </a:avLst>
          </a:prstGeom>
          <a:solidFill>
            <a:srgbClr val="0FA3B1"/>
          </a:solidFill>
          <a:ln w="12700">
            <a:solidFill>
              <a:srgbClr val="FFFFFF"/>
            </a:solidFill>
            <a:prstDash val="solid"/>
          </a:ln>
        </p:spPr>
      </p:sp>
      <p:sp>
        <p:nvSpPr>
          <p:cNvPr id="37" name="Text 35"/>
          <p:cNvSpPr txBox="1"/>
          <p:nvPr/>
        </p:nvSpPr>
        <p:spPr>
          <a:xfrm>
            <a:off x="5029200" y="2066544"/>
            <a:ext cx="50292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GET</a:t>
            </a:r>
            <a:endParaRPr lang="en-US" sz="800" dirty="0"/>
          </a:p>
        </p:txBody>
      </p:sp>
      <p:sp>
        <p:nvSpPr>
          <p:cNvPr id="38" name="Text 36"/>
          <p:cNvSpPr txBox="1"/>
          <p:nvPr/>
        </p:nvSpPr>
        <p:spPr>
          <a:xfrm>
            <a:off x="5623560" y="2029968"/>
            <a:ext cx="3017520" cy="310896"/>
          </a:xfrm>
          <a:prstGeom prst="rect">
            <a:avLst/>
          </a:prstGeom>
          <a:noFill/>
          <a:ln/>
        </p:spPr>
        <p:txBody>
          <a:bodyPr wrap="square" lIns="0" tIns="0" rIns="0" bIns="0" rtlCol="0" anchor="ctr"/>
          <a:lstStyle/>
          <a:p>
            <a:pPr indent="0" marL="0">
              <a:buNone/>
            </a:pPr>
            <a:r>
              <a:rPr lang="en-US" sz="850" dirty="0">
                <a:solidFill>
                  <a:srgbClr val="1A2B3C"/>
                </a:solidFill>
                <a:latin typeface="Courier New" pitchFamily="34" charset="0"/>
                <a:ea typeface="Courier New" pitchFamily="34" charset="-122"/>
                <a:cs typeface="Courier New" pitchFamily="34" charset="-120"/>
              </a:rPr>
              <a:t>/tfs-api/context/admin/topology_details/admin</a:t>
            </a:r>
            <a:endParaRPr lang="en-US" sz="850" dirty="0"/>
          </a:p>
        </p:txBody>
      </p:sp>
      <p:sp>
        <p:nvSpPr>
          <p:cNvPr id="39" name="Shape 37"/>
          <p:cNvSpPr/>
          <p:nvPr/>
        </p:nvSpPr>
        <p:spPr>
          <a:xfrm>
            <a:off x="5029200" y="2432304"/>
            <a:ext cx="502920" cy="237744"/>
          </a:xfrm>
          <a:prstGeom prst="roundRect">
            <a:avLst>
              <a:gd name="adj" fmla="val 19231"/>
            </a:avLst>
          </a:prstGeom>
          <a:solidFill>
            <a:srgbClr val="0FA3B1"/>
          </a:solidFill>
          <a:ln w="12700">
            <a:solidFill>
              <a:srgbClr val="FFFFFF"/>
            </a:solidFill>
            <a:prstDash val="solid"/>
          </a:ln>
        </p:spPr>
      </p:sp>
      <p:sp>
        <p:nvSpPr>
          <p:cNvPr id="40" name="Text 38"/>
          <p:cNvSpPr txBox="1"/>
          <p:nvPr/>
        </p:nvSpPr>
        <p:spPr>
          <a:xfrm>
            <a:off x="5029200" y="2432304"/>
            <a:ext cx="50292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GET</a:t>
            </a:r>
            <a:endParaRPr lang="en-US" sz="800" dirty="0"/>
          </a:p>
        </p:txBody>
      </p:sp>
      <p:sp>
        <p:nvSpPr>
          <p:cNvPr id="41" name="Text 39"/>
          <p:cNvSpPr txBox="1"/>
          <p:nvPr/>
        </p:nvSpPr>
        <p:spPr>
          <a:xfrm>
            <a:off x="5623560" y="2395728"/>
            <a:ext cx="3017520" cy="310896"/>
          </a:xfrm>
          <a:prstGeom prst="rect">
            <a:avLst/>
          </a:prstGeom>
          <a:noFill/>
          <a:ln/>
        </p:spPr>
        <p:txBody>
          <a:bodyPr wrap="square" lIns="0" tIns="0" rIns="0" bIns="0" rtlCol="0" anchor="ctr"/>
          <a:lstStyle/>
          <a:p>
            <a:pPr indent="0" marL="0">
              <a:buNone/>
            </a:pPr>
            <a:r>
              <a:rPr lang="en-US" sz="850" dirty="0">
                <a:solidFill>
                  <a:srgbClr val="1A2B3C"/>
                </a:solidFill>
                <a:latin typeface="Courier New" pitchFamily="34" charset="0"/>
                <a:ea typeface="Courier New" pitchFamily="34" charset="-122"/>
                <a:cs typeface="Courier New" pitchFamily="34" charset="-120"/>
              </a:rPr>
              <a:t>/tfs-api/devices · /links</a:t>
            </a:r>
            <a:endParaRPr lang="en-US" sz="850" dirty="0"/>
          </a:p>
        </p:txBody>
      </p:sp>
      <p:sp>
        <p:nvSpPr>
          <p:cNvPr id="42" name="Shape 40"/>
          <p:cNvSpPr/>
          <p:nvPr/>
        </p:nvSpPr>
        <p:spPr>
          <a:xfrm>
            <a:off x="5029200" y="2798064"/>
            <a:ext cx="502920" cy="237744"/>
          </a:xfrm>
          <a:prstGeom prst="roundRect">
            <a:avLst>
              <a:gd name="adj" fmla="val 19231"/>
            </a:avLst>
          </a:prstGeom>
          <a:solidFill>
            <a:srgbClr val="0B1D33"/>
          </a:solidFill>
          <a:ln w="12700">
            <a:solidFill>
              <a:srgbClr val="FFFFFF"/>
            </a:solidFill>
            <a:prstDash val="solid"/>
          </a:ln>
        </p:spPr>
      </p:sp>
      <p:sp>
        <p:nvSpPr>
          <p:cNvPr id="43" name="Text 41"/>
          <p:cNvSpPr txBox="1"/>
          <p:nvPr/>
        </p:nvSpPr>
        <p:spPr>
          <a:xfrm>
            <a:off x="5029200" y="2798064"/>
            <a:ext cx="50292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PUT</a:t>
            </a:r>
            <a:endParaRPr lang="en-US" sz="800" dirty="0"/>
          </a:p>
        </p:txBody>
      </p:sp>
      <p:sp>
        <p:nvSpPr>
          <p:cNvPr id="44" name="Text 42"/>
          <p:cNvSpPr txBox="1"/>
          <p:nvPr/>
        </p:nvSpPr>
        <p:spPr>
          <a:xfrm>
            <a:off x="5623560" y="2761488"/>
            <a:ext cx="3017520" cy="310896"/>
          </a:xfrm>
          <a:prstGeom prst="rect">
            <a:avLst/>
          </a:prstGeom>
          <a:noFill/>
          <a:ln/>
        </p:spPr>
        <p:txBody>
          <a:bodyPr wrap="square" lIns="0" tIns="0" rIns="0" bIns="0" rtlCol="0" anchor="ctr"/>
          <a:lstStyle/>
          <a:p>
            <a:pPr indent="0" marL="0">
              <a:buNone/>
            </a:pPr>
            <a:r>
              <a:rPr lang="en-US" sz="850" dirty="0">
                <a:solidFill>
                  <a:srgbClr val="1A2B3C"/>
                </a:solidFill>
                <a:latin typeface="Courier New" pitchFamily="34" charset="0"/>
                <a:ea typeface="Courier New" pitchFamily="34" charset="-122"/>
                <a:cs typeface="Courier New" pitchFamily="34" charset="-120"/>
              </a:rPr>
              <a:t>/tfs-api/device/{uuid}  (config rules)</a:t>
            </a:r>
            <a:endParaRPr lang="en-US" sz="850" dirty="0"/>
          </a:p>
        </p:txBody>
      </p:sp>
      <p:sp>
        <p:nvSpPr>
          <p:cNvPr id="45" name="Shape 43"/>
          <p:cNvSpPr/>
          <p:nvPr/>
        </p:nvSpPr>
        <p:spPr>
          <a:xfrm>
            <a:off x="5029200" y="3163824"/>
            <a:ext cx="502920" cy="237744"/>
          </a:xfrm>
          <a:prstGeom prst="roundRect">
            <a:avLst>
              <a:gd name="adj" fmla="val 19231"/>
            </a:avLst>
          </a:prstGeom>
          <a:solidFill>
            <a:srgbClr val="0B1D33"/>
          </a:solidFill>
          <a:ln w="12700">
            <a:solidFill>
              <a:srgbClr val="FFFFFF"/>
            </a:solidFill>
            <a:prstDash val="solid"/>
          </a:ln>
        </p:spPr>
      </p:sp>
      <p:sp>
        <p:nvSpPr>
          <p:cNvPr id="46" name="Text 44"/>
          <p:cNvSpPr txBox="1"/>
          <p:nvPr/>
        </p:nvSpPr>
        <p:spPr>
          <a:xfrm>
            <a:off x="5029200" y="3163824"/>
            <a:ext cx="50292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POST</a:t>
            </a:r>
            <a:endParaRPr lang="en-US" sz="800" dirty="0"/>
          </a:p>
        </p:txBody>
      </p:sp>
      <p:sp>
        <p:nvSpPr>
          <p:cNvPr id="47" name="Text 45"/>
          <p:cNvSpPr txBox="1"/>
          <p:nvPr/>
        </p:nvSpPr>
        <p:spPr>
          <a:xfrm>
            <a:off x="5623560" y="3127248"/>
            <a:ext cx="3017520" cy="310896"/>
          </a:xfrm>
          <a:prstGeom prst="rect">
            <a:avLst/>
          </a:prstGeom>
          <a:noFill/>
          <a:ln/>
        </p:spPr>
        <p:txBody>
          <a:bodyPr wrap="square" lIns="0" tIns="0" rIns="0" bIns="0" rtlCol="0" anchor="ctr"/>
          <a:lstStyle/>
          <a:p>
            <a:pPr indent="0" marL="0">
              <a:buNone/>
            </a:pPr>
            <a:r>
              <a:rPr lang="en-US" sz="850" dirty="0">
                <a:solidFill>
                  <a:srgbClr val="1A2B3C"/>
                </a:solidFill>
                <a:latin typeface="Courier New" pitchFamily="34" charset="0"/>
                <a:ea typeface="Courier New" pitchFamily="34" charset="-122"/>
                <a:cs typeface="Courier New" pitchFamily="34" charset="-120"/>
              </a:rPr>
              <a:t>/tfs-api/context/admin/slices</a:t>
            </a:r>
            <a:endParaRPr lang="en-US" sz="850" dirty="0"/>
          </a:p>
        </p:txBody>
      </p:sp>
      <p:sp>
        <p:nvSpPr>
          <p:cNvPr id="48" name="Text 46"/>
          <p:cNvSpPr txBox="1"/>
          <p:nvPr/>
        </p:nvSpPr>
        <p:spPr>
          <a:xfrm>
            <a:off x="5029200" y="3566160"/>
            <a:ext cx="3566160" cy="228600"/>
          </a:xfrm>
          <a:prstGeom prst="rect">
            <a:avLst/>
          </a:prstGeom>
          <a:noFill/>
          <a:ln/>
        </p:spPr>
        <p:txBody>
          <a:bodyPr wrap="square" lIns="0" tIns="0" rIns="0" bIns="0" rtlCol="0" anchor="t"/>
          <a:lstStyle/>
          <a:p>
            <a:pPr indent="0" marL="0">
              <a:buNone/>
            </a:pPr>
            <a:r>
              <a:rPr lang="en-US" sz="1050" b="1" dirty="0">
                <a:solidFill>
                  <a:srgbClr val="0B1D33"/>
                </a:solidFill>
                <a:latin typeface="Arial" pitchFamily="34" charset="0"/>
                <a:ea typeface="Arial" pitchFamily="34" charset="-122"/>
                <a:cs typeface="Arial" pitchFamily="34" charset="-120"/>
              </a:rPr>
              <a:t>Ceragon device in TFS</a:t>
            </a:r>
            <a:endParaRPr lang="en-US" sz="1050" dirty="0"/>
          </a:p>
        </p:txBody>
      </p:sp>
      <p:sp>
        <p:nvSpPr>
          <p:cNvPr id="49" name="Text 47"/>
          <p:cNvSpPr txBox="1"/>
          <p:nvPr/>
        </p:nvSpPr>
        <p:spPr>
          <a:xfrm>
            <a:off x="5029200" y="3813048"/>
            <a:ext cx="3566160" cy="457200"/>
          </a:xfrm>
          <a:prstGeom prst="rect">
            <a:avLst/>
          </a:prstGeom>
          <a:noFill/>
          <a:ln/>
        </p:spPr>
        <p:txBody>
          <a:bodyPr wrap="square" lIns="0" tIns="0" rIns="0" bIns="0" rtlCol="0" anchor="t"/>
          <a:lstStyle/>
          <a:p>
            <a:pPr indent="0" marL="0">
              <a:buNone/>
            </a:pPr>
            <a:r>
              <a:rPr lang="en-US" sz="950" dirty="0">
                <a:solidFill>
                  <a:srgbClr val="1A2B3C"/>
                </a:solidFill>
                <a:latin typeface="Calibri" pitchFamily="34" charset="0"/>
                <a:ea typeface="Calibri" pitchFamily="34" charset="-122"/>
                <a:cs typeface="Calibri" pitchFamily="34" charset="-120"/>
              </a:rPr>
              <a:t>DEVICEDRIVER_CERAGON = 22 · type microwave-radio-system · ceragon-mh-t261-ctu-96 @ 192.168.1.225:80</a:t>
            </a:r>
            <a:endParaRPr lang="en-US" sz="950" dirty="0"/>
          </a:p>
        </p:txBody>
      </p:sp>
      <p:sp>
        <p:nvSpPr>
          <p:cNvPr id="50" name="Shape 48"/>
          <p:cNvSpPr/>
          <p:nvPr/>
        </p:nvSpPr>
        <p:spPr>
          <a:xfrm>
            <a:off x="5029200" y="4389120"/>
            <a:ext cx="868680" cy="201168"/>
          </a:xfrm>
          <a:prstGeom prst="roundRect">
            <a:avLst>
              <a:gd name="adj" fmla="val 50000"/>
            </a:avLst>
          </a:prstGeom>
          <a:solidFill>
            <a:srgbClr val="22A06B"/>
          </a:solidFill>
          <a:ln w="12700">
            <a:solidFill>
              <a:srgbClr val="22A06B"/>
            </a:solidFill>
            <a:prstDash val="solid"/>
          </a:ln>
        </p:spPr>
      </p:sp>
      <p:sp>
        <p:nvSpPr>
          <p:cNvPr id="51" name="Text 49"/>
          <p:cNvSpPr txBox="1"/>
          <p:nvPr/>
        </p:nvSpPr>
        <p:spPr>
          <a:xfrm>
            <a:off x="5029200" y="4389120"/>
            <a:ext cx="868680" cy="201168"/>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Arial" pitchFamily="34" charset="0"/>
                <a:ea typeface="Arial" pitchFamily="34" charset="-122"/>
                <a:cs typeface="Arial" pitchFamily="34" charset="-120"/>
              </a:rPr>
              <a:t>IMPLEMENTED</a:t>
            </a:r>
            <a:endParaRPr lang="en-US" sz="700" dirty="0"/>
          </a:p>
        </p:txBody>
      </p:sp>
      <p:sp>
        <p:nvSpPr>
          <p:cNvPr id="52" name="Text 50"/>
          <p:cNvSpPr txBox="1"/>
          <p:nvPr/>
        </p:nvSpPr>
        <p:spPr>
          <a:xfrm>
            <a:off x="5989320" y="4343400"/>
            <a:ext cx="2651760" cy="320040"/>
          </a:xfrm>
          <a:prstGeom prst="rect">
            <a:avLst/>
          </a:prstGeom>
          <a:noFill/>
          <a:ln/>
        </p:spPr>
        <p:txBody>
          <a:bodyPr wrap="square" lIns="0" tIns="0" rIns="0" bIns="0" rtlCol="0" anchor="ctr"/>
          <a:lstStyle/>
          <a:p>
            <a:pPr indent="0" marL="0">
              <a:buNone/>
            </a:pPr>
            <a:r>
              <a:rPr lang="en-US" sz="900" i="1" dirty="0">
                <a:solidFill>
                  <a:srgbClr val="5A6B7D"/>
                </a:solidFill>
                <a:latin typeface="Calibri" pitchFamily="34" charset="0"/>
                <a:ea typeface="Calibri" pitchFamily="34" charset="-122"/>
                <a:cs typeface="Calibri" pitchFamily="34" charset="-120"/>
              </a:rPr>
              <a:t>No TFS Service or PathComp (CSPF) request is made yet.</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000" b="1" spc="200" kern="0" dirty="0">
                <a:solidFill>
                  <a:srgbClr val="0FA3B1"/>
                </a:solidFill>
                <a:latin typeface="Arial" pitchFamily="34" charset="0"/>
                <a:ea typeface="Arial" pitchFamily="34" charset="-122"/>
                <a:cs typeface="Arial" pitchFamily="34" charset="-120"/>
              </a:rPr>
              <a:t>SIMULATION ADAPTER · NS-3.45</a:t>
            </a:r>
            <a:endParaRPr lang="en-US" sz="10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400" b="1" dirty="0">
                <a:solidFill>
                  <a:srgbClr val="0B1D33"/>
                </a:solidFill>
                <a:latin typeface="Arial" pitchFamily="34" charset="0"/>
                <a:ea typeface="Arial" pitchFamily="34" charset="-122"/>
                <a:cs typeface="Arial" pitchFamily="34" charset="-120"/>
              </a:rPr>
              <a:t>The TSN-over-microwave scenario the twin runs</a:t>
            </a:r>
            <a:endParaRPr lang="en-US" sz="2400" dirty="0"/>
          </a:p>
        </p:txBody>
      </p:sp>
      <p:sp>
        <p:nvSpPr>
          <p:cNvPr id="4" name="Shape 2"/>
          <p:cNvSpPr/>
          <p:nvPr/>
        </p:nvSpPr>
        <p:spPr>
          <a:xfrm>
            <a:off x="457200" y="1325880"/>
            <a:ext cx="914400" cy="457200"/>
          </a:xfrm>
          <a:prstGeom prst="roundRect">
            <a:avLst>
              <a:gd name="adj" fmla="val 16000"/>
            </a:avLst>
          </a:prstGeom>
          <a:solidFill>
            <a:srgbClr val="FFFFFF"/>
          </a:solidFill>
          <a:ln w="19050">
            <a:solidFill>
              <a:srgbClr val="7C5CFF"/>
            </a:solidFill>
            <a:prstDash val="solid"/>
          </a:ln>
        </p:spPr>
      </p:sp>
      <p:sp>
        <p:nvSpPr>
          <p:cNvPr id="5" name="Text 3"/>
          <p:cNvSpPr txBox="1"/>
          <p:nvPr/>
        </p:nvSpPr>
        <p:spPr>
          <a:xfrm>
            <a:off x="457200" y="1325880"/>
            <a:ext cx="914400" cy="457200"/>
          </a:xfrm>
          <a:prstGeom prst="rect">
            <a:avLst/>
          </a:prstGeom>
          <a:noFill/>
          <a:ln/>
        </p:spPr>
        <p:txBody>
          <a:bodyPr wrap="square" lIns="0" tIns="0" rIns="0" bIns="0" rtlCol="0" anchor="ctr"/>
          <a:lstStyle/>
          <a:p>
            <a:pPr algn="ctr" indent="0" marL="0">
              <a:buNone/>
            </a:pPr>
            <a:r>
              <a:rPr lang="en-US" sz="950" b="1" dirty="0">
                <a:solidFill>
                  <a:srgbClr val="1A2B3C"/>
                </a:solidFill>
                <a:latin typeface="Calibri" pitchFamily="34" charset="0"/>
                <a:ea typeface="Calibri" pitchFamily="34" charset="-122"/>
                <a:cs typeface="Calibri" pitchFamily="34" charset="-120"/>
              </a:rPr>
              <a:t>STA ×2</a:t>
            </a:r>
            <a:endParaRPr lang="en-US" sz="950" dirty="0"/>
          </a:p>
        </p:txBody>
      </p:sp>
      <p:sp>
        <p:nvSpPr>
          <p:cNvPr id="6" name="Shape 4"/>
          <p:cNvSpPr/>
          <p:nvPr/>
        </p:nvSpPr>
        <p:spPr>
          <a:xfrm>
            <a:off x="1371600" y="1554480"/>
            <a:ext cx="548640" cy="0"/>
          </a:xfrm>
          <a:prstGeom prst="line">
            <a:avLst/>
          </a:prstGeom>
          <a:noFill/>
          <a:ln w="19050">
            <a:solidFill>
              <a:srgbClr val="5A6B7D"/>
            </a:solidFill>
            <a:prstDash val="solid"/>
          </a:ln>
        </p:spPr>
      </p:sp>
      <p:sp>
        <p:nvSpPr>
          <p:cNvPr id="7" name="Text 5"/>
          <p:cNvSpPr txBox="1"/>
          <p:nvPr/>
        </p:nvSpPr>
        <p:spPr>
          <a:xfrm>
            <a:off x="1097280" y="1810512"/>
            <a:ext cx="1097280" cy="329184"/>
          </a:xfrm>
          <a:prstGeom prst="rect">
            <a:avLst/>
          </a:prstGeom>
          <a:noFill/>
          <a:ln/>
        </p:spPr>
        <p:txBody>
          <a:bodyPr wrap="square" lIns="0" tIns="0" rIns="0" bIns="0" rtlCol="0" anchor="t"/>
          <a:lstStyle/>
          <a:p>
            <a:pPr algn="ctr" indent="0" marL="0">
              <a:buNone/>
            </a:pPr>
            <a:r>
              <a:rPr lang="en-US" sz="800" dirty="0">
                <a:solidFill>
                  <a:srgbClr val="5A6B7D"/>
                </a:solidFill>
                <a:latin typeface="Calibri" pitchFamily="34" charset="0"/>
                <a:ea typeface="Calibri" pitchFamily="34" charset="-122"/>
                <a:cs typeface="Calibri" pitchFamily="34" charset="-120"/>
              </a:rPr>
              <a:t>802.11n</a:t>
            </a:r>
            <a:endParaRPr lang="en-US" sz="800" dirty="0"/>
          </a:p>
          <a:p>
            <a:pPr algn="ctr" indent="0" marL="0">
              <a:buNone/>
            </a:pPr>
            <a:r>
              <a:rPr lang="en-US" sz="800" dirty="0">
                <a:solidFill>
                  <a:srgbClr val="5A6B7D"/>
                </a:solidFill>
                <a:latin typeface="Calibri" pitchFamily="34" charset="0"/>
                <a:ea typeface="Calibri" pitchFamily="34" charset="-122"/>
                <a:cs typeface="Calibri" pitchFamily="34" charset="-120"/>
              </a:rPr>
              <a:t>HtMcs7</a:t>
            </a:r>
            <a:endParaRPr lang="en-US" sz="800" dirty="0"/>
          </a:p>
        </p:txBody>
      </p:sp>
      <p:sp>
        <p:nvSpPr>
          <p:cNvPr id="8" name="Shape 6"/>
          <p:cNvSpPr/>
          <p:nvPr/>
        </p:nvSpPr>
        <p:spPr>
          <a:xfrm>
            <a:off x="1920240" y="1325880"/>
            <a:ext cx="914400" cy="457200"/>
          </a:xfrm>
          <a:prstGeom prst="roundRect">
            <a:avLst>
              <a:gd name="adj" fmla="val 16000"/>
            </a:avLst>
          </a:prstGeom>
          <a:solidFill>
            <a:srgbClr val="FFFFFF"/>
          </a:solidFill>
          <a:ln w="19050">
            <a:solidFill>
              <a:srgbClr val="7C5CFF"/>
            </a:solidFill>
            <a:prstDash val="solid"/>
          </a:ln>
        </p:spPr>
      </p:sp>
      <p:sp>
        <p:nvSpPr>
          <p:cNvPr id="9" name="Text 7"/>
          <p:cNvSpPr txBox="1"/>
          <p:nvPr/>
        </p:nvSpPr>
        <p:spPr>
          <a:xfrm>
            <a:off x="1920240" y="1325880"/>
            <a:ext cx="914400" cy="457200"/>
          </a:xfrm>
          <a:prstGeom prst="rect">
            <a:avLst/>
          </a:prstGeom>
          <a:noFill/>
          <a:ln/>
        </p:spPr>
        <p:txBody>
          <a:bodyPr wrap="square" lIns="0" tIns="0" rIns="0" bIns="0" rtlCol="0" anchor="ctr"/>
          <a:lstStyle/>
          <a:p>
            <a:pPr algn="ctr" indent="0" marL="0">
              <a:buNone/>
            </a:pPr>
            <a:r>
              <a:rPr lang="en-US" sz="950" b="1" dirty="0">
                <a:solidFill>
                  <a:srgbClr val="1A2B3C"/>
                </a:solidFill>
                <a:latin typeface="Calibri" pitchFamily="34" charset="0"/>
                <a:ea typeface="Calibri" pitchFamily="34" charset="-122"/>
                <a:cs typeface="Calibri" pitchFamily="34" charset="-120"/>
              </a:rPr>
              <a:t>Wi-Fi AP ×2</a:t>
            </a:r>
            <a:endParaRPr lang="en-US" sz="950" dirty="0"/>
          </a:p>
        </p:txBody>
      </p:sp>
      <p:sp>
        <p:nvSpPr>
          <p:cNvPr id="10" name="Shape 8"/>
          <p:cNvSpPr/>
          <p:nvPr/>
        </p:nvSpPr>
        <p:spPr>
          <a:xfrm>
            <a:off x="2834640" y="1554480"/>
            <a:ext cx="548640" cy="0"/>
          </a:xfrm>
          <a:prstGeom prst="line">
            <a:avLst/>
          </a:prstGeom>
          <a:noFill/>
          <a:ln w="19050">
            <a:solidFill>
              <a:srgbClr val="5A6B7D"/>
            </a:solidFill>
            <a:prstDash val="solid"/>
          </a:ln>
        </p:spPr>
      </p:sp>
      <p:sp>
        <p:nvSpPr>
          <p:cNvPr id="11" name="Text 9"/>
          <p:cNvSpPr txBox="1"/>
          <p:nvPr/>
        </p:nvSpPr>
        <p:spPr>
          <a:xfrm>
            <a:off x="2560320" y="1810512"/>
            <a:ext cx="1097280" cy="329184"/>
          </a:xfrm>
          <a:prstGeom prst="rect">
            <a:avLst/>
          </a:prstGeom>
          <a:noFill/>
          <a:ln/>
        </p:spPr>
        <p:txBody>
          <a:bodyPr wrap="square" lIns="0" tIns="0" rIns="0" bIns="0" rtlCol="0" anchor="t"/>
          <a:lstStyle/>
          <a:p>
            <a:pPr algn="ctr" indent="0" marL="0">
              <a:buNone/>
            </a:pPr>
            <a:r>
              <a:rPr lang="en-US" sz="800" dirty="0">
                <a:solidFill>
                  <a:srgbClr val="5A6B7D"/>
                </a:solidFill>
                <a:latin typeface="Calibri" pitchFamily="34" charset="0"/>
                <a:ea typeface="Calibri" pitchFamily="34" charset="-122"/>
                <a:cs typeface="Calibri" pitchFamily="34" charset="-120"/>
              </a:rPr>
              <a:t>10 Gbps</a:t>
            </a:r>
            <a:endParaRPr lang="en-US" sz="800" dirty="0"/>
          </a:p>
        </p:txBody>
      </p:sp>
      <p:sp>
        <p:nvSpPr>
          <p:cNvPr id="12" name="Shape 10"/>
          <p:cNvSpPr/>
          <p:nvPr/>
        </p:nvSpPr>
        <p:spPr>
          <a:xfrm>
            <a:off x="3383280" y="1325880"/>
            <a:ext cx="914400" cy="457200"/>
          </a:xfrm>
          <a:prstGeom prst="roundRect">
            <a:avLst>
              <a:gd name="adj" fmla="val 16000"/>
            </a:avLst>
          </a:prstGeom>
          <a:solidFill>
            <a:srgbClr val="FFFFFF"/>
          </a:solidFill>
          <a:ln w="19050">
            <a:solidFill>
              <a:srgbClr val="22A06B"/>
            </a:solidFill>
            <a:prstDash val="solid"/>
          </a:ln>
        </p:spPr>
      </p:sp>
      <p:sp>
        <p:nvSpPr>
          <p:cNvPr id="13" name="Text 11"/>
          <p:cNvSpPr txBox="1"/>
          <p:nvPr/>
        </p:nvSpPr>
        <p:spPr>
          <a:xfrm>
            <a:off x="3383280" y="1325880"/>
            <a:ext cx="914400" cy="457200"/>
          </a:xfrm>
          <a:prstGeom prst="rect">
            <a:avLst/>
          </a:prstGeom>
          <a:noFill/>
          <a:ln/>
        </p:spPr>
        <p:txBody>
          <a:bodyPr wrap="square" lIns="0" tIns="0" rIns="0" bIns="0" rtlCol="0" anchor="ctr"/>
          <a:lstStyle/>
          <a:p>
            <a:pPr algn="ctr" indent="0" marL="0">
              <a:buNone/>
            </a:pPr>
            <a:r>
              <a:rPr lang="en-US" sz="950" b="1" dirty="0">
                <a:solidFill>
                  <a:srgbClr val="1A2B3C"/>
                </a:solidFill>
                <a:latin typeface="Calibri" pitchFamily="34" charset="0"/>
                <a:ea typeface="Calibri" pitchFamily="34" charset="-122"/>
                <a:cs typeface="Calibri" pitchFamily="34" charset="-120"/>
              </a:rPr>
              <a:t>C0</a:t>
            </a:r>
            <a:endParaRPr lang="en-US" sz="950" dirty="0"/>
          </a:p>
        </p:txBody>
      </p:sp>
      <p:sp>
        <p:nvSpPr>
          <p:cNvPr id="14" name="Shape 12"/>
          <p:cNvSpPr/>
          <p:nvPr/>
        </p:nvSpPr>
        <p:spPr>
          <a:xfrm>
            <a:off x="4297680" y="1554480"/>
            <a:ext cx="548640" cy="0"/>
          </a:xfrm>
          <a:prstGeom prst="line">
            <a:avLst/>
          </a:prstGeom>
          <a:noFill/>
          <a:ln w="38100">
            <a:solidFill>
              <a:srgbClr val="E8912D"/>
            </a:solidFill>
            <a:prstDash val="solid"/>
          </a:ln>
        </p:spPr>
      </p:sp>
      <p:sp>
        <p:nvSpPr>
          <p:cNvPr id="15" name="Text 13"/>
          <p:cNvSpPr txBox="1"/>
          <p:nvPr/>
        </p:nvSpPr>
        <p:spPr>
          <a:xfrm>
            <a:off x="4023360" y="1810512"/>
            <a:ext cx="1097280" cy="329184"/>
          </a:xfrm>
          <a:prstGeom prst="rect">
            <a:avLst/>
          </a:prstGeom>
          <a:noFill/>
          <a:ln/>
        </p:spPr>
        <p:txBody>
          <a:bodyPr wrap="square" lIns="0" tIns="0" rIns="0" bIns="0" rtlCol="0" anchor="t"/>
          <a:lstStyle/>
          <a:p>
            <a:pPr algn="ctr" indent="0" marL="0">
              <a:buNone/>
            </a:pPr>
            <a:r>
              <a:rPr lang="en-US" sz="800" b="1" dirty="0">
                <a:solidFill>
                  <a:srgbClr val="E8912D"/>
                </a:solidFill>
                <a:latin typeface="Calibri" pitchFamily="34" charset="0"/>
                <a:ea typeface="Calibri" pitchFamily="34" charset="-122"/>
                <a:cs typeface="Calibri" pitchFamily="34" charset="-120"/>
              </a:rPr>
              <a:t>60 GHz</a:t>
            </a:r>
            <a:endParaRPr lang="en-US" sz="800" dirty="0"/>
          </a:p>
          <a:p>
            <a:pPr algn="ctr" indent="0" marL="0">
              <a:buNone/>
            </a:pPr>
            <a:r>
              <a:rPr lang="en-US" sz="800" b="1" dirty="0">
                <a:solidFill>
                  <a:srgbClr val="E8912D"/>
                </a:solidFill>
                <a:latin typeface="Calibri" pitchFamily="34" charset="0"/>
                <a:ea typeface="Calibri" pitchFamily="34" charset="-122"/>
                <a:cs typeface="Calibri" pitchFamily="34" charset="-120"/>
              </a:rPr>
              <a:t>1 Gbps · 0.15 ms</a:t>
            </a:r>
            <a:endParaRPr lang="en-US" sz="800" dirty="0"/>
          </a:p>
        </p:txBody>
      </p:sp>
      <p:sp>
        <p:nvSpPr>
          <p:cNvPr id="16" name="Shape 14"/>
          <p:cNvSpPr/>
          <p:nvPr/>
        </p:nvSpPr>
        <p:spPr>
          <a:xfrm>
            <a:off x="4846320" y="1325880"/>
            <a:ext cx="914400" cy="457200"/>
          </a:xfrm>
          <a:prstGeom prst="roundRect">
            <a:avLst>
              <a:gd name="adj" fmla="val 16000"/>
            </a:avLst>
          </a:prstGeom>
          <a:solidFill>
            <a:srgbClr val="FFFFFF"/>
          </a:solidFill>
          <a:ln w="19050">
            <a:solidFill>
              <a:srgbClr val="22A06B"/>
            </a:solidFill>
            <a:prstDash val="solid"/>
          </a:ln>
        </p:spPr>
      </p:sp>
      <p:sp>
        <p:nvSpPr>
          <p:cNvPr id="17" name="Text 15"/>
          <p:cNvSpPr txBox="1"/>
          <p:nvPr/>
        </p:nvSpPr>
        <p:spPr>
          <a:xfrm>
            <a:off x="4846320" y="1325880"/>
            <a:ext cx="914400" cy="457200"/>
          </a:xfrm>
          <a:prstGeom prst="rect">
            <a:avLst/>
          </a:prstGeom>
          <a:noFill/>
          <a:ln/>
        </p:spPr>
        <p:txBody>
          <a:bodyPr wrap="square" lIns="0" tIns="0" rIns="0" bIns="0" rtlCol="0" anchor="ctr"/>
          <a:lstStyle/>
          <a:p>
            <a:pPr algn="ctr" indent="0" marL="0">
              <a:buNone/>
            </a:pPr>
            <a:r>
              <a:rPr lang="en-US" sz="950" b="1" dirty="0">
                <a:solidFill>
                  <a:srgbClr val="1A2B3C"/>
                </a:solidFill>
                <a:latin typeface="Calibri" pitchFamily="34" charset="0"/>
                <a:ea typeface="Calibri" pitchFamily="34" charset="-122"/>
                <a:cs typeface="Calibri" pitchFamily="34" charset="-120"/>
              </a:rPr>
              <a:t>C1</a:t>
            </a:r>
            <a:endParaRPr lang="en-US" sz="950" dirty="0"/>
          </a:p>
        </p:txBody>
      </p:sp>
      <p:sp>
        <p:nvSpPr>
          <p:cNvPr id="18" name="Shape 16"/>
          <p:cNvSpPr/>
          <p:nvPr/>
        </p:nvSpPr>
        <p:spPr>
          <a:xfrm>
            <a:off x="5760720" y="1554480"/>
            <a:ext cx="548640" cy="0"/>
          </a:xfrm>
          <a:prstGeom prst="line">
            <a:avLst/>
          </a:prstGeom>
          <a:noFill/>
          <a:ln w="19050">
            <a:solidFill>
              <a:srgbClr val="5A6B7D"/>
            </a:solidFill>
            <a:prstDash val="solid"/>
          </a:ln>
        </p:spPr>
      </p:sp>
      <p:sp>
        <p:nvSpPr>
          <p:cNvPr id="19" name="Text 17"/>
          <p:cNvSpPr txBox="1"/>
          <p:nvPr/>
        </p:nvSpPr>
        <p:spPr>
          <a:xfrm>
            <a:off x="5486400" y="1810512"/>
            <a:ext cx="1097280" cy="329184"/>
          </a:xfrm>
          <a:prstGeom prst="rect">
            <a:avLst/>
          </a:prstGeom>
          <a:noFill/>
          <a:ln/>
        </p:spPr>
        <p:txBody>
          <a:bodyPr wrap="square" lIns="0" tIns="0" rIns="0" bIns="0" rtlCol="0" anchor="t"/>
          <a:lstStyle/>
          <a:p>
            <a:pPr algn="ctr" indent="0" marL="0">
              <a:buNone/>
            </a:pPr>
            <a:r>
              <a:rPr lang="en-US" sz="800" dirty="0">
                <a:solidFill>
                  <a:srgbClr val="5A6B7D"/>
                </a:solidFill>
                <a:latin typeface="Calibri" pitchFamily="34" charset="0"/>
                <a:ea typeface="Calibri" pitchFamily="34" charset="-122"/>
                <a:cs typeface="Calibri" pitchFamily="34" charset="-120"/>
              </a:rPr>
              <a:t>10 Gbps</a:t>
            </a:r>
            <a:endParaRPr lang="en-US" sz="800" dirty="0"/>
          </a:p>
          <a:p>
            <a:pPr algn="ctr" indent="0" marL="0">
              <a:buNone/>
            </a:pPr>
            <a:r>
              <a:rPr lang="en-US" sz="800" dirty="0">
                <a:solidFill>
                  <a:srgbClr val="5A6B7D"/>
                </a:solidFill>
                <a:latin typeface="Calibri" pitchFamily="34" charset="0"/>
                <a:ea typeface="Calibri" pitchFamily="34" charset="-122"/>
                <a:cs typeface="Calibri" pitchFamily="34" charset="-120"/>
              </a:rPr>
              <a:t>0.02 ms</a:t>
            </a:r>
            <a:endParaRPr lang="en-US" sz="800" dirty="0"/>
          </a:p>
        </p:txBody>
      </p:sp>
      <p:sp>
        <p:nvSpPr>
          <p:cNvPr id="20" name="Shape 18"/>
          <p:cNvSpPr/>
          <p:nvPr/>
        </p:nvSpPr>
        <p:spPr>
          <a:xfrm>
            <a:off x="6309360" y="1325880"/>
            <a:ext cx="914400" cy="457200"/>
          </a:xfrm>
          <a:prstGeom prst="roundRect">
            <a:avLst>
              <a:gd name="adj" fmla="val 16000"/>
            </a:avLst>
          </a:prstGeom>
          <a:solidFill>
            <a:srgbClr val="FFFFFF"/>
          </a:solidFill>
          <a:ln w="19050">
            <a:solidFill>
              <a:srgbClr val="22A06B"/>
            </a:solidFill>
            <a:prstDash val="solid"/>
          </a:ln>
        </p:spPr>
      </p:sp>
      <p:sp>
        <p:nvSpPr>
          <p:cNvPr id="21" name="Text 19"/>
          <p:cNvSpPr txBox="1"/>
          <p:nvPr/>
        </p:nvSpPr>
        <p:spPr>
          <a:xfrm>
            <a:off x="6309360" y="1325880"/>
            <a:ext cx="914400" cy="457200"/>
          </a:xfrm>
          <a:prstGeom prst="rect">
            <a:avLst/>
          </a:prstGeom>
          <a:noFill/>
          <a:ln/>
        </p:spPr>
        <p:txBody>
          <a:bodyPr wrap="square" lIns="0" tIns="0" rIns="0" bIns="0" rtlCol="0" anchor="ctr"/>
          <a:lstStyle/>
          <a:p>
            <a:pPr algn="ctr" indent="0" marL="0">
              <a:buNone/>
            </a:pPr>
            <a:r>
              <a:rPr lang="en-US" sz="950" b="1" dirty="0">
                <a:solidFill>
                  <a:srgbClr val="1A2B3C"/>
                </a:solidFill>
                <a:latin typeface="Calibri" pitchFamily="34" charset="0"/>
                <a:ea typeface="Calibri" pitchFamily="34" charset="-122"/>
                <a:cs typeface="Calibri" pitchFamily="34" charset="-120"/>
              </a:rPr>
              <a:t>C2</a:t>
            </a:r>
            <a:endParaRPr lang="en-US" sz="950" dirty="0"/>
          </a:p>
        </p:txBody>
      </p:sp>
      <p:sp>
        <p:nvSpPr>
          <p:cNvPr id="22" name="Shape 20"/>
          <p:cNvSpPr/>
          <p:nvPr/>
        </p:nvSpPr>
        <p:spPr>
          <a:xfrm>
            <a:off x="7223760" y="1554480"/>
            <a:ext cx="548640" cy="0"/>
          </a:xfrm>
          <a:prstGeom prst="line">
            <a:avLst/>
          </a:prstGeom>
          <a:noFill/>
          <a:ln w="19050">
            <a:solidFill>
              <a:srgbClr val="5A6B7D"/>
            </a:solidFill>
            <a:prstDash val="solid"/>
          </a:ln>
        </p:spPr>
      </p:sp>
      <p:sp>
        <p:nvSpPr>
          <p:cNvPr id="23" name="Text 21"/>
          <p:cNvSpPr txBox="1"/>
          <p:nvPr/>
        </p:nvSpPr>
        <p:spPr>
          <a:xfrm>
            <a:off x="6949440" y="1810512"/>
            <a:ext cx="1097280" cy="329184"/>
          </a:xfrm>
          <a:prstGeom prst="rect">
            <a:avLst/>
          </a:prstGeom>
          <a:noFill/>
          <a:ln/>
        </p:spPr>
        <p:txBody>
          <a:bodyPr wrap="square" lIns="0" tIns="0" rIns="0" bIns="0" rtlCol="0" anchor="t"/>
          <a:lstStyle/>
          <a:p>
            <a:pPr algn="ctr" indent="0" marL="0">
              <a:buNone/>
            </a:pPr>
            <a:r>
              <a:rPr lang="en-US" sz="800" dirty="0">
                <a:solidFill>
                  <a:srgbClr val="5A6B7D"/>
                </a:solidFill>
                <a:latin typeface="Calibri" pitchFamily="34" charset="0"/>
                <a:ea typeface="Calibri" pitchFamily="34" charset="-122"/>
                <a:cs typeface="Calibri" pitchFamily="34" charset="-120"/>
              </a:rPr>
              <a:t>80 GHz</a:t>
            </a:r>
            <a:endParaRPr lang="en-US" sz="800" dirty="0"/>
          </a:p>
          <a:p>
            <a:pPr algn="ctr" indent="0" marL="0">
              <a:buNone/>
            </a:pPr>
            <a:r>
              <a:rPr lang="en-US" sz="800" dirty="0">
                <a:solidFill>
                  <a:srgbClr val="5A6B7D"/>
                </a:solidFill>
                <a:latin typeface="Calibri" pitchFamily="34" charset="0"/>
                <a:ea typeface="Calibri" pitchFamily="34" charset="-122"/>
                <a:cs typeface="Calibri" pitchFamily="34" charset="-120"/>
              </a:rPr>
              <a:t>10 Gbps · 0.10 ms</a:t>
            </a:r>
            <a:endParaRPr lang="en-US" sz="800" dirty="0"/>
          </a:p>
        </p:txBody>
      </p:sp>
      <p:sp>
        <p:nvSpPr>
          <p:cNvPr id="24" name="Shape 22"/>
          <p:cNvSpPr/>
          <p:nvPr/>
        </p:nvSpPr>
        <p:spPr>
          <a:xfrm>
            <a:off x="7772400" y="1325880"/>
            <a:ext cx="914400" cy="457200"/>
          </a:xfrm>
          <a:prstGeom prst="roundRect">
            <a:avLst>
              <a:gd name="adj" fmla="val 16000"/>
            </a:avLst>
          </a:prstGeom>
          <a:solidFill>
            <a:srgbClr val="FFFFFF"/>
          </a:solidFill>
          <a:ln w="19050">
            <a:solidFill>
              <a:srgbClr val="22A06B"/>
            </a:solidFill>
            <a:prstDash val="solid"/>
          </a:ln>
        </p:spPr>
      </p:sp>
      <p:sp>
        <p:nvSpPr>
          <p:cNvPr id="25" name="Text 23"/>
          <p:cNvSpPr txBox="1"/>
          <p:nvPr/>
        </p:nvSpPr>
        <p:spPr>
          <a:xfrm>
            <a:off x="7772400" y="1325880"/>
            <a:ext cx="914400" cy="457200"/>
          </a:xfrm>
          <a:prstGeom prst="rect">
            <a:avLst/>
          </a:prstGeom>
          <a:noFill/>
          <a:ln/>
        </p:spPr>
        <p:txBody>
          <a:bodyPr wrap="square" lIns="0" tIns="0" rIns="0" bIns="0" rtlCol="0" anchor="ctr"/>
          <a:lstStyle/>
          <a:p>
            <a:pPr algn="ctr" indent="0" marL="0">
              <a:buNone/>
            </a:pPr>
            <a:r>
              <a:rPr lang="en-US" sz="950" b="1" dirty="0">
                <a:solidFill>
                  <a:srgbClr val="1A2B3C"/>
                </a:solidFill>
                <a:latin typeface="Calibri" pitchFamily="34" charset="0"/>
                <a:ea typeface="Calibri" pitchFamily="34" charset="-122"/>
                <a:cs typeface="Calibri" pitchFamily="34" charset="-120"/>
              </a:rPr>
              <a:t>C3 → sink</a:t>
            </a:r>
            <a:endParaRPr lang="en-US" sz="950" dirty="0"/>
          </a:p>
        </p:txBody>
      </p:sp>
      <p:sp>
        <p:nvSpPr>
          <p:cNvPr id="26" name="Text 24"/>
          <p:cNvSpPr txBox="1"/>
          <p:nvPr/>
        </p:nvSpPr>
        <p:spPr>
          <a:xfrm>
            <a:off x="3931920" y="1097280"/>
            <a:ext cx="1280160" cy="201168"/>
          </a:xfrm>
          <a:prstGeom prst="rect">
            <a:avLst/>
          </a:prstGeom>
          <a:noFill/>
          <a:ln/>
        </p:spPr>
        <p:txBody>
          <a:bodyPr wrap="square" lIns="0" tIns="0" rIns="0" bIns="0" rtlCol="0" anchor="t"/>
          <a:lstStyle/>
          <a:p>
            <a:pPr algn="ctr" indent="0" marL="0">
              <a:buNone/>
            </a:pPr>
            <a:r>
              <a:rPr lang="en-US" sz="800" i="1" dirty="0">
                <a:solidFill>
                  <a:srgbClr val="E8912D"/>
                </a:solidFill>
                <a:latin typeface="Calibri" pitchFamily="34" charset="0"/>
                <a:ea typeface="Calibri" pitchFamily="34" charset="-122"/>
                <a:cs typeface="Calibri" pitchFamily="34" charset="-120"/>
              </a:rPr>
              <a:t>rain attenuation acts on this hop</a:t>
            </a:r>
            <a:endParaRPr lang="en-US" sz="800" dirty="0"/>
          </a:p>
        </p:txBody>
      </p:sp>
      <p:sp>
        <p:nvSpPr>
          <p:cNvPr id="27" name="Shape 25"/>
          <p:cNvSpPr/>
          <p:nvPr/>
        </p:nvSpPr>
        <p:spPr>
          <a:xfrm>
            <a:off x="457200" y="2377440"/>
            <a:ext cx="4023360" cy="384048"/>
          </a:xfrm>
          <a:prstGeom prst="roundRect">
            <a:avLst>
              <a:gd name="adj" fmla="val 19048"/>
            </a:avLst>
          </a:prstGeom>
          <a:solidFill>
            <a:srgbClr val="F2F5F8"/>
          </a:solidFill>
          <a:ln w="12700">
            <a:solidFill>
              <a:srgbClr val="F2F5F8"/>
            </a:solidFill>
            <a:prstDash val="solid"/>
          </a:ln>
        </p:spPr>
      </p:sp>
      <p:sp>
        <p:nvSpPr>
          <p:cNvPr id="28" name="Text 26"/>
          <p:cNvSpPr txBox="1"/>
          <p:nvPr/>
        </p:nvSpPr>
        <p:spPr>
          <a:xfrm>
            <a:off x="594360" y="2377440"/>
            <a:ext cx="1051560" cy="384048"/>
          </a:xfrm>
          <a:prstGeom prst="rect">
            <a:avLst/>
          </a:prstGeom>
          <a:noFill/>
          <a:ln/>
        </p:spPr>
        <p:txBody>
          <a:bodyPr wrap="square" lIns="0" tIns="0" rIns="0" bIns="0" rtlCol="0" anchor="ctr"/>
          <a:lstStyle/>
          <a:p>
            <a:pPr indent="0" marL="0">
              <a:buNone/>
            </a:pPr>
            <a:r>
              <a:rPr lang="en-US" sz="1000" b="1" dirty="0">
                <a:solidFill>
                  <a:srgbClr val="0B1D33"/>
                </a:solidFill>
                <a:latin typeface="Calibri" pitchFamily="34" charset="0"/>
                <a:ea typeface="Calibri" pitchFamily="34" charset="-122"/>
                <a:cs typeface="Calibri" pitchFamily="34" charset="-120"/>
              </a:rPr>
              <a:t>TSN flow</a:t>
            </a:r>
            <a:endParaRPr lang="en-US" sz="1000" dirty="0"/>
          </a:p>
        </p:txBody>
      </p:sp>
      <p:sp>
        <p:nvSpPr>
          <p:cNvPr id="29" name="Text 27"/>
          <p:cNvSpPr txBox="1"/>
          <p:nvPr/>
        </p:nvSpPr>
        <p:spPr>
          <a:xfrm>
            <a:off x="1645920" y="2377440"/>
            <a:ext cx="2788920" cy="384048"/>
          </a:xfrm>
          <a:prstGeom prst="rect">
            <a:avLst/>
          </a:prstGeom>
          <a:noFill/>
          <a:ln/>
        </p:spPr>
        <p:txBody>
          <a:bodyPr wrap="square" lIns="0" tIns="0" rIns="0" bIns="0" rtlCol="0" anchor="ctr"/>
          <a:lstStyle/>
          <a:p>
            <a:pPr indent="0" marL="0">
              <a:buNone/>
            </a:pPr>
            <a:r>
              <a:rPr lang="en-US" sz="950" dirty="0">
                <a:solidFill>
                  <a:srgbClr val="1A2B3C"/>
                </a:solidFill>
                <a:latin typeface="Calibri" pitchFamily="34" charset="0"/>
                <a:ea typeface="Calibri" pitchFamily="34" charset="-122"/>
                <a:cs typeface="Calibri" pitchFamily="34" charset="-120"/>
              </a:rPr>
              <a:t>128 B every 1 ms · ToS 0xC0 (AC_VO, band 0)</a:t>
            </a:r>
            <a:endParaRPr lang="en-US" sz="950" dirty="0"/>
          </a:p>
        </p:txBody>
      </p:sp>
      <p:sp>
        <p:nvSpPr>
          <p:cNvPr id="30" name="Shape 28"/>
          <p:cNvSpPr/>
          <p:nvPr/>
        </p:nvSpPr>
        <p:spPr>
          <a:xfrm>
            <a:off x="457200" y="2834640"/>
            <a:ext cx="4023360" cy="384048"/>
          </a:xfrm>
          <a:prstGeom prst="roundRect">
            <a:avLst>
              <a:gd name="adj" fmla="val 19048"/>
            </a:avLst>
          </a:prstGeom>
          <a:solidFill>
            <a:srgbClr val="F2F5F8"/>
          </a:solidFill>
          <a:ln w="12700">
            <a:solidFill>
              <a:srgbClr val="F2F5F8"/>
            </a:solidFill>
            <a:prstDash val="solid"/>
          </a:ln>
        </p:spPr>
      </p:sp>
      <p:sp>
        <p:nvSpPr>
          <p:cNvPr id="31" name="Text 29"/>
          <p:cNvSpPr txBox="1"/>
          <p:nvPr/>
        </p:nvSpPr>
        <p:spPr>
          <a:xfrm>
            <a:off x="594360" y="2834640"/>
            <a:ext cx="1051560" cy="384048"/>
          </a:xfrm>
          <a:prstGeom prst="rect">
            <a:avLst/>
          </a:prstGeom>
          <a:noFill/>
          <a:ln/>
        </p:spPr>
        <p:txBody>
          <a:bodyPr wrap="square" lIns="0" tIns="0" rIns="0" bIns="0" rtlCol="0" anchor="ctr"/>
          <a:lstStyle/>
          <a:p>
            <a:pPr indent="0" marL="0">
              <a:buNone/>
            </a:pPr>
            <a:r>
              <a:rPr lang="en-US" sz="1000" b="1" dirty="0">
                <a:solidFill>
                  <a:srgbClr val="0B1D33"/>
                </a:solidFill>
                <a:latin typeface="Calibri" pitchFamily="34" charset="0"/>
                <a:ea typeface="Calibri" pitchFamily="34" charset="-122"/>
                <a:cs typeface="Calibri" pitchFamily="34" charset="-120"/>
              </a:rPr>
              <a:t>Best effort</a:t>
            </a:r>
            <a:endParaRPr lang="en-US" sz="1000" dirty="0"/>
          </a:p>
        </p:txBody>
      </p:sp>
      <p:sp>
        <p:nvSpPr>
          <p:cNvPr id="32" name="Text 30"/>
          <p:cNvSpPr txBox="1"/>
          <p:nvPr/>
        </p:nvSpPr>
        <p:spPr>
          <a:xfrm>
            <a:off x="1645920" y="2834640"/>
            <a:ext cx="2788920" cy="384048"/>
          </a:xfrm>
          <a:prstGeom prst="rect">
            <a:avLst/>
          </a:prstGeom>
          <a:noFill/>
          <a:ln/>
        </p:spPr>
        <p:txBody>
          <a:bodyPr wrap="square" lIns="0" tIns="0" rIns="0" bIns="0" rtlCol="0" anchor="ctr"/>
          <a:lstStyle/>
          <a:p>
            <a:pPr indent="0" marL="0">
              <a:buNone/>
            </a:pPr>
            <a:r>
              <a:rPr lang="en-US" sz="950" dirty="0">
                <a:solidFill>
                  <a:srgbClr val="1A2B3C"/>
                </a:solidFill>
                <a:latin typeface="Calibri" pitchFamily="34" charset="0"/>
                <a:ea typeface="Calibri" pitchFamily="34" charset="-122"/>
                <a:cs typeface="Calibri" pitchFamily="34" charset="-120"/>
              </a:rPr>
              <a:t>1400 B at 150 Mbps × surge factor</a:t>
            </a:r>
            <a:endParaRPr lang="en-US" sz="950" dirty="0"/>
          </a:p>
        </p:txBody>
      </p:sp>
      <p:sp>
        <p:nvSpPr>
          <p:cNvPr id="33" name="Shape 31"/>
          <p:cNvSpPr/>
          <p:nvPr/>
        </p:nvSpPr>
        <p:spPr>
          <a:xfrm>
            <a:off x="457200" y="3291840"/>
            <a:ext cx="4023360" cy="384048"/>
          </a:xfrm>
          <a:prstGeom prst="roundRect">
            <a:avLst>
              <a:gd name="adj" fmla="val 19048"/>
            </a:avLst>
          </a:prstGeom>
          <a:solidFill>
            <a:srgbClr val="F2F5F8"/>
          </a:solidFill>
          <a:ln w="12700">
            <a:solidFill>
              <a:srgbClr val="F2F5F8"/>
            </a:solidFill>
            <a:prstDash val="solid"/>
          </a:ln>
        </p:spPr>
      </p:sp>
      <p:sp>
        <p:nvSpPr>
          <p:cNvPr id="34" name="Text 32"/>
          <p:cNvSpPr txBox="1"/>
          <p:nvPr/>
        </p:nvSpPr>
        <p:spPr>
          <a:xfrm>
            <a:off x="594360" y="3291840"/>
            <a:ext cx="1051560" cy="384048"/>
          </a:xfrm>
          <a:prstGeom prst="rect">
            <a:avLst/>
          </a:prstGeom>
          <a:noFill/>
          <a:ln/>
        </p:spPr>
        <p:txBody>
          <a:bodyPr wrap="square" lIns="0" tIns="0" rIns="0" bIns="0" rtlCol="0" anchor="ctr"/>
          <a:lstStyle/>
          <a:p>
            <a:pPr indent="0" marL="0">
              <a:buNone/>
            </a:pPr>
            <a:r>
              <a:rPr lang="en-US" sz="1000" b="1" dirty="0">
                <a:solidFill>
                  <a:srgbClr val="0B1D33"/>
                </a:solidFill>
                <a:latin typeface="Calibri" pitchFamily="34" charset="0"/>
                <a:ea typeface="Calibri" pitchFamily="34" charset="-122"/>
                <a:cs typeface="Calibri" pitchFamily="34" charset="-120"/>
              </a:rPr>
              <a:t>Queue</a:t>
            </a:r>
            <a:endParaRPr lang="en-US" sz="1000" dirty="0"/>
          </a:p>
        </p:txBody>
      </p:sp>
      <p:sp>
        <p:nvSpPr>
          <p:cNvPr id="35" name="Text 33"/>
          <p:cNvSpPr txBox="1"/>
          <p:nvPr/>
        </p:nvSpPr>
        <p:spPr>
          <a:xfrm>
            <a:off x="1645920" y="3291840"/>
            <a:ext cx="2788920" cy="384048"/>
          </a:xfrm>
          <a:prstGeom prst="rect">
            <a:avLst/>
          </a:prstGeom>
          <a:noFill/>
          <a:ln/>
        </p:spPr>
        <p:txBody>
          <a:bodyPr wrap="square" lIns="0" tIns="0" rIns="0" bIns="0" rtlCol="0" anchor="ctr"/>
          <a:lstStyle/>
          <a:p>
            <a:pPr indent="0" marL="0">
              <a:buNone/>
            </a:pPr>
            <a:r>
              <a:rPr lang="en-US" sz="950" dirty="0">
                <a:solidFill>
                  <a:srgbClr val="1A2B3C"/>
                </a:solidFill>
                <a:latin typeface="Calibri" pitchFamily="34" charset="0"/>
                <a:ea typeface="Calibri" pitchFamily="34" charset="-122"/>
                <a:cs typeface="Calibri" pitchFamily="34" charset="-120"/>
              </a:rPr>
              <a:t>PfifoFast (QoS on) or FIFO · 150 packets</a:t>
            </a:r>
            <a:endParaRPr lang="en-US" sz="950" dirty="0"/>
          </a:p>
        </p:txBody>
      </p:sp>
      <p:sp>
        <p:nvSpPr>
          <p:cNvPr id="36" name="Shape 34"/>
          <p:cNvSpPr/>
          <p:nvPr/>
        </p:nvSpPr>
        <p:spPr>
          <a:xfrm>
            <a:off x="457200" y="3749040"/>
            <a:ext cx="4023360" cy="384048"/>
          </a:xfrm>
          <a:prstGeom prst="roundRect">
            <a:avLst>
              <a:gd name="adj" fmla="val 19048"/>
            </a:avLst>
          </a:prstGeom>
          <a:solidFill>
            <a:srgbClr val="F2F5F8"/>
          </a:solidFill>
          <a:ln w="12700">
            <a:solidFill>
              <a:srgbClr val="F2F5F8"/>
            </a:solidFill>
            <a:prstDash val="solid"/>
          </a:ln>
        </p:spPr>
      </p:sp>
      <p:sp>
        <p:nvSpPr>
          <p:cNvPr id="37" name="Text 35"/>
          <p:cNvSpPr txBox="1"/>
          <p:nvPr/>
        </p:nvSpPr>
        <p:spPr>
          <a:xfrm>
            <a:off x="594360" y="3749040"/>
            <a:ext cx="1051560" cy="384048"/>
          </a:xfrm>
          <a:prstGeom prst="rect">
            <a:avLst/>
          </a:prstGeom>
          <a:noFill/>
          <a:ln/>
        </p:spPr>
        <p:txBody>
          <a:bodyPr wrap="square" lIns="0" tIns="0" rIns="0" bIns="0" rtlCol="0" anchor="ctr"/>
          <a:lstStyle/>
          <a:p>
            <a:pPr indent="0" marL="0">
              <a:buNone/>
            </a:pPr>
            <a:r>
              <a:rPr lang="en-US" sz="1000" b="1" dirty="0">
                <a:solidFill>
                  <a:srgbClr val="0B1D33"/>
                </a:solidFill>
                <a:latin typeface="Calibri" pitchFamily="34" charset="0"/>
                <a:ea typeface="Calibri" pitchFamily="34" charset="-122"/>
                <a:cs typeface="Calibri" pitchFamily="34" charset="-120"/>
              </a:rPr>
              <a:t>SLA check</a:t>
            </a:r>
            <a:endParaRPr lang="en-US" sz="1000" dirty="0"/>
          </a:p>
        </p:txBody>
      </p:sp>
      <p:sp>
        <p:nvSpPr>
          <p:cNvPr id="38" name="Text 36"/>
          <p:cNvSpPr txBox="1"/>
          <p:nvPr/>
        </p:nvSpPr>
        <p:spPr>
          <a:xfrm>
            <a:off x="1645920" y="3749040"/>
            <a:ext cx="2788920" cy="384048"/>
          </a:xfrm>
          <a:prstGeom prst="rect">
            <a:avLst/>
          </a:prstGeom>
          <a:noFill/>
          <a:ln/>
        </p:spPr>
        <p:txBody>
          <a:bodyPr wrap="square" lIns="0" tIns="0" rIns="0" bIns="0" rtlCol="0" anchor="ctr"/>
          <a:lstStyle/>
          <a:p>
            <a:pPr indent="0" marL="0">
              <a:buNone/>
            </a:pPr>
            <a:r>
              <a:rPr lang="en-US" sz="950" dirty="0">
                <a:solidFill>
                  <a:srgbClr val="1A2B3C"/>
                </a:solidFill>
                <a:latin typeface="Calibri" pitchFamily="34" charset="0"/>
                <a:ea typeface="Calibri" pitchFamily="34" charset="-122"/>
                <a:cs typeface="Calibri" pitchFamily="34" charset="-120"/>
              </a:rPr>
              <a:t>TSN mean delay &gt; 1.5 ms or loss &gt; 0.001 %</a:t>
            </a:r>
            <a:endParaRPr lang="en-US" sz="950" dirty="0"/>
          </a:p>
        </p:txBody>
      </p:sp>
      <p:sp>
        <p:nvSpPr>
          <p:cNvPr id="39" name="Shape 37"/>
          <p:cNvSpPr/>
          <p:nvPr/>
        </p:nvSpPr>
        <p:spPr>
          <a:xfrm>
            <a:off x="457200" y="4315968"/>
            <a:ext cx="868680" cy="201168"/>
          </a:xfrm>
          <a:prstGeom prst="roundRect">
            <a:avLst>
              <a:gd name="adj" fmla="val 50000"/>
            </a:avLst>
          </a:prstGeom>
          <a:solidFill>
            <a:srgbClr val="22A06B"/>
          </a:solidFill>
          <a:ln w="12700">
            <a:solidFill>
              <a:srgbClr val="22A06B"/>
            </a:solidFill>
            <a:prstDash val="solid"/>
          </a:ln>
        </p:spPr>
      </p:sp>
      <p:sp>
        <p:nvSpPr>
          <p:cNvPr id="40" name="Text 38"/>
          <p:cNvSpPr txBox="1"/>
          <p:nvPr/>
        </p:nvSpPr>
        <p:spPr>
          <a:xfrm>
            <a:off x="457200" y="4315968"/>
            <a:ext cx="868680" cy="201168"/>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Arial" pitchFamily="34" charset="0"/>
                <a:ea typeface="Arial" pitchFamily="34" charset="-122"/>
                <a:cs typeface="Arial" pitchFamily="34" charset="-120"/>
              </a:rPr>
              <a:t>IMPLEMENTED</a:t>
            </a:r>
            <a:endParaRPr lang="en-US" sz="700" dirty="0"/>
          </a:p>
        </p:txBody>
      </p:sp>
      <p:sp>
        <p:nvSpPr>
          <p:cNvPr id="41" name="Text 39"/>
          <p:cNvSpPr txBox="1"/>
          <p:nvPr/>
        </p:nvSpPr>
        <p:spPr>
          <a:xfrm>
            <a:off x="1417320" y="4297680"/>
            <a:ext cx="1463040" cy="237744"/>
          </a:xfrm>
          <a:prstGeom prst="rect">
            <a:avLst/>
          </a:prstGeom>
          <a:noFill/>
          <a:ln/>
        </p:spPr>
        <p:txBody>
          <a:bodyPr wrap="square" lIns="0" tIns="0" rIns="0" bIns="0" rtlCol="0" anchor="ctr"/>
          <a:lstStyle/>
          <a:p>
            <a:pPr indent="0" marL="0">
              <a:buNone/>
            </a:pPr>
            <a:r>
              <a:rPr lang="en-US" sz="900" dirty="0">
                <a:solidFill>
                  <a:srgbClr val="5A6B7D"/>
                </a:solidFill>
                <a:latin typeface="Calibri" pitchFamily="34" charset="0"/>
                <a:ea typeface="Calibri" pitchFamily="34" charset="-122"/>
                <a:cs typeface="Calibri" pitchFamily="34" charset="-120"/>
              </a:rPr>
              <a:t>fallback when SSH fails:</a:t>
            </a:r>
            <a:endParaRPr lang="en-US" sz="900" dirty="0"/>
          </a:p>
        </p:txBody>
      </p:sp>
      <p:sp>
        <p:nvSpPr>
          <p:cNvPr id="42" name="Shape 40"/>
          <p:cNvSpPr/>
          <p:nvPr/>
        </p:nvSpPr>
        <p:spPr>
          <a:xfrm>
            <a:off x="2834640" y="4315968"/>
            <a:ext cx="640080" cy="201168"/>
          </a:xfrm>
          <a:prstGeom prst="roundRect">
            <a:avLst>
              <a:gd name="adj" fmla="val 50000"/>
            </a:avLst>
          </a:prstGeom>
          <a:solidFill>
            <a:srgbClr val="D64545"/>
          </a:solidFill>
          <a:ln w="12700">
            <a:solidFill>
              <a:srgbClr val="D64545"/>
            </a:solidFill>
            <a:prstDash val="solid"/>
          </a:ln>
        </p:spPr>
      </p:sp>
      <p:sp>
        <p:nvSpPr>
          <p:cNvPr id="43" name="Text 41"/>
          <p:cNvSpPr txBox="1"/>
          <p:nvPr/>
        </p:nvSpPr>
        <p:spPr>
          <a:xfrm>
            <a:off x="2834640" y="4315968"/>
            <a:ext cx="640080" cy="201168"/>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Arial" pitchFamily="34" charset="0"/>
                <a:ea typeface="Arial" pitchFamily="34" charset="-122"/>
                <a:cs typeface="Arial" pitchFamily="34" charset="-120"/>
              </a:rPr>
              <a:t>MOCK</a:t>
            </a:r>
            <a:endParaRPr lang="en-US" sz="700" dirty="0"/>
          </a:p>
        </p:txBody>
      </p:sp>
      <p:graphicFrame>
        <p:nvGraphicFramePr>
          <p:cNvPr id="44" name="Chart 0" descr=""/>
          <p:cNvGraphicFramePr/>
          <p:nvPr/>
        </p:nvGraphicFramePr>
        <p:xfrm>
          <a:off x="4663440" y="2286000"/>
          <a:ext cx="4114800" cy="251460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000" b="1" spc="200" kern="0" dirty="0">
                <a:solidFill>
                  <a:srgbClr val="0FA3B1"/>
                </a:solidFill>
                <a:latin typeface="Arial" pitchFamily="34" charset="0"/>
                <a:ea typeface="Arial" pitchFamily="34" charset="-122"/>
                <a:cs typeface="Arial" pitchFamily="34" charset="-120"/>
              </a:rPr>
              <a:t>HARDWARE PATH · CERAGON DRIVER</a:t>
            </a:r>
            <a:endParaRPr lang="en-US" sz="10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400" b="1" dirty="0">
                <a:solidFill>
                  <a:srgbClr val="0B1D33"/>
                </a:solidFill>
                <a:latin typeface="Arial" pitchFamily="34" charset="0"/>
                <a:ea typeface="Arial" pitchFamily="34" charset="-122"/>
                <a:cs typeface="Arial" pitchFamily="34" charset="-120"/>
              </a:rPr>
              <a:t>Stage, commit, discard: real RESTCONF, with gaps</a:t>
            </a:r>
            <a:endParaRPr lang="en-US" sz="2400" dirty="0"/>
          </a:p>
        </p:txBody>
      </p:sp>
      <p:sp>
        <p:nvSpPr>
          <p:cNvPr id="4" name="Shape 2"/>
          <p:cNvSpPr/>
          <p:nvPr/>
        </p:nvSpPr>
        <p:spPr>
          <a:xfrm>
            <a:off x="457200" y="1188720"/>
            <a:ext cx="1645920" cy="566928"/>
          </a:xfrm>
          <a:prstGeom prst="roundRect">
            <a:avLst>
              <a:gd name="adj" fmla="val 12903"/>
            </a:avLst>
          </a:prstGeom>
          <a:solidFill>
            <a:srgbClr val="FFFFFF"/>
          </a:solidFill>
          <a:ln w="19050">
            <a:solidFill>
              <a:srgbClr val="0FA3B1"/>
            </a:solidFill>
            <a:prstDash val="solid"/>
          </a:ln>
        </p:spPr>
      </p:sp>
      <p:sp>
        <p:nvSpPr>
          <p:cNvPr id="5" name="Text 3"/>
          <p:cNvSpPr txBox="1"/>
          <p:nvPr/>
        </p:nvSpPr>
        <p:spPr>
          <a:xfrm>
            <a:off x="457200" y="1216152"/>
            <a:ext cx="1645920" cy="256032"/>
          </a:xfrm>
          <a:prstGeom prst="rect">
            <a:avLst/>
          </a:prstGeom>
          <a:noFill/>
          <a:ln/>
        </p:spPr>
        <p:txBody>
          <a:bodyPr wrap="square" lIns="0" tIns="0" rIns="0" bIns="0" rtlCol="0" anchor="t"/>
          <a:lstStyle/>
          <a:p>
            <a:pPr algn="ctr" indent="0" marL="0">
              <a:buNone/>
            </a:pPr>
            <a:r>
              <a:rPr lang="en-US" sz="1050" b="1" dirty="0">
                <a:solidFill>
                  <a:srgbClr val="1A2B3C"/>
                </a:solidFill>
                <a:latin typeface="Arial" pitchFamily="34" charset="0"/>
                <a:ea typeface="Arial" pitchFamily="34" charset="-122"/>
                <a:cs typeface="Arial" pitchFamily="34" charset="-120"/>
              </a:rPr>
              <a:t>TFS device service</a:t>
            </a:r>
            <a:endParaRPr lang="en-US" sz="1050" dirty="0"/>
          </a:p>
        </p:txBody>
      </p:sp>
      <p:sp>
        <p:nvSpPr>
          <p:cNvPr id="6" name="Text 4"/>
          <p:cNvSpPr txBox="1"/>
          <p:nvPr/>
        </p:nvSpPr>
        <p:spPr>
          <a:xfrm>
            <a:off x="457200" y="1463040"/>
            <a:ext cx="1645920" cy="228600"/>
          </a:xfrm>
          <a:prstGeom prst="rect">
            <a:avLst/>
          </a:prstGeom>
          <a:noFill/>
          <a:ln/>
        </p:spPr>
        <p:txBody>
          <a:bodyPr wrap="square" lIns="0" tIns="0" rIns="0" bIns="0" rtlCol="0" anchor="t"/>
          <a:lstStyle/>
          <a:p>
            <a:pPr algn="ctr" indent="0" marL="0">
              <a:buNone/>
            </a:pPr>
            <a:r>
              <a:rPr lang="en-US" sz="900" b="1" dirty="0">
                <a:solidFill>
                  <a:srgbClr val="0FA3B1"/>
                </a:solidFill>
                <a:latin typeface="Calibri" pitchFamily="34" charset="0"/>
                <a:ea typeface="Calibri" pitchFamily="34" charset="-122"/>
                <a:cs typeface="Calibri" pitchFamily="34" charset="-120"/>
              </a:rPr>
              <a:t>CeragonDriver (22)</a:t>
            </a:r>
            <a:endParaRPr lang="en-US" sz="900" dirty="0"/>
          </a:p>
        </p:txBody>
      </p:sp>
      <p:sp>
        <p:nvSpPr>
          <p:cNvPr id="7" name="Shape 5"/>
          <p:cNvSpPr/>
          <p:nvPr/>
        </p:nvSpPr>
        <p:spPr>
          <a:xfrm>
            <a:off x="1280160" y="1755648"/>
            <a:ext cx="0" cy="2697480"/>
          </a:xfrm>
          <a:prstGeom prst="line">
            <a:avLst/>
          </a:prstGeom>
          <a:noFill/>
          <a:ln w="15875">
            <a:solidFill>
              <a:srgbClr val="AAB6C2"/>
            </a:solidFill>
            <a:prstDash val="dash"/>
          </a:ln>
        </p:spPr>
      </p:sp>
      <p:sp>
        <p:nvSpPr>
          <p:cNvPr id="8" name="Shape 6"/>
          <p:cNvSpPr/>
          <p:nvPr/>
        </p:nvSpPr>
        <p:spPr>
          <a:xfrm>
            <a:off x="3383280" y="1188720"/>
            <a:ext cx="1645920" cy="566928"/>
          </a:xfrm>
          <a:prstGeom prst="roundRect">
            <a:avLst>
              <a:gd name="adj" fmla="val 12903"/>
            </a:avLst>
          </a:prstGeom>
          <a:solidFill>
            <a:srgbClr val="FFFFFF"/>
          </a:solidFill>
          <a:ln w="19050">
            <a:solidFill>
              <a:srgbClr val="22A06B"/>
            </a:solidFill>
            <a:prstDash val="solid"/>
          </a:ln>
        </p:spPr>
      </p:sp>
      <p:sp>
        <p:nvSpPr>
          <p:cNvPr id="9" name="Text 7"/>
          <p:cNvSpPr txBox="1"/>
          <p:nvPr/>
        </p:nvSpPr>
        <p:spPr>
          <a:xfrm>
            <a:off x="3383280" y="1216152"/>
            <a:ext cx="1645920" cy="256032"/>
          </a:xfrm>
          <a:prstGeom prst="rect">
            <a:avLst/>
          </a:prstGeom>
          <a:noFill/>
          <a:ln/>
        </p:spPr>
        <p:txBody>
          <a:bodyPr wrap="square" lIns="0" tIns="0" rIns="0" bIns="0" rtlCol="0" anchor="t"/>
          <a:lstStyle/>
          <a:p>
            <a:pPr algn="ctr" indent="0" marL="0">
              <a:buNone/>
            </a:pPr>
            <a:r>
              <a:rPr lang="en-US" sz="1050" b="1" dirty="0">
                <a:solidFill>
                  <a:srgbClr val="1A2B3C"/>
                </a:solidFill>
                <a:latin typeface="Arial" pitchFamily="34" charset="0"/>
                <a:ea typeface="Arial" pitchFamily="34" charset="-122"/>
                <a:cs typeface="Arial" pitchFamily="34" charset="-120"/>
              </a:rPr>
              <a:t>MH-T261</a:t>
            </a:r>
            <a:endParaRPr lang="en-US" sz="1050" dirty="0"/>
          </a:p>
        </p:txBody>
      </p:sp>
      <p:sp>
        <p:nvSpPr>
          <p:cNvPr id="10" name="Text 8"/>
          <p:cNvSpPr txBox="1"/>
          <p:nvPr/>
        </p:nvSpPr>
        <p:spPr>
          <a:xfrm>
            <a:off x="3383280" y="1463040"/>
            <a:ext cx="1645920" cy="228600"/>
          </a:xfrm>
          <a:prstGeom prst="rect">
            <a:avLst/>
          </a:prstGeom>
          <a:noFill/>
          <a:ln/>
        </p:spPr>
        <p:txBody>
          <a:bodyPr wrap="square" lIns="0" tIns="0" rIns="0" bIns="0" rtlCol="0" anchor="t"/>
          <a:lstStyle/>
          <a:p>
            <a:pPr algn="ctr" indent="0" marL="0">
              <a:buNone/>
            </a:pPr>
            <a:r>
              <a:rPr lang="en-US" sz="900" b="1" dirty="0">
                <a:solidFill>
                  <a:srgbClr val="22A06B"/>
                </a:solidFill>
                <a:latin typeface="Calibri" pitchFamily="34" charset="0"/>
                <a:ea typeface="Calibri" pitchFamily="34" charset="-122"/>
                <a:cs typeface="Calibri" pitchFamily="34" charset="-120"/>
              </a:rPr>
              <a:t>192.168.1.225</a:t>
            </a:r>
            <a:endParaRPr lang="en-US" sz="900" dirty="0"/>
          </a:p>
        </p:txBody>
      </p:sp>
      <p:sp>
        <p:nvSpPr>
          <p:cNvPr id="11" name="Shape 9"/>
          <p:cNvSpPr/>
          <p:nvPr/>
        </p:nvSpPr>
        <p:spPr>
          <a:xfrm>
            <a:off x="4206240" y="1755648"/>
            <a:ext cx="0" cy="2697480"/>
          </a:xfrm>
          <a:prstGeom prst="line">
            <a:avLst/>
          </a:prstGeom>
          <a:noFill/>
          <a:ln w="15875">
            <a:solidFill>
              <a:srgbClr val="AAB6C2"/>
            </a:solidFill>
            <a:prstDash val="dash"/>
          </a:ln>
        </p:spPr>
      </p:sp>
      <p:sp>
        <p:nvSpPr>
          <p:cNvPr id="12" name="Text 10"/>
          <p:cNvSpPr txBox="1"/>
          <p:nvPr/>
        </p:nvSpPr>
        <p:spPr>
          <a:xfrm>
            <a:off x="1325880" y="1892808"/>
            <a:ext cx="2834640" cy="219456"/>
          </a:xfrm>
          <a:prstGeom prst="rect">
            <a:avLst/>
          </a:prstGeom>
          <a:noFill/>
          <a:ln/>
        </p:spPr>
        <p:txBody>
          <a:bodyPr wrap="square" lIns="0" tIns="0" rIns="0" bIns="0" rtlCol="0" anchor="t"/>
          <a:lstStyle/>
          <a:p>
            <a:pPr algn="ctr" indent="0" marL="0">
              <a:buNone/>
            </a:pPr>
            <a:r>
              <a:rPr lang="en-US" sz="1000" b="1" dirty="0">
                <a:solidFill>
                  <a:srgbClr val="0B1D33"/>
                </a:solidFill>
                <a:latin typeface="Calibri" pitchFamily="34" charset="0"/>
                <a:ea typeface="Calibri" pitchFamily="34" charset="-122"/>
                <a:cs typeface="Calibri" pitchFamily="34" charset="-120"/>
              </a:rPr>
              <a:t>① PATCH candidate datastore</a:t>
            </a:r>
            <a:endParaRPr lang="en-US" sz="1000" dirty="0"/>
          </a:p>
        </p:txBody>
      </p:sp>
      <p:sp>
        <p:nvSpPr>
          <p:cNvPr id="13" name="Shape 11"/>
          <p:cNvSpPr/>
          <p:nvPr/>
        </p:nvSpPr>
        <p:spPr>
          <a:xfrm>
            <a:off x="1280160" y="2148840"/>
            <a:ext cx="2926080" cy="0"/>
          </a:xfrm>
          <a:prstGeom prst="line">
            <a:avLst/>
          </a:prstGeom>
          <a:noFill/>
          <a:ln w="22225">
            <a:solidFill>
              <a:srgbClr val="0B1D33"/>
            </a:solidFill>
            <a:prstDash val="solid"/>
            <a:headEnd type="none"/>
            <a:tailEnd type="triangle"/>
          </a:ln>
        </p:spPr>
      </p:sp>
      <p:sp>
        <p:nvSpPr>
          <p:cNvPr id="14" name="Text 12"/>
          <p:cNvSpPr txBox="1"/>
          <p:nvPr/>
        </p:nvSpPr>
        <p:spPr>
          <a:xfrm>
            <a:off x="1325880" y="2185416"/>
            <a:ext cx="2834640" cy="201168"/>
          </a:xfrm>
          <a:prstGeom prst="rect">
            <a:avLst/>
          </a:prstGeom>
          <a:noFill/>
          <a:ln/>
        </p:spPr>
        <p:txBody>
          <a:bodyPr wrap="square" lIns="0" tIns="0" rIns="0" bIns="0" rtlCol="0" anchor="t"/>
          <a:lstStyle/>
          <a:p>
            <a:pPr algn="ctr" indent="0" marL="0">
              <a:buNone/>
            </a:pPr>
            <a:r>
              <a:rPr lang="en-US" sz="850" dirty="0">
                <a:solidFill>
                  <a:srgbClr val="5A6B7D"/>
                </a:solidFill>
                <a:latin typeface="Calibri" pitchFamily="34" charset="0"/>
                <a:ea typeface="Calibri" pitchFamily="34" charset="-122"/>
                <a:cs typeface="Calibri" pitchFamily="34" charset="-120"/>
              </a:rPr>
              <a:t>radio · VLAN sub-interface · ACM floor</a:t>
            </a:r>
            <a:endParaRPr lang="en-US" sz="850" dirty="0"/>
          </a:p>
        </p:txBody>
      </p:sp>
      <p:sp>
        <p:nvSpPr>
          <p:cNvPr id="15" name="Text 13"/>
          <p:cNvSpPr txBox="1"/>
          <p:nvPr/>
        </p:nvSpPr>
        <p:spPr>
          <a:xfrm>
            <a:off x="1325880" y="2496312"/>
            <a:ext cx="2834640" cy="219456"/>
          </a:xfrm>
          <a:prstGeom prst="rect">
            <a:avLst/>
          </a:prstGeom>
          <a:noFill/>
          <a:ln/>
        </p:spPr>
        <p:txBody>
          <a:bodyPr wrap="square" lIns="0" tIns="0" rIns="0" bIns="0" rtlCol="0" anchor="t"/>
          <a:lstStyle/>
          <a:p>
            <a:pPr algn="ctr" indent="0" marL="0">
              <a:buNone/>
            </a:pPr>
            <a:r>
              <a:rPr lang="en-US" sz="1000" b="1" dirty="0">
                <a:solidFill>
                  <a:srgbClr val="D64545"/>
                </a:solidFill>
                <a:latin typeface="Calibri" pitchFamily="34" charset="0"/>
                <a:ea typeface="Calibri" pitchFamily="34" charset="-122"/>
                <a:cs typeface="Calibri" pitchFamily="34" charset="-120"/>
              </a:rPr>
              <a:t>② if staging fails: discard-changes</a:t>
            </a:r>
            <a:endParaRPr lang="en-US" sz="1000" dirty="0"/>
          </a:p>
        </p:txBody>
      </p:sp>
      <p:sp>
        <p:nvSpPr>
          <p:cNvPr id="16" name="Shape 14"/>
          <p:cNvSpPr/>
          <p:nvPr/>
        </p:nvSpPr>
        <p:spPr>
          <a:xfrm>
            <a:off x="1280160" y="2752344"/>
            <a:ext cx="2926080" cy="0"/>
          </a:xfrm>
          <a:prstGeom prst="line">
            <a:avLst/>
          </a:prstGeom>
          <a:noFill/>
          <a:ln w="22225">
            <a:solidFill>
              <a:srgbClr val="D64545"/>
            </a:solidFill>
            <a:prstDash val="solid"/>
            <a:headEnd type="none"/>
            <a:tailEnd type="triangle"/>
          </a:ln>
        </p:spPr>
      </p:sp>
      <p:sp>
        <p:nvSpPr>
          <p:cNvPr id="17" name="Text 15"/>
          <p:cNvSpPr txBox="1"/>
          <p:nvPr/>
        </p:nvSpPr>
        <p:spPr>
          <a:xfrm>
            <a:off x="1325880" y="2788920"/>
            <a:ext cx="2834640" cy="201168"/>
          </a:xfrm>
          <a:prstGeom prst="rect">
            <a:avLst/>
          </a:prstGeom>
          <a:noFill/>
          <a:ln/>
        </p:spPr>
        <p:txBody>
          <a:bodyPr wrap="square" lIns="0" tIns="0" rIns="0" bIns="0" rtlCol="0" anchor="t"/>
          <a:lstStyle/>
          <a:p>
            <a:pPr algn="ctr" indent="0" marL="0">
              <a:buNone/>
            </a:pPr>
            <a:r>
              <a:rPr lang="en-US" sz="850" dirty="0">
                <a:solidFill>
                  <a:srgbClr val="5A6B7D"/>
                </a:solidFill>
                <a:latin typeface="Calibri" pitchFamily="34" charset="0"/>
                <a:ea typeface="Calibri" pitchFamily="34" charset="-122"/>
                <a:cs typeface="Calibri" pitchFamily="34" charset="-120"/>
              </a:rPr>
              <a:t>POST ietf-netconf:discard-changes</a:t>
            </a:r>
            <a:endParaRPr lang="en-US" sz="850" dirty="0"/>
          </a:p>
        </p:txBody>
      </p:sp>
      <p:sp>
        <p:nvSpPr>
          <p:cNvPr id="18" name="Text 16"/>
          <p:cNvSpPr txBox="1"/>
          <p:nvPr/>
        </p:nvSpPr>
        <p:spPr>
          <a:xfrm>
            <a:off x="1325880" y="3099816"/>
            <a:ext cx="2834640" cy="219456"/>
          </a:xfrm>
          <a:prstGeom prst="rect">
            <a:avLst/>
          </a:prstGeom>
          <a:noFill/>
          <a:ln/>
        </p:spPr>
        <p:txBody>
          <a:bodyPr wrap="square" lIns="0" tIns="0" rIns="0" bIns="0" rtlCol="0" anchor="t"/>
          <a:lstStyle/>
          <a:p>
            <a:pPr algn="ctr" indent="0" marL="0">
              <a:buNone/>
            </a:pPr>
            <a:r>
              <a:rPr lang="en-US" sz="1000" b="1" dirty="0">
                <a:solidFill>
                  <a:srgbClr val="22A06B"/>
                </a:solidFill>
                <a:latin typeface="Calibri" pitchFamily="34" charset="0"/>
                <a:ea typeface="Calibri" pitchFamily="34" charset="-122"/>
                <a:cs typeface="Calibri" pitchFamily="34" charset="-120"/>
              </a:rPr>
              <a:t>③ POST ietf-netconf:commit</a:t>
            </a:r>
            <a:endParaRPr lang="en-US" sz="1000" dirty="0"/>
          </a:p>
        </p:txBody>
      </p:sp>
      <p:sp>
        <p:nvSpPr>
          <p:cNvPr id="19" name="Shape 17"/>
          <p:cNvSpPr/>
          <p:nvPr/>
        </p:nvSpPr>
        <p:spPr>
          <a:xfrm>
            <a:off x="1280160" y="3355848"/>
            <a:ext cx="2926080" cy="0"/>
          </a:xfrm>
          <a:prstGeom prst="line">
            <a:avLst/>
          </a:prstGeom>
          <a:noFill/>
          <a:ln w="22225">
            <a:solidFill>
              <a:srgbClr val="22A06B"/>
            </a:solidFill>
            <a:prstDash val="solid"/>
            <a:headEnd type="none"/>
            <a:tailEnd type="triangle"/>
          </a:ln>
        </p:spPr>
      </p:sp>
      <p:sp>
        <p:nvSpPr>
          <p:cNvPr id="20" name="Text 18"/>
          <p:cNvSpPr txBox="1"/>
          <p:nvPr/>
        </p:nvSpPr>
        <p:spPr>
          <a:xfrm>
            <a:off x="1325880" y="3392424"/>
            <a:ext cx="2834640" cy="201168"/>
          </a:xfrm>
          <a:prstGeom prst="rect">
            <a:avLst/>
          </a:prstGeom>
          <a:noFill/>
          <a:ln/>
        </p:spPr>
        <p:txBody>
          <a:bodyPr wrap="square" lIns="0" tIns="0" rIns="0" bIns="0" rtlCol="0" anchor="t"/>
          <a:lstStyle/>
          <a:p>
            <a:pPr algn="ctr" indent="0" marL="0">
              <a:buNone/>
            </a:pPr>
            <a:r>
              <a:rPr lang="en-US" sz="850" dirty="0">
                <a:solidFill>
                  <a:srgbClr val="5A6B7D"/>
                </a:solidFill>
                <a:latin typeface="Calibri" pitchFamily="34" charset="0"/>
                <a:ea typeface="Calibri" pitchFamily="34" charset="-122"/>
                <a:cs typeface="Calibri" pitchFamily="34" charset="-120"/>
              </a:rPr>
              <a:t>candidate → running</a:t>
            </a:r>
            <a:endParaRPr lang="en-US" sz="850" dirty="0"/>
          </a:p>
        </p:txBody>
      </p:sp>
      <p:sp>
        <p:nvSpPr>
          <p:cNvPr id="21" name="Text 19"/>
          <p:cNvSpPr txBox="1"/>
          <p:nvPr/>
        </p:nvSpPr>
        <p:spPr>
          <a:xfrm>
            <a:off x="1325880" y="3703320"/>
            <a:ext cx="2834640" cy="219456"/>
          </a:xfrm>
          <a:prstGeom prst="rect">
            <a:avLst/>
          </a:prstGeom>
          <a:noFill/>
          <a:ln/>
        </p:spPr>
        <p:txBody>
          <a:bodyPr wrap="square" lIns="0" tIns="0" rIns="0" bIns="0" rtlCol="0" anchor="t"/>
          <a:lstStyle/>
          <a:p>
            <a:pPr algn="ctr" indent="0" marL="0">
              <a:buNone/>
            </a:pPr>
            <a:r>
              <a:rPr lang="en-US" sz="1000" b="1" dirty="0">
                <a:solidFill>
                  <a:srgbClr val="E8912D"/>
                </a:solidFill>
                <a:latin typeface="Calibri" pitchFamily="34" charset="0"/>
                <a:ea typeface="Calibri" pitchFamily="34" charset="-122"/>
                <a:cs typeface="Calibri" pitchFamily="34" charset="-120"/>
              </a:rPr>
              <a:t>④ read state</a:t>
            </a:r>
            <a:endParaRPr lang="en-US" sz="1000" dirty="0"/>
          </a:p>
        </p:txBody>
      </p:sp>
      <p:sp>
        <p:nvSpPr>
          <p:cNvPr id="22" name="Shape 20"/>
          <p:cNvSpPr/>
          <p:nvPr/>
        </p:nvSpPr>
        <p:spPr>
          <a:xfrm flipH="1">
            <a:off x="1280160" y="3959352"/>
            <a:ext cx="2926080" cy="0"/>
          </a:xfrm>
          <a:prstGeom prst="line">
            <a:avLst/>
          </a:prstGeom>
          <a:noFill/>
          <a:ln w="22225">
            <a:solidFill>
              <a:srgbClr val="E8912D"/>
            </a:solidFill>
            <a:prstDash val="dash"/>
            <a:headEnd type="none"/>
            <a:tailEnd type="triangle"/>
          </a:ln>
        </p:spPr>
      </p:sp>
      <p:sp>
        <p:nvSpPr>
          <p:cNvPr id="23" name="Text 21"/>
          <p:cNvSpPr txBox="1"/>
          <p:nvPr/>
        </p:nvSpPr>
        <p:spPr>
          <a:xfrm>
            <a:off x="1325880" y="3995928"/>
            <a:ext cx="2834640" cy="201168"/>
          </a:xfrm>
          <a:prstGeom prst="rect">
            <a:avLst/>
          </a:prstGeom>
          <a:noFill/>
          <a:ln/>
        </p:spPr>
        <p:txBody>
          <a:bodyPr wrap="square" lIns="0" tIns="0" rIns="0" bIns="0" rtlCol="0" anchor="t"/>
          <a:lstStyle/>
          <a:p>
            <a:pPr algn="ctr" indent="0" marL="0">
              <a:buNone/>
            </a:pPr>
            <a:r>
              <a:rPr lang="en-US" sz="850" dirty="0">
                <a:solidFill>
                  <a:srgbClr val="5A6B7D"/>
                </a:solidFill>
                <a:latin typeface="Calibri" pitchFamily="34" charset="0"/>
                <a:ea typeface="Calibri" pitchFamily="34" charset="-122"/>
                <a:cs typeface="Calibri" pitchFamily="34" charset="-120"/>
              </a:rPr>
              <a:t>returns canned values today</a:t>
            </a:r>
            <a:endParaRPr lang="en-US" sz="850" dirty="0"/>
          </a:p>
        </p:txBody>
      </p:sp>
      <p:sp>
        <p:nvSpPr>
          <p:cNvPr id="24" name="Shape 22"/>
          <p:cNvSpPr/>
          <p:nvPr/>
        </p:nvSpPr>
        <p:spPr>
          <a:xfrm>
            <a:off x="457200" y="4526280"/>
            <a:ext cx="868680" cy="201168"/>
          </a:xfrm>
          <a:prstGeom prst="roundRect">
            <a:avLst>
              <a:gd name="adj" fmla="val 50000"/>
            </a:avLst>
          </a:prstGeom>
          <a:solidFill>
            <a:srgbClr val="22A06B"/>
          </a:solidFill>
          <a:ln w="12700">
            <a:solidFill>
              <a:srgbClr val="22A06B"/>
            </a:solidFill>
            <a:prstDash val="solid"/>
          </a:ln>
        </p:spPr>
      </p:sp>
      <p:sp>
        <p:nvSpPr>
          <p:cNvPr id="25" name="Text 23"/>
          <p:cNvSpPr txBox="1"/>
          <p:nvPr/>
        </p:nvSpPr>
        <p:spPr>
          <a:xfrm>
            <a:off x="457200" y="4526280"/>
            <a:ext cx="868680" cy="201168"/>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Arial" pitchFamily="34" charset="0"/>
                <a:ea typeface="Arial" pitchFamily="34" charset="-122"/>
                <a:cs typeface="Arial" pitchFamily="34" charset="-120"/>
              </a:rPr>
              <a:t>IMPLEMENTED</a:t>
            </a:r>
            <a:endParaRPr lang="en-US" sz="700" dirty="0"/>
          </a:p>
        </p:txBody>
      </p:sp>
      <p:sp>
        <p:nvSpPr>
          <p:cNvPr id="26" name="Text 24"/>
          <p:cNvSpPr txBox="1"/>
          <p:nvPr/>
        </p:nvSpPr>
        <p:spPr>
          <a:xfrm>
            <a:off x="1417320" y="4507992"/>
            <a:ext cx="914400" cy="237744"/>
          </a:xfrm>
          <a:prstGeom prst="rect">
            <a:avLst/>
          </a:prstGeom>
          <a:noFill/>
          <a:ln/>
        </p:spPr>
        <p:txBody>
          <a:bodyPr wrap="square" lIns="0" tIns="0" rIns="0" bIns="0" rtlCol="0" anchor="ctr"/>
          <a:lstStyle/>
          <a:p>
            <a:pPr indent="0" marL="0">
              <a:buNone/>
            </a:pPr>
            <a:r>
              <a:rPr lang="en-US" sz="900" dirty="0">
                <a:solidFill>
                  <a:srgbClr val="5A6B7D"/>
                </a:solidFill>
                <a:latin typeface="Calibri" pitchFamily="34" charset="0"/>
                <a:ea typeface="Calibri" pitchFamily="34" charset="-122"/>
                <a:cs typeface="Calibri" pitchFamily="34" charset="-120"/>
              </a:rPr>
              <a:t>steps ①–③</a:t>
            </a:r>
            <a:endParaRPr lang="en-US" sz="900" dirty="0"/>
          </a:p>
        </p:txBody>
      </p:sp>
      <p:sp>
        <p:nvSpPr>
          <p:cNvPr id="27" name="Shape 25"/>
          <p:cNvSpPr/>
          <p:nvPr/>
        </p:nvSpPr>
        <p:spPr>
          <a:xfrm>
            <a:off x="2240280" y="4526280"/>
            <a:ext cx="640080" cy="201168"/>
          </a:xfrm>
          <a:prstGeom prst="roundRect">
            <a:avLst>
              <a:gd name="adj" fmla="val 50000"/>
            </a:avLst>
          </a:prstGeom>
          <a:solidFill>
            <a:srgbClr val="D64545"/>
          </a:solidFill>
          <a:ln w="12700">
            <a:solidFill>
              <a:srgbClr val="D64545"/>
            </a:solidFill>
            <a:prstDash val="solid"/>
          </a:ln>
        </p:spPr>
      </p:sp>
      <p:sp>
        <p:nvSpPr>
          <p:cNvPr id="28" name="Text 26"/>
          <p:cNvSpPr txBox="1"/>
          <p:nvPr/>
        </p:nvSpPr>
        <p:spPr>
          <a:xfrm>
            <a:off x="2240280" y="4526280"/>
            <a:ext cx="640080" cy="201168"/>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Arial" pitchFamily="34" charset="0"/>
                <a:ea typeface="Arial" pitchFamily="34" charset="-122"/>
                <a:cs typeface="Arial" pitchFamily="34" charset="-120"/>
              </a:rPr>
              <a:t>MOCK</a:t>
            </a:r>
            <a:endParaRPr lang="en-US" sz="700" dirty="0"/>
          </a:p>
        </p:txBody>
      </p:sp>
      <p:sp>
        <p:nvSpPr>
          <p:cNvPr id="29" name="Text 27"/>
          <p:cNvSpPr txBox="1"/>
          <p:nvPr/>
        </p:nvSpPr>
        <p:spPr>
          <a:xfrm>
            <a:off x="2971800" y="4507992"/>
            <a:ext cx="914400" cy="237744"/>
          </a:xfrm>
          <a:prstGeom prst="rect">
            <a:avLst/>
          </a:prstGeom>
          <a:noFill/>
          <a:ln/>
        </p:spPr>
        <p:txBody>
          <a:bodyPr wrap="square" lIns="0" tIns="0" rIns="0" bIns="0" rtlCol="0" anchor="ctr"/>
          <a:lstStyle/>
          <a:p>
            <a:pPr indent="0" marL="0">
              <a:buNone/>
            </a:pPr>
            <a:r>
              <a:rPr lang="en-US" sz="900" dirty="0">
                <a:solidFill>
                  <a:srgbClr val="5A6B7D"/>
                </a:solidFill>
                <a:latin typeface="Calibri" pitchFamily="34" charset="0"/>
                <a:ea typeface="Calibri" pitchFamily="34" charset="-122"/>
                <a:cs typeface="Calibri" pitchFamily="34" charset="-120"/>
              </a:rPr>
              <a:t>step ④</a:t>
            </a:r>
            <a:endParaRPr lang="en-US" sz="900" dirty="0"/>
          </a:p>
        </p:txBody>
      </p:sp>
      <p:sp>
        <p:nvSpPr>
          <p:cNvPr id="30" name="Shape 28"/>
          <p:cNvSpPr/>
          <p:nvPr/>
        </p:nvSpPr>
        <p:spPr>
          <a:xfrm>
            <a:off x="5120640" y="1188720"/>
            <a:ext cx="3566160" cy="3611880"/>
          </a:xfrm>
          <a:prstGeom prst="roundRect">
            <a:avLst>
              <a:gd name="adj" fmla="val 2051"/>
            </a:avLst>
          </a:prstGeom>
          <a:solidFill>
            <a:srgbClr val="F2F5F8"/>
          </a:solidFill>
          <a:ln w="12700">
            <a:solidFill>
              <a:srgbClr val="F2F5F8"/>
            </a:solidFill>
            <a:prstDash val="solid"/>
          </a:ln>
        </p:spPr>
      </p:sp>
      <p:sp>
        <p:nvSpPr>
          <p:cNvPr id="31" name="Text 29"/>
          <p:cNvSpPr txBox="1"/>
          <p:nvPr/>
        </p:nvSpPr>
        <p:spPr>
          <a:xfrm>
            <a:off x="5303520" y="1298448"/>
            <a:ext cx="3200400" cy="256032"/>
          </a:xfrm>
          <a:prstGeom prst="rect">
            <a:avLst/>
          </a:prstGeom>
          <a:noFill/>
          <a:ln/>
        </p:spPr>
        <p:txBody>
          <a:bodyPr wrap="square" lIns="0" tIns="0" rIns="0" bIns="0" rtlCol="0" anchor="t"/>
          <a:lstStyle/>
          <a:p>
            <a:pPr indent="0" marL="0">
              <a:buNone/>
            </a:pPr>
            <a:r>
              <a:rPr lang="en-US" sz="1150" b="1" dirty="0">
                <a:solidFill>
                  <a:srgbClr val="0B1D33"/>
                </a:solidFill>
                <a:latin typeface="Arial" pitchFamily="34" charset="0"/>
                <a:ea typeface="Arial" pitchFamily="34" charset="-122"/>
                <a:cs typeface="Arial" pitchFamily="34" charset="-120"/>
              </a:rPr>
              <a:t>Not yet in place</a:t>
            </a:r>
            <a:endParaRPr lang="en-US" sz="1150" dirty="0"/>
          </a:p>
        </p:txBody>
      </p:sp>
      <p:sp>
        <p:nvSpPr>
          <p:cNvPr id="32" name="Shape 30"/>
          <p:cNvSpPr/>
          <p:nvPr/>
        </p:nvSpPr>
        <p:spPr>
          <a:xfrm>
            <a:off x="5257800" y="1664208"/>
            <a:ext cx="3291840" cy="658368"/>
          </a:xfrm>
          <a:prstGeom prst="roundRect">
            <a:avLst>
              <a:gd name="adj" fmla="val 8333"/>
            </a:avLst>
          </a:prstGeom>
          <a:solidFill>
            <a:srgbClr val="FFFFFF"/>
          </a:solidFill>
          <a:ln w="12700">
            <a:solidFill>
              <a:srgbClr val="FFFFFF"/>
            </a:solidFill>
            <a:prstDash val="solid"/>
          </a:ln>
        </p:spPr>
      </p:sp>
      <p:sp>
        <p:nvSpPr>
          <p:cNvPr id="33" name="Text 31"/>
          <p:cNvSpPr txBox="1"/>
          <p:nvPr/>
        </p:nvSpPr>
        <p:spPr>
          <a:xfrm>
            <a:off x="5376672" y="1728216"/>
            <a:ext cx="2194560" cy="237744"/>
          </a:xfrm>
          <a:prstGeom prst="rect">
            <a:avLst/>
          </a:prstGeom>
          <a:noFill/>
          <a:ln/>
        </p:spPr>
        <p:txBody>
          <a:bodyPr wrap="square" lIns="0" tIns="0" rIns="0" bIns="0" rtlCol="0" anchor="t"/>
          <a:lstStyle/>
          <a:p>
            <a:pPr indent="0" marL="0">
              <a:buNone/>
            </a:pPr>
            <a:r>
              <a:rPr lang="en-US" sz="1000" b="1" dirty="0">
                <a:solidFill>
                  <a:srgbClr val="1A2B3C"/>
                </a:solidFill>
                <a:latin typeface="Calibri" pitchFamily="34" charset="0"/>
                <a:ea typeface="Calibri" pitchFamily="34" charset="-122"/>
                <a:cs typeface="Calibri" pitchFamily="34" charset="-120"/>
              </a:rPr>
              <a:t>No rollback after commit</a:t>
            </a:r>
            <a:endParaRPr lang="en-US" sz="1000" dirty="0"/>
          </a:p>
        </p:txBody>
      </p:sp>
      <p:sp>
        <p:nvSpPr>
          <p:cNvPr id="34" name="Text 32"/>
          <p:cNvSpPr txBox="1"/>
          <p:nvPr/>
        </p:nvSpPr>
        <p:spPr>
          <a:xfrm>
            <a:off x="5376672" y="1984248"/>
            <a:ext cx="3063240" cy="274320"/>
          </a:xfrm>
          <a:prstGeom prst="rect">
            <a:avLst/>
          </a:prstGeom>
          <a:noFill/>
          <a:ln/>
        </p:spPr>
        <p:txBody>
          <a:bodyPr wrap="square" lIns="0" tIns="0" rIns="0" bIns="0" rtlCol="0" anchor="t"/>
          <a:lstStyle/>
          <a:p>
            <a:pPr indent="0" marL="0">
              <a:buNone/>
            </a:pPr>
            <a:r>
              <a:rPr lang="en-US" sz="900" dirty="0">
                <a:solidFill>
                  <a:srgbClr val="5A6B7D"/>
                </a:solidFill>
                <a:latin typeface="Calibri" pitchFamily="34" charset="0"/>
                <a:ea typeface="Calibri" pitchFamily="34" charset="-122"/>
                <a:cs typeface="Calibri" pitchFamily="34" charset="-120"/>
              </a:rPr>
              <a:t>discard only runs when staging fails</a:t>
            </a:r>
            <a:endParaRPr lang="en-US" sz="900" dirty="0"/>
          </a:p>
        </p:txBody>
      </p:sp>
      <p:sp>
        <p:nvSpPr>
          <p:cNvPr id="35" name="Shape 33"/>
          <p:cNvSpPr/>
          <p:nvPr/>
        </p:nvSpPr>
        <p:spPr>
          <a:xfrm>
            <a:off x="7589520" y="1737360"/>
            <a:ext cx="868680" cy="201168"/>
          </a:xfrm>
          <a:prstGeom prst="roundRect">
            <a:avLst>
              <a:gd name="adj" fmla="val 50000"/>
            </a:avLst>
          </a:prstGeom>
          <a:solidFill>
            <a:srgbClr val="FFFFFF"/>
          </a:solidFill>
          <a:ln w="12700">
            <a:solidFill>
              <a:srgbClr val="9AA7B4"/>
            </a:solidFill>
            <a:prstDash val="dash"/>
          </a:ln>
        </p:spPr>
      </p:sp>
      <p:sp>
        <p:nvSpPr>
          <p:cNvPr id="36" name="Text 34"/>
          <p:cNvSpPr txBox="1"/>
          <p:nvPr/>
        </p:nvSpPr>
        <p:spPr>
          <a:xfrm>
            <a:off x="7589520" y="1737360"/>
            <a:ext cx="868680" cy="201168"/>
          </a:xfrm>
          <a:prstGeom prst="rect">
            <a:avLst/>
          </a:prstGeom>
          <a:noFill/>
          <a:ln/>
        </p:spPr>
        <p:txBody>
          <a:bodyPr wrap="square" lIns="0" tIns="0" rIns="0" bIns="0" rtlCol="0" anchor="ctr"/>
          <a:lstStyle/>
          <a:p>
            <a:pPr algn="ctr" indent="0" marL="0">
              <a:buNone/>
            </a:pPr>
            <a:r>
              <a:rPr lang="en-US" sz="700" b="1" spc="50" kern="0" dirty="0">
                <a:solidFill>
                  <a:srgbClr val="5A6B7D"/>
                </a:solidFill>
                <a:latin typeface="Arial" pitchFamily="34" charset="0"/>
                <a:ea typeface="Arial" pitchFamily="34" charset="-122"/>
                <a:cs typeface="Arial" pitchFamily="34" charset="-120"/>
              </a:rPr>
              <a:t>PLANNED</a:t>
            </a:r>
            <a:endParaRPr lang="en-US" sz="700" dirty="0"/>
          </a:p>
        </p:txBody>
      </p:sp>
      <p:sp>
        <p:nvSpPr>
          <p:cNvPr id="37" name="Shape 35"/>
          <p:cNvSpPr/>
          <p:nvPr/>
        </p:nvSpPr>
        <p:spPr>
          <a:xfrm>
            <a:off x="5257800" y="2423160"/>
            <a:ext cx="3291840" cy="658368"/>
          </a:xfrm>
          <a:prstGeom prst="roundRect">
            <a:avLst>
              <a:gd name="adj" fmla="val 8333"/>
            </a:avLst>
          </a:prstGeom>
          <a:solidFill>
            <a:srgbClr val="FFFFFF"/>
          </a:solidFill>
          <a:ln w="12700">
            <a:solidFill>
              <a:srgbClr val="FFFFFF"/>
            </a:solidFill>
            <a:prstDash val="solid"/>
          </a:ln>
        </p:spPr>
      </p:sp>
      <p:sp>
        <p:nvSpPr>
          <p:cNvPr id="38" name="Text 36"/>
          <p:cNvSpPr txBox="1"/>
          <p:nvPr/>
        </p:nvSpPr>
        <p:spPr>
          <a:xfrm>
            <a:off x="5376672" y="2487168"/>
            <a:ext cx="2194560" cy="237744"/>
          </a:xfrm>
          <a:prstGeom prst="rect">
            <a:avLst/>
          </a:prstGeom>
          <a:noFill/>
          <a:ln/>
        </p:spPr>
        <p:txBody>
          <a:bodyPr wrap="square" lIns="0" tIns="0" rIns="0" bIns="0" rtlCol="0" anchor="t"/>
          <a:lstStyle/>
          <a:p>
            <a:pPr indent="0" marL="0">
              <a:buNone/>
            </a:pPr>
            <a:r>
              <a:rPr lang="en-US" sz="1000" b="1" dirty="0">
                <a:solidFill>
                  <a:srgbClr val="1A2B3C"/>
                </a:solidFill>
                <a:latin typeface="Calibri" pitchFamily="34" charset="0"/>
                <a:ea typeface="Calibri" pitchFamily="34" charset="-122"/>
                <a:cs typeface="Calibri" pitchFamily="34" charset="-120"/>
              </a:rPr>
              <a:t>No telemetry subscription</a:t>
            </a:r>
            <a:endParaRPr lang="en-US" sz="1000" dirty="0"/>
          </a:p>
        </p:txBody>
      </p:sp>
      <p:sp>
        <p:nvSpPr>
          <p:cNvPr id="39" name="Text 37"/>
          <p:cNvSpPr txBox="1"/>
          <p:nvPr/>
        </p:nvSpPr>
        <p:spPr>
          <a:xfrm>
            <a:off x="5376672" y="2743200"/>
            <a:ext cx="3063240" cy="274320"/>
          </a:xfrm>
          <a:prstGeom prst="rect">
            <a:avLst/>
          </a:prstGeom>
          <a:noFill/>
          <a:ln/>
        </p:spPr>
        <p:txBody>
          <a:bodyPr wrap="square" lIns="0" tIns="0" rIns="0" bIns="0" rtlCol="0" anchor="t"/>
          <a:lstStyle/>
          <a:p>
            <a:pPr indent="0" marL="0">
              <a:buNone/>
            </a:pPr>
            <a:r>
              <a:rPr lang="en-US" sz="900" dirty="0">
                <a:solidFill>
                  <a:srgbClr val="5A6B7D"/>
                </a:solidFill>
                <a:latin typeface="Calibri" pitchFamily="34" charset="0"/>
                <a:ea typeface="Calibri" pitchFamily="34" charset="-122"/>
                <a:cs typeface="Calibri" pitchFamily="34" charset="-120"/>
              </a:rPr>
              <a:t>SubscribeState returns True, streams nothing</a:t>
            </a:r>
            <a:endParaRPr lang="en-US" sz="900" dirty="0"/>
          </a:p>
        </p:txBody>
      </p:sp>
      <p:sp>
        <p:nvSpPr>
          <p:cNvPr id="40" name="Shape 38"/>
          <p:cNvSpPr/>
          <p:nvPr/>
        </p:nvSpPr>
        <p:spPr>
          <a:xfrm>
            <a:off x="7589520" y="2496312"/>
            <a:ext cx="868680" cy="201168"/>
          </a:xfrm>
          <a:prstGeom prst="roundRect">
            <a:avLst>
              <a:gd name="adj" fmla="val 50000"/>
            </a:avLst>
          </a:prstGeom>
          <a:solidFill>
            <a:srgbClr val="FFFFFF"/>
          </a:solidFill>
          <a:ln w="12700">
            <a:solidFill>
              <a:srgbClr val="9AA7B4"/>
            </a:solidFill>
            <a:prstDash val="dash"/>
          </a:ln>
        </p:spPr>
      </p:sp>
      <p:sp>
        <p:nvSpPr>
          <p:cNvPr id="41" name="Text 39"/>
          <p:cNvSpPr txBox="1"/>
          <p:nvPr/>
        </p:nvSpPr>
        <p:spPr>
          <a:xfrm>
            <a:off x="7589520" y="2496312"/>
            <a:ext cx="868680" cy="201168"/>
          </a:xfrm>
          <a:prstGeom prst="rect">
            <a:avLst/>
          </a:prstGeom>
          <a:noFill/>
          <a:ln/>
        </p:spPr>
        <p:txBody>
          <a:bodyPr wrap="square" lIns="0" tIns="0" rIns="0" bIns="0" rtlCol="0" anchor="ctr"/>
          <a:lstStyle/>
          <a:p>
            <a:pPr algn="ctr" indent="0" marL="0">
              <a:buNone/>
            </a:pPr>
            <a:r>
              <a:rPr lang="en-US" sz="700" b="1" spc="50" kern="0" dirty="0">
                <a:solidFill>
                  <a:srgbClr val="5A6B7D"/>
                </a:solidFill>
                <a:latin typeface="Arial" pitchFamily="34" charset="0"/>
                <a:ea typeface="Arial" pitchFamily="34" charset="-122"/>
                <a:cs typeface="Arial" pitchFamily="34" charset="-120"/>
              </a:rPr>
              <a:t>PLANNED</a:t>
            </a:r>
            <a:endParaRPr lang="en-US" sz="700" dirty="0"/>
          </a:p>
        </p:txBody>
      </p:sp>
      <p:sp>
        <p:nvSpPr>
          <p:cNvPr id="42" name="Shape 40"/>
          <p:cNvSpPr/>
          <p:nvPr/>
        </p:nvSpPr>
        <p:spPr>
          <a:xfrm>
            <a:off x="5257800" y="3182112"/>
            <a:ext cx="3291840" cy="658368"/>
          </a:xfrm>
          <a:prstGeom prst="roundRect">
            <a:avLst>
              <a:gd name="adj" fmla="val 8333"/>
            </a:avLst>
          </a:prstGeom>
          <a:solidFill>
            <a:srgbClr val="FFFFFF"/>
          </a:solidFill>
          <a:ln w="12700">
            <a:solidFill>
              <a:srgbClr val="FFFFFF"/>
            </a:solidFill>
            <a:prstDash val="solid"/>
          </a:ln>
        </p:spPr>
      </p:sp>
      <p:sp>
        <p:nvSpPr>
          <p:cNvPr id="43" name="Text 41"/>
          <p:cNvSpPr txBox="1"/>
          <p:nvPr/>
        </p:nvSpPr>
        <p:spPr>
          <a:xfrm>
            <a:off x="5376672" y="3246120"/>
            <a:ext cx="2194560" cy="237744"/>
          </a:xfrm>
          <a:prstGeom prst="rect">
            <a:avLst/>
          </a:prstGeom>
          <a:noFill/>
          <a:ln/>
        </p:spPr>
        <p:txBody>
          <a:bodyPr wrap="square" lIns="0" tIns="0" rIns="0" bIns="0" rtlCol="0" anchor="t"/>
          <a:lstStyle/>
          <a:p>
            <a:pPr indent="0" marL="0">
              <a:buNone/>
            </a:pPr>
            <a:r>
              <a:rPr lang="en-US" sz="1000" b="1" dirty="0">
                <a:solidFill>
                  <a:srgbClr val="1A2B3C"/>
                </a:solidFill>
                <a:latin typeface="Calibri" pitchFamily="34" charset="0"/>
                <a:ea typeface="Calibri" pitchFamily="34" charset="-122"/>
                <a:cs typeface="Calibri" pitchFamily="34" charset="-120"/>
              </a:rPr>
              <a:t>Intent keys ≠ driver keys</a:t>
            </a:r>
            <a:endParaRPr lang="en-US" sz="1000" dirty="0"/>
          </a:p>
        </p:txBody>
      </p:sp>
      <p:sp>
        <p:nvSpPr>
          <p:cNvPr id="44" name="Text 42"/>
          <p:cNvSpPr txBox="1"/>
          <p:nvPr/>
        </p:nvSpPr>
        <p:spPr>
          <a:xfrm>
            <a:off x="5376672" y="3502152"/>
            <a:ext cx="3063240" cy="274320"/>
          </a:xfrm>
          <a:prstGeom prst="rect">
            <a:avLst/>
          </a:prstGeom>
          <a:noFill/>
          <a:ln/>
        </p:spPr>
        <p:txBody>
          <a:bodyPr wrap="square" lIns="0" tIns="0" rIns="0" bIns="0" rtlCol="0" anchor="t"/>
          <a:lstStyle/>
          <a:p>
            <a:pPr indent="0" marL="0">
              <a:buNone/>
            </a:pPr>
            <a:r>
              <a:rPr lang="en-US" sz="900" dirty="0">
                <a:solidFill>
                  <a:srgbClr val="5A6B7D"/>
                </a:solidFill>
                <a:latin typeface="Calibri" pitchFamily="34" charset="0"/>
                <a:ea typeface="Calibri" pitchFamily="34" charset="-122"/>
                <a:cs typeface="Calibri" pitchFamily="34" charset="-120"/>
              </a:rPr>
              <a:t>min/max modulation never reaches the radio</a:t>
            </a:r>
            <a:endParaRPr lang="en-US" sz="900" dirty="0"/>
          </a:p>
        </p:txBody>
      </p:sp>
      <p:sp>
        <p:nvSpPr>
          <p:cNvPr id="45" name="Shape 43"/>
          <p:cNvSpPr/>
          <p:nvPr/>
        </p:nvSpPr>
        <p:spPr>
          <a:xfrm>
            <a:off x="7589520" y="3255264"/>
            <a:ext cx="868680" cy="201168"/>
          </a:xfrm>
          <a:prstGeom prst="roundRect">
            <a:avLst>
              <a:gd name="adj" fmla="val 50000"/>
            </a:avLst>
          </a:prstGeom>
          <a:solidFill>
            <a:srgbClr val="E8912D"/>
          </a:solidFill>
          <a:ln w="12700">
            <a:solidFill>
              <a:srgbClr val="E8912D"/>
            </a:solidFill>
            <a:prstDash val="solid"/>
          </a:ln>
        </p:spPr>
      </p:sp>
      <p:sp>
        <p:nvSpPr>
          <p:cNvPr id="46" name="Text 44"/>
          <p:cNvSpPr txBox="1"/>
          <p:nvPr/>
        </p:nvSpPr>
        <p:spPr>
          <a:xfrm>
            <a:off x="7589520" y="3255264"/>
            <a:ext cx="868680" cy="201168"/>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Arial" pitchFamily="34" charset="0"/>
                <a:ea typeface="Arial" pitchFamily="34" charset="-122"/>
                <a:cs typeface="Arial" pitchFamily="34" charset="-120"/>
              </a:rPr>
              <a:t>PARTIAL</a:t>
            </a:r>
            <a:endParaRPr lang="en-US" sz="700" dirty="0"/>
          </a:p>
        </p:txBody>
      </p:sp>
      <p:sp>
        <p:nvSpPr>
          <p:cNvPr id="47" name="Shape 45"/>
          <p:cNvSpPr/>
          <p:nvPr/>
        </p:nvSpPr>
        <p:spPr>
          <a:xfrm>
            <a:off x="5257800" y="3941064"/>
            <a:ext cx="3291840" cy="658368"/>
          </a:xfrm>
          <a:prstGeom prst="roundRect">
            <a:avLst>
              <a:gd name="adj" fmla="val 8333"/>
            </a:avLst>
          </a:prstGeom>
          <a:solidFill>
            <a:srgbClr val="FFFFFF"/>
          </a:solidFill>
          <a:ln w="12700">
            <a:solidFill>
              <a:srgbClr val="FFFFFF"/>
            </a:solidFill>
            <a:prstDash val="solid"/>
          </a:ln>
        </p:spPr>
      </p:sp>
      <p:sp>
        <p:nvSpPr>
          <p:cNvPr id="48" name="Text 46"/>
          <p:cNvSpPr txBox="1"/>
          <p:nvPr/>
        </p:nvSpPr>
        <p:spPr>
          <a:xfrm>
            <a:off x="5376672" y="4005072"/>
            <a:ext cx="2194560" cy="237744"/>
          </a:xfrm>
          <a:prstGeom prst="rect">
            <a:avLst/>
          </a:prstGeom>
          <a:noFill/>
          <a:ln/>
        </p:spPr>
        <p:txBody>
          <a:bodyPr wrap="square" lIns="0" tIns="0" rIns="0" bIns="0" rtlCol="0" anchor="t"/>
          <a:lstStyle/>
          <a:p>
            <a:pPr indent="0" marL="0">
              <a:buNone/>
            </a:pPr>
            <a:r>
              <a:rPr lang="en-US" sz="1000" b="1" dirty="0">
                <a:solidFill>
                  <a:srgbClr val="1A2B3C"/>
                </a:solidFill>
                <a:latin typeface="Calibri" pitchFamily="34" charset="0"/>
                <a:ea typeface="Calibri" pitchFamily="34" charset="-122"/>
                <a:cs typeface="Calibri" pitchFamily="34" charset="-120"/>
              </a:rPr>
              <a:t>Dashboard wire log and diff</a:t>
            </a:r>
            <a:endParaRPr lang="en-US" sz="1000" dirty="0"/>
          </a:p>
        </p:txBody>
      </p:sp>
      <p:sp>
        <p:nvSpPr>
          <p:cNvPr id="49" name="Text 47"/>
          <p:cNvSpPr txBox="1"/>
          <p:nvPr/>
        </p:nvSpPr>
        <p:spPr>
          <a:xfrm>
            <a:off x="5376672" y="4261104"/>
            <a:ext cx="3063240" cy="274320"/>
          </a:xfrm>
          <a:prstGeom prst="rect">
            <a:avLst/>
          </a:prstGeom>
          <a:noFill/>
          <a:ln/>
        </p:spPr>
        <p:txBody>
          <a:bodyPr wrap="square" lIns="0" tIns="0" rIns="0" bIns="0" rtlCol="0" anchor="t"/>
          <a:lstStyle/>
          <a:p>
            <a:pPr indent="0" marL="0">
              <a:buNone/>
            </a:pPr>
            <a:r>
              <a:rPr lang="en-US" sz="900" dirty="0">
                <a:solidFill>
                  <a:srgbClr val="5A6B7D"/>
                </a:solidFill>
                <a:latin typeface="Calibri" pitchFamily="34" charset="0"/>
                <a:ea typeface="Calibri" pitchFamily="34" charset="-122"/>
                <a:cs typeface="Calibri" pitchFamily="34" charset="-120"/>
              </a:rPr>
              <a:t>static JSON, never sent</a:t>
            </a:r>
            <a:endParaRPr lang="en-US" sz="900" dirty="0"/>
          </a:p>
        </p:txBody>
      </p:sp>
      <p:sp>
        <p:nvSpPr>
          <p:cNvPr id="50" name="Shape 48"/>
          <p:cNvSpPr/>
          <p:nvPr/>
        </p:nvSpPr>
        <p:spPr>
          <a:xfrm>
            <a:off x="7589520" y="4014216"/>
            <a:ext cx="868680" cy="201168"/>
          </a:xfrm>
          <a:prstGeom prst="roundRect">
            <a:avLst>
              <a:gd name="adj" fmla="val 50000"/>
            </a:avLst>
          </a:prstGeom>
          <a:solidFill>
            <a:srgbClr val="D64545"/>
          </a:solidFill>
          <a:ln w="12700">
            <a:solidFill>
              <a:srgbClr val="D64545"/>
            </a:solidFill>
            <a:prstDash val="solid"/>
          </a:ln>
        </p:spPr>
      </p:sp>
      <p:sp>
        <p:nvSpPr>
          <p:cNvPr id="51" name="Text 49"/>
          <p:cNvSpPr txBox="1"/>
          <p:nvPr/>
        </p:nvSpPr>
        <p:spPr>
          <a:xfrm>
            <a:off x="7589520" y="4014216"/>
            <a:ext cx="868680" cy="201168"/>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Arial" pitchFamily="34" charset="0"/>
                <a:ea typeface="Arial" pitchFamily="34" charset="-122"/>
                <a:cs typeface="Arial" pitchFamily="34" charset="-120"/>
              </a:rPr>
              <a:t>MOCK</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000" b="1" spc="200" kern="0" dirty="0">
                <a:solidFill>
                  <a:srgbClr val="0FA3B1"/>
                </a:solidFill>
                <a:latin typeface="Arial" pitchFamily="34" charset="0"/>
                <a:ea typeface="Arial" pitchFamily="34" charset="-122"/>
                <a:cs typeface="Arial" pitchFamily="34" charset="-120"/>
              </a:rPr>
              <a:t>CLOSED LOOP</a:t>
            </a:r>
            <a:endParaRPr lang="en-US" sz="10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400" b="1" dirty="0">
                <a:solidFill>
                  <a:srgbClr val="0B1D33"/>
                </a:solidFill>
                <a:latin typeface="Arial" pitchFamily="34" charset="0"/>
                <a:ea typeface="Arial" pitchFamily="34" charset="-122"/>
                <a:cs typeface="Arial" pitchFamily="34" charset="-120"/>
              </a:rPr>
              <a:t>Today it detects; the target loop also acts</a:t>
            </a:r>
            <a:endParaRPr lang="en-US" sz="2400" dirty="0"/>
          </a:p>
        </p:txBody>
      </p:sp>
      <p:sp>
        <p:nvSpPr>
          <p:cNvPr id="4" name="Text 2"/>
          <p:cNvSpPr txBox="1"/>
          <p:nvPr/>
        </p:nvSpPr>
        <p:spPr>
          <a:xfrm>
            <a:off x="457200" y="1188720"/>
            <a:ext cx="8229600" cy="228600"/>
          </a:xfrm>
          <a:prstGeom prst="rect">
            <a:avLst/>
          </a:prstGeom>
          <a:noFill/>
          <a:ln/>
        </p:spPr>
        <p:txBody>
          <a:bodyPr wrap="square" lIns="0" tIns="0" rIns="0" bIns="0" rtlCol="0" anchor="t"/>
          <a:lstStyle/>
          <a:p>
            <a:pPr indent="0" marL="0">
              <a:buNone/>
            </a:pPr>
            <a:r>
              <a:rPr lang="en-US" sz="1000" b="1" spc="150" kern="0" dirty="0">
                <a:solidFill>
                  <a:srgbClr val="E8912D"/>
                </a:solidFill>
                <a:latin typeface="Arial" pitchFamily="34" charset="0"/>
                <a:ea typeface="Arial" pitchFamily="34" charset="-122"/>
                <a:cs typeface="Arial" pitchFamily="34" charset="-120"/>
              </a:rPr>
              <a:t>TODAY</a:t>
            </a:r>
            <a:endParaRPr lang="en-US" sz="1000" dirty="0"/>
          </a:p>
        </p:txBody>
      </p:sp>
      <p:sp>
        <p:nvSpPr>
          <p:cNvPr id="5" name="Shape 3"/>
          <p:cNvSpPr/>
          <p:nvPr/>
        </p:nvSpPr>
        <p:spPr>
          <a:xfrm>
            <a:off x="457200" y="1481328"/>
            <a:ext cx="1261872" cy="1143000"/>
          </a:xfrm>
          <a:prstGeom prst="roundRect">
            <a:avLst>
              <a:gd name="adj" fmla="val 6400"/>
            </a:avLst>
          </a:prstGeom>
          <a:solidFill>
            <a:srgbClr val="F2F5F8"/>
          </a:solidFill>
          <a:ln w="12700">
            <a:solidFill>
              <a:srgbClr val="F2F5F8"/>
            </a:solidFill>
            <a:prstDash val="solid"/>
          </a:ln>
        </p:spPr>
      </p:sp>
      <p:sp>
        <p:nvSpPr>
          <p:cNvPr id="6" name="Text 4"/>
          <p:cNvSpPr txBox="1"/>
          <p:nvPr/>
        </p:nvSpPr>
        <p:spPr>
          <a:xfrm>
            <a:off x="548640" y="1554480"/>
            <a:ext cx="1078992" cy="256032"/>
          </a:xfrm>
          <a:prstGeom prst="rect">
            <a:avLst/>
          </a:prstGeom>
          <a:noFill/>
          <a:ln/>
        </p:spPr>
        <p:txBody>
          <a:bodyPr wrap="square" lIns="0" tIns="0" rIns="0" bIns="0" rtlCol="0" anchor="t"/>
          <a:lstStyle/>
          <a:p>
            <a:pPr indent="0" marL="0">
              <a:buNone/>
            </a:pPr>
            <a:r>
              <a:rPr lang="en-US" sz="1050" b="1" dirty="0">
                <a:solidFill>
                  <a:srgbClr val="0B1D33"/>
                </a:solidFill>
                <a:latin typeface="Arial" pitchFamily="34" charset="0"/>
                <a:ea typeface="Arial" pitchFamily="34" charset="-122"/>
                <a:cs typeface="Arial" pitchFamily="34" charset="-120"/>
              </a:rPr>
              <a:t>Intent</a:t>
            </a:r>
            <a:endParaRPr lang="en-US" sz="1050" dirty="0"/>
          </a:p>
        </p:txBody>
      </p:sp>
      <p:sp>
        <p:nvSpPr>
          <p:cNvPr id="7" name="Text 5"/>
          <p:cNvSpPr txBox="1"/>
          <p:nvPr/>
        </p:nvSpPr>
        <p:spPr>
          <a:xfrm>
            <a:off x="548640" y="1810512"/>
            <a:ext cx="1078992" cy="457200"/>
          </a:xfrm>
          <a:prstGeom prst="rect">
            <a:avLst/>
          </a:prstGeom>
          <a:noFill/>
          <a:ln/>
        </p:spPr>
        <p:txBody>
          <a:bodyPr wrap="square" lIns="0" tIns="0" rIns="0" bIns="0" rtlCol="0" anchor="t"/>
          <a:lstStyle/>
          <a:p>
            <a:pPr indent="0" marL="0">
              <a:buNone/>
            </a:pPr>
            <a:r>
              <a:rPr lang="en-US" sz="900" dirty="0">
                <a:solidFill>
                  <a:srgbClr val="5A6B7D"/>
                </a:solidFill>
                <a:latin typeface="Calibri" pitchFamily="34" charset="0"/>
                <a:ea typeface="Calibri" pitchFamily="34" charset="-122"/>
                <a:cs typeface="Calibri" pitchFamily="34" charset="-120"/>
              </a:rPr>
              <a:t>parse, plan, approve</a:t>
            </a:r>
            <a:endParaRPr lang="en-US" sz="900" dirty="0"/>
          </a:p>
        </p:txBody>
      </p:sp>
      <p:sp>
        <p:nvSpPr>
          <p:cNvPr id="8" name="Shape 6"/>
          <p:cNvSpPr/>
          <p:nvPr/>
        </p:nvSpPr>
        <p:spPr>
          <a:xfrm>
            <a:off x="548640" y="2322576"/>
            <a:ext cx="868680" cy="201168"/>
          </a:xfrm>
          <a:prstGeom prst="roundRect">
            <a:avLst>
              <a:gd name="adj" fmla="val 50000"/>
            </a:avLst>
          </a:prstGeom>
          <a:solidFill>
            <a:srgbClr val="22A06B"/>
          </a:solidFill>
          <a:ln w="12700">
            <a:solidFill>
              <a:srgbClr val="22A06B"/>
            </a:solidFill>
            <a:prstDash val="solid"/>
          </a:ln>
        </p:spPr>
      </p:sp>
      <p:sp>
        <p:nvSpPr>
          <p:cNvPr id="9" name="Text 7"/>
          <p:cNvSpPr txBox="1"/>
          <p:nvPr/>
        </p:nvSpPr>
        <p:spPr>
          <a:xfrm>
            <a:off x="548640" y="2322576"/>
            <a:ext cx="868680" cy="201168"/>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Arial" pitchFamily="34" charset="0"/>
                <a:ea typeface="Arial" pitchFamily="34" charset="-122"/>
                <a:cs typeface="Arial" pitchFamily="34" charset="-120"/>
              </a:rPr>
              <a:t>IMPLEMENTED</a:t>
            </a:r>
            <a:endParaRPr lang="en-US" sz="700" dirty="0"/>
          </a:p>
        </p:txBody>
      </p:sp>
      <p:sp>
        <p:nvSpPr>
          <p:cNvPr id="10" name="Shape 8"/>
          <p:cNvSpPr/>
          <p:nvPr/>
        </p:nvSpPr>
        <p:spPr>
          <a:xfrm>
            <a:off x="1719072" y="2057400"/>
            <a:ext cx="109728" cy="0"/>
          </a:xfrm>
          <a:prstGeom prst="line">
            <a:avLst/>
          </a:prstGeom>
          <a:noFill/>
          <a:ln w="22225">
            <a:solidFill>
              <a:srgbClr val="0B1D33"/>
            </a:solidFill>
            <a:prstDash val="solid"/>
            <a:headEnd type="none"/>
            <a:tailEnd type="triangle"/>
          </a:ln>
        </p:spPr>
      </p:sp>
      <p:sp>
        <p:nvSpPr>
          <p:cNvPr id="11" name="Shape 9"/>
          <p:cNvSpPr/>
          <p:nvPr/>
        </p:nvSpPr>
        <p:spPr>
          <a:xfrm>
            <a:off x="1828800" y="1481328"/>
            <a:ext cx="1261872" cy="1143000"/>
          </a:xfrm>
          <a:prstGeom prst="roundRect">
            <a:avLst>
              <a:gd name="adj" fmla="val 6400"/>
            </a:avLst>
          </a:prstGeom>
          <a:solidFill>
            <a:srgbClr val="F2F5F8"/>
          </a:solidFill>
          <a:ln w="12700">
            <a:solidFill>
              <a:srgbClr val="F2F5F8"/>
            </a:solidFill>
            <a:prstDash val="solid"/>
          </a:ln>
        </p:spPr>
      </p:sp>
      <p:sp>
        <p:nvSpPr>
          <p:cNvPr id="12" name="Text 10"/>
          <p:cNvSpPr txBox="1"/>
          <p:nvPr/>
        </p:nvSpPr>
        <p:spPr>
          <a:xfrm>
            <a:off x="1920240" y="1554480"/>
            <a:ext cx="1078992" cy="256032"/>
          </a:xfrm>
          <a:prstGeom prst="rect">
            <a:avLst/>
          </a:prstGeom>
          <a:noFill/>
          <a:ln/>
        </p:spPr>
        <p:txBody>
          <a:bodyPr wrap="square" lIns="0" tIns="0" rIns="0" bIns="0" rtlCol="0" anchor="t"/>
          <a:lstStyle/>
          <a:p>
            <a:pPr indent="0" marL="0">
              <a:buNone/>
            </a:pPr>
            <a:r>
              <a:rPr lang="en-US" sz="1050" b="1" dirty="0">
                <a:solidFill>
                  <a:srgbClr val="0B1D33"/>
                </a:solidFill>
                <a:latin typeface="Arial" pitchFamily="34" charset="0"/>
                <a:ea typeface="Arial" pitchFamily="34" charset="-122"/>
                <a:cs typeface="Arial" pitchFamily="34" charset="-120"/>
              </a:rPr>
              <a:t>Apply</a:t>
            </a:r>
            <a:endParaRPr lang="en-US" sz="1050" dirty="0"/>
          </a:p>
        </p:txBody>
      </p:sp>
      <p:sp>
        <p:nvSpPr>
          <p:cNvPr id="13" name="Text 11"/>
          <p:cNvSpPr txBox="1"/>
          <p:nvPr/>
        </p:nvSpPr>
        <p:spPr>
          <a:xfrm>
            <a:off x="1920240" y="1810512"/>
            <a:ext cx="1078992" cy="457200"/>
          </a:xfrm>
          <a:prstGeom prst="rect">
            <a:avLst/>
          </a:prstGeom>
          <a:noFill/>
          <a:ln/>
        </p:spPr>
        <p:txBody>
          <a:bodyPr wrap="square" lIns="0" tIns="0" rIns="0" bIns="0" rtlCol="0" anchor="t"/>
          <a:lstStyle/>
          <a:p>
            <a:pPr indent="0" marL="0">
              <a:buNone/>
            </a:pPr>
            <a:r>
              <a:rPr lang="en-US" sz="900" dirty="0">
                <a:solidFill>
                  <a:srgbClr val="5A6B7D"/>
                </a:solidFill>
                <a:latin typeface="Calibri" pitchFamily="34" charset="0"/>
                <a:ea typeface="Calibri" pitchFamily="34" charset="-122"/>
                <a:cs typeface="Calibri" pitchFamily="34" charset="-120"/>
              </a:rPr>
              <a:t>PUT to TFS, driver commit</a:t>
            </a:r>
            <a:endParaRPr lang="en-US" sz="900" dirty="0"/>
          </a:p>
        </p:txBody>
      </p:sp>
      <p:sp>
        <p:nvSpPr>
          <p:cNvPr id="14" name="Shape 12"/>
          <p:cNvSpPr/>
          <p:nvPr/>
        </p:nvSpPr>
        <p:spPr>
          <a:xfrm>
            <a:off x="1920240" y="2322576"/>
            <a:ext cx="868680" cy="201168"/>
          </a:xfrm>
          <a:prstGeom prst="roundRect">
            <a:avLst>
              <a:gd name="adj" fmla="val 50000"/>
            </a:avLst>
          </a:prstGeom>
          <a:solidFill>
            <a:srgbClr val="22A06B"/>
          </a:solidFill>
          <a:ln w="12700">
            <a:solidFill>
              <a:srgbClr val="22A06B"/>
            </a:solidFill>
            <a:prstDash val="solid"/>
          </a:ln>
        </p:spPr>
      </p:sp>
      <p:sp>
        <p:nvSpPr>
          <p:cNvPr id="15" name="Text 13"/>
          <p:cNvSpPr txBox="1"/>
          <p:nvPr/>
        </p:nvSpPr>
        <p:spPr>
          <a:xfrm>
            <a:off x="1920240" y="2322576"/>
            <a:ext cx="868680" cy="201168"/>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Arial" pitchFamily="34" charset="0"/>
                <a:ea typeface="Arial" pitchFamily="34" charset="-122"/>
                <a:cs typeface="Arial" pitchFamily="34" charset="-120"/>
              </a:rPr>
              <a:t>IMPLEMENTED</a:t>
            </a:r>
            <a:endParaRPr lang="en-US" sz="700" dirty="0"/>
          </a:p>
        </p:txBody>
      </p:sp>
      <p:sp>
        <p:nvSpPr>
          <p:cNvPr id="16" name="Shape 14"/>
          <p:cNvSpPr/>
          <p:nvPr/>
        </p:nvSpPr>
        <p:spPr>
          <a:xfrm>
            <a:off x="3090672" y="2057400"/>
            <a:ext cx="109728" cy="0"/>
          </a:xfrm>
          <a:prstGeom prst="line">
            <a:avLst/>
          </a:prstGeom>
          <a:noFill/>
          <a:ln w="22225">
            <a:solidFill>
              <a:srgbClr val="0B1D33"/>
            </a:solidFill>
            <a:prstDash val="solid"/>
            <a:headEnd type="none"/>
            <a:tailEnd type="triangle"/>
          </a:ln>
        </p:spPr>
      </p:sp>
      <p:sp>
        <p:nvSpPr>
          <p:cNvPr id="17" name="Shape 15"/>
          <p:cNvSpPr/>
          <p:nvPr/>
        </p:nvSpPr>
        <p:spPr>
          <a:xfrm>
            <a:off x="3200400" y="1481328"/>
            <a:ext cx="1261872" cy="1143000"/>
          </a:xfrm>
          <a:prstGeom prst="roundRect">
            <a:avLst>
              <a:gd name="adj" fmla="val 6400"/>
            </a:avLst>
          </a:prstGeom>
          <a:solidFill>
            <a:srgbClr val="F2F5F8"/>
          </a:solidFill>
          <a:ln w="12700">
            <a:solidFill>
              <a:srgbClr val="F2F5F8"/>
            </a:solidFill>
            <a:prstDash val="solid"/>
          </a:ln>
        </p:spPr>
      </p:sp>
      <p:sp>
        <p:nvSpPr>
          <p:cNvPr id="18" name="Text 16"/>
          <p:cNvSpPr txBox="1"/>
          <p:nvPr/>
        </p:nvSpPr>
        <p:spPr>
          <a:xfrm>
            <a:off x="3291840" y="1554480"/>
            <a:ext cx="1078992" cy="256032"/>
          </a:xfrm>
          <a:prstGeom prst="rect">
            <a:avLst/>
          </a:prstGeom>
          <a:noFill/>
          <a:ln/>
        </p:spPr>
        <p:txBody>
          <a:bodyPr wrap="square" lIns="0" tIns="0" rIns="0" bIns="0" rtlCol="0" anchor="t"/>
          <a:lstStyle/>
          <a:p>
            <a:pPr indent="0" marL="0">
              <a:buNone/>
            </a:pPr>
            <a:r>
              <a:rPr lang="en-US" sz="1050" b="1" dirty="0">
                <a:solidFill>
                  <a:srgbClr val="0B1D33"/>
                </a:solidFill>
                <a:latin typeface="Arial" pitchFamily="34" charset="0"/>
                <a:ea typeface="Arial" pitchFamily="34" charset="-122"/>
                <a:cs typeface="Arial" pitchFamily="34" charset="-120"/>
              </a:rPr>
              <a:t>Telemetry</a:t>
            </a:r>
            <a:endParaRPr lang="en-US" sz="1050" dirty="0"/>
          </a:p>
        </p:txBody>
      </p:sp>
      <p:sp>
        <p:nvSpPr>
          <p:cNvPr id="19" name="Text 17"/>
          <p:cNvSpPr txBox="1"/>
          <p:nvPr/>
        </p:nvSpPr>
        <p:spPr>
          <a:xfrm>
            <a:off x="3291840" y="1810512"/>
            <a:ext cx="1078992" cy="457200"/>
          </a:xfrm>
          <a:prstGeom prst="rect">
            <a:avLst/>
          </a:prstGeom>
          <a:noFill/>
          <a:ln/>
        </p:spPr>
        <p:txBody>
          <a:bodyPr wrap="square" lIns="0" tIns="0" rIns="0" bIns="0" rtlCol="0" anchor="t"/>
          <a:lstStyle/>
          <a:p>
            <a:pPr indent="0" marL="0">
              <a:buNone/>
            </a:pPr>
            <a:r>
              <a:rPr lang="en-US" sz="900" dirty="0">
                <a:solidFill>
                  <a:srgbClr val="5A6B7D"/>
                </a:solidFill>
                <a:latin typeface="Calibri" pitchFamily="34" charset="0"/>
                <a:ea typeface="Calibri" pitchFamily="34" charset="-122"/>
                <a:cs typeface="Calibri" pitchFamily="34" charset="-120"/>
              </a:rPr>
              <a:t>synthetic, every 5 s</a:t>
            </a:r>
            <a:endParaRPr lang="en-US" sz="900" dirty="0"/>
          </a:p>
        </p:txBody>
      </p:sp>
      <p:sp>
        <p:nvSpPr>
          <p:cNvPr id="20" name="Shape 18"/>
          <p:cNvSpPr/>
          <p:nvPr/>
        </p:nvSpPr>
        <p:spPr>
          <a:xfrm>
            <a:off x="3291840" y="2322576"/>
            <a:ext cx="868680" cy="201168"/>
          </a:xfrm>
          <a:prstGeom prst="roundRect">
            <a:avLst>
              <a:gd name="adj" fmla="val 50000"/>
            </a:avLst>
          </a:prstGeom>
          <a:solidFill>
            <a:srgbClr val="D64545"/>
          </a:solidFill>
          <a:ln w="12700">
            <a:solidFill>
              <a:srgbClr val="D64545"/>
            </a:solidFill>
            <a:prstDash val="solid"/>
          </a:ln>
        </p:spPr>
      </p:sp>
      <p:sp>
        <p:nvSpPr>
          <p:cNvPr id="21" name="Text 19"/>
          <p:cNvSpPr txBox="1"/>
          <p:nvPr/>
        </p:nvSpPr>
        <p:spPr>
          <a:xfrm>
            <a:off x="3291840" y="2322576"/>
            <a:ext cx="868680" cy="201168"/>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Arial" pitchFamily="34" charset="0"/>
                <a:ea typeface="Arial" pitchFamily="34" charset="-122"/>
                <a:cs typeface="Arial" pitchFamily="34" charset="-120"/>
              </a:rPr>
              <a:t>MOCK</a:t>
            </a:r>
            <a:endParaRPr lang="en-US" sz="700" dirty="0"/>
          </a:p>
        </p:txBody>
      </p:sp>
      <p:sp>
        <p:nvSpPr>
          <p:cNvPr id="22" name="Shape 20"/>
          <p:cNvSpPr/>
          <p:nvPr/>
        </p:nvSpPr>
        <p:spPr>
          <a:xfrm>
            <a:off x="4462272" y="2057400"/>
            <a:ext cx="109728" cy="0"/>
          </a:xfrm>
          <a:prstGeom prst="line">
            <a:avLst/>
          </a:prstGeom>
          <a:noFill/>
          <a:ln w="22225">
            <a:solidFill>
              <a:srgbClr val="0B1D33"/>
            </a:solidFill>
            <a:prstDash val="solid"/>
            <a:headEnd type="none"/>
            <a:tailEnd type="triangle"/>
          </a:ln>
        </p:spPr>
      </p:sp>
      <p:sp>
        <p:nvSpPr>
          <p:cNvPr id="23" name="Shape 21"/>
          <p:cNvSpPr/>
          <p:nvPr/>
        </p:nvSpPr>
        <p:spPr>
          <a:xfrm>
            <a:off x="4572000" y="1481328"/>
            <a:ext cx="1261872" cy="1143000"/>
          </a:xfrm>
          <a:prstGeom prst="roundRect">
            <a:avLst>
              <a:gd name="adj" fmla="val 6400"/>
            </a:avLst>
          </a:prstGeom>
          <a:solidFill>
            <a:srgbClr val="F2F5F8"/>
          </a:solidFill>
          <a:ln w="12700">
            <a:solidFill>
              <a:srgbClr val="F2F5F8"/>
            </a:solidFill>
            <a:prstDash val="solid"/>
          </a:ln>
        </p:spPr>
      </p:sp>
      <p:sp>
        <p:nvSpPr>
          <p:cNvPr id="24" name="Text 22"/>
          <p:cNvSpPr txBox="1"/>
          <p:nvPr/>
        </p:nvSpPr>
        <p:spPr>
          <a:xfrm>
            <a:off x="4663440" y="1554480"/>
            <a:ext cx="1078992" cy="256032"/>
          </a:xfrm>
          <a:prstGeom prst="rect">
            <a:avLst/>
          </a:prstGeom>
          <a:noFill/>
          <a:ln/>
        </p:spPr>
        <p:txBody>
          <a:bodyPr wrap="square" lIns="0" tIns="0" rIns="0" bIns="0" rtlCol="0" anchor="t"/>
          <a:lstStyle/>
          <a:p>
            <a:pPr indent="0" marL="0">
              <a:buNone/>
            </a:pPr>
            <a:r>
              <a:rPr lang="en-US" sz="1050" b="1" dirty="0">
                <a:solidFill>
                  <a:srgbClr val="0B1D33"/>
                </a:solidFill>
                <a:latin typeface="Arial" pitchFamily="34" charset="0"/>
                <a:ea typeface="Arial" pitchFamily="34" charset="-122"/>
                <a:cs typeface="Arial" pitchFamily="34" charset="-120"/>
              </a:rPr>
              <a:t>Drift check</a:t>
            </a:r>
            <a:endParaRPr lang="en-US" sz="1050" dirty="0"/>
          </a:p>
        </p:txBody>
      </p:sp>
      <p:sp>
        <p:nvSpPr>
          <p:cNvPr id="25" name="Text 23"/>
          <p:cNvSpPr txBox="1"/>
          <p:nvPr/>
        </p:nvSpPr>
        <p:spPr>
          <a:xfrm>
            <a:off x="4663440" y="1810512"/>
            <a:ext cx="1078992" cy="457200"/>
          </a:xfrm>
          <a:prstGeom prst="rect">
            <a:avLst/>
          </a:prstGeom>
          <a:noFill/>
          <a:ln/>
        </p:spPr>
        <p:txBody>
          <a:bodyPr wrap="square" lIns="0" tIns="0" rIns="0" bIns="0" rtlCol="0" anchor="t"/>
          <a:lstStyle/>
          <a:p>
            <a:pPr indent="0" marL="0">
              <a:buNone/>
            </a:pPr>
            <a:r>
              <a:rPr lang="en-US" sz="900" dirty="0">
                <a:solidFill>
                  <a:srgbClr val="5A6B7D"/>
                </a:solidFill>
                <a:latin typeface="Calibri" pitchFamily="34" charset="0"/>
                <a:ea typeface="Calibri" pitchFamily="34" charset="-122"/>
                <a:cs typeface="Calibri" pitchFamily="34" charset="-120"/>
              </a:rPr>
              <a:t>thresholds, every 10 s</a:t>
            </a:r>
            <a:endParaRPr lang="en-US" sz="900" dirty="0"/>
          </a:p>
        </p:txBody>
      </p:sp>
      <p:sp>
        <p:nvSpPr>
          <p:cNvPr id="26" name="Shape 24"/>
          <p:cNvSpPr/>
          <p:nvPr/>
        </p:nvSpPr>
        <p:spPr>
          <a:xfrm>
            <a:off x="4663440" y="2322576"/>
            <a:ext cx="868680" cy="201168"/>
          </a:xfrm>
          <a:prstGeom prst="roundRect">
            <a:avLst>
              <a:gd name="adj" fmla="val 50000"/>
            </a:avLst>
          </a:prstGeom>
          <a:solidFill>
            <a:srgbClr val="E8912D"/>
          </a:solidFill>
          <a:ln w="12700">
            <a:solidFill>
              <a:srgbClr val="E8912D"/>
            </a:solidFill>
            <a:prstDash val="solid"/>
          </a:ln>
        </p:spPr>
      </p:sp>
      <p:sp>
        <p:nvSpPr>
          <p:cNvPr id="27" name="Text 25"/>
          <p:cNvSpPr txBox="1"/>
          <p:nvPr/>
        </p:nvSpPr>
        <p:spPr>
          <a:xfrm>
            <a:off x="4663440" y="2322576"/>
            <a:ext cx="868680" cy="201168"/>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Arial" pitchFamily="34" charset="0"/>
                <a:ea typeface="Arial" pitchFamily="34" charset="-122"/>
                <a:cs typeface="Arial" pitchFamily="34" charset="-120"/>
              </a:rPr>
              <a:t>PARTIAL</a:t>
            </a:r>
            <a:endParaRPr lang="en-US" sz="700" dirty="0"/>
          </a:p>
        </p:txBody>
      </p:sp>
      <p:sp>
        <p:nvSpPr>
          <p:cNvPr id="28" name="Shape 26"/>
          <p:cNvSpPr/>
          <p:nvPr/>
        </p:nvSpPr>
        <p:spPr>
          <a:xfrm>
            <a:off x="5833872" y="2057400"/>
            <a:ext cx="109728" cy="0"/>
          </a:xfrm>
          <a:prstGeom prst="line">
            <a:avLst/>
          </a:prstGeom>
          <a:noFill/>
          <a:ln w="22225">
            <a:solidFill>
              <a:srgbClr val="0B1D33"/>
            </a:solidFill>
            <a:prstDash val="solid"/>
            <a:headEnd type="none"/>
            <a:tailEnd type="triangle"/>
          </a:ln>
        </p:spPr>
      </p:sp>
      <p:sp>
        <p:nvSpPr>
          <p:cNvPr id="29" name="Shape 27"/>
          <p:cNvSpPr/>
          <p:nvPr/>
        </p:nvSpPr>
        <p:spPr>
          <a:xfrm>
            <a:off x="5943600" y="1481328"/>
            <a:ext cx="1261872" cy="1143000"/>
          </a:xfrm>
          <a:prstGeom prst="roundRect">
            <a:avLst>
              <a:gd name="adj" fmla="val 6400"/>
            </a:avLst>
          </a:prstGeom>
          <a:solidFill>
            <a:srgbClr val="F2F5F8"/>
          </a:solidFill>
          <a:ln w="12700">
            <a:solidFill>
              <a:srgbClr val="F2F5F8"/>
            </a:solidFill>
            <a:prstDash val="solid"/>
          </a:ln>
        </p:spPr>
      </p:sp>
      <p:sp>
        <p:nvSpPr>
          <p:cNvPr id="30" name="Text 28"/>
          <p:cNvSpPr txBox="1"/>
          <p:nvPr/>
        </p:nvSpPr>
        <p:spPr>
          <a:xfrm>
            <a:off x="6035040" y="1554480"/>
            <a:ext cx="1078992" cy="256032"/>
          </a:xfrm>
          <a:prstGeom prst="rect">
            <a:avLst/>
          </a:prstGeom>
          <a:noFill/>
          <a:ln/>
        </p:spPr>
        <p:txBody>
          <a:bodyPr wrap="square" lIns="0" tIns="0" rIns="0" bIns="0" rtlCol="0" anchor="t"/>
          <a:lstStyle/>
          <a:p>
            <a:pPr indent="0" marL="0">
              <a:buNone/>
            </a:pPr>
            <a:r>
              <a:rPr lang="en-US" sz="1050" b="1" dirty="0">
                <a:solidFill>
                  <a:srgbClr val="0B1D33"/>
                </a:solidFill>
                <a:latin typeface="Arial" pitchFamily="34" charset="0"/>
                <a:ea typeface="Arial" pitchFamily="34" charset="-122"/>
                <a:cs typeface="Arial" pitchFamily="34" charset="-120"/>
              </a:rPr>
              <a:t>Alert</a:t>
            </a:r>
            <a:endParaRPr lang="en-US" sz="1050" dirty="0"/>
          </a:p>
        </p:txBody>
      </p:sp>
      <p:sp>
        <p:nvSpPr>
          <p:cNvPr id="31" name="Text 29"/>
          <p:cNvSpPr txBox="1"/>
          <p:nvPr/>
        </p:nvSpPr>
        <p:spPr>
          <a:xfrm>
            <a:off x="6035040" y="1810512"/>
            <a:ext cx="1078992" cy="457200"/>
          </a:xfrm>
          <a:prstGeom prst="rect">
            <a:avLst/>
          </a:prstGeom>
          <a:noFill/>
          <a:ln/>
        </p:spPr>
        <p:txBody>
          <a:bodyPr wrap="square" lIns="0" tIns="0" rIns="0" bIns="0" rtlCol="0" anchor="t"/>
          <a:lstStyle/>
          <a:p>
            <a:pPr indent="0" marL="0">
              <a:buNone/>
            </a:pPr>
            <a:r>
              <a:rPr lang="en-US" sz="900" dirty="0">
                <a:solidFill>
                  <a:srgbClr val="5A6B7D"/>
                </a:solidFill>
                <a:latin typeface="Calibri" pitchFamily="34" charset="0"/>
                <a:ea typeface="Calibri" pitchFamily="34" charset="-122"/>
                <a:cs typeface="Calibri" pitchFamily="34" charset="-120"/>
              </a:rPr>
              <a:t>DRIFT state + event</a:t>
            </a:r>
            <a:endParaRPr lang="en-US" sz="900" dirty="0"/>
          </a:p>
        </p:txBody>
      </p:sp>
      <p:sp>
        <p:nvSpPr>
          <p:cNvPr id="32" name="Shape 30"/>
          <p:cNvSpPr/>
          <p:nvPr/>
        </p:nvSpPr>
        <p:spPr>
          <a:xfrm>
            <a:off x="6035040" y="2322576"/>
            <a:ext cx="868680" cy="201168"/>
          </a:xfrm>
          <a:prstGeom prst="roundRect">
            <a:avLst>
              <a:gd name="adj" fmla="val 50000"/>
            </a:avLst>
          </a:prstGeom>
          <a:solidFill>
            <a:srgbClr val="22A06B"/>
          </a:solidFill>
          <a:ln w="12700">
            <a:solidFill>
              <a:srgbClr val="22A06B"/>
            </a:solidFill>
            <a:prstDash val="solid"/>
          </a:ln>
        </p:spPr>
      </p:sp>
      <p:sp>
        <p:nvSpPr>
          <p:cNvPr id="33" name="Text 31"/>
          <p:cNvSpPr txBox="1"/>
          <p:nvPr/>
        </p:nvSpPr>
        <p:spPr>
          <a:xfrm>
            <a:off x="6035040" y="2322576"/>
            <a:ext cx="868680" cy="201168"/>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Arial" pitchFamily="34" charset="0"/>
                <a:ea typeface="Arial" pitchFamily="34" charset="-122"/>
                <a:cs typeface="Arial" pitchFamily="34" charset="-120"/>
              </a:rPr>
              <a:t>IMPLEMENTED</a:t>
            </a:r>
            <a:endParaRPr lang="en-US" sz="700" dirty="0"/>
          </a:p>
        </p:txBody>
      </p:sp>
      <p:sp>
        <p:nvSpPr>
          <p:cNvPr id="34" name="Shape 32"/>
          <p:cNvSpPr/>
          <p:nvPr/>
        </p:nvSpPr>
        <p:spPr>
          <a:xfrm>
            <a:off x="7205472" y="2057400"/>
            <a:ext cx="109728" cy="0"/>
          </a:xfrm>
          <a:prstGeom prst="line">
            <a:avLst/>
          </a:prstGeom>
          <a:noFill/>
          <a:ln w="22225">
            <a:solidFill>
              <a:srgbClr val="0B1D33"/>
            </a:solidFill>
            <a:prstDash val="solid"/>
            <a:headEnd type="none"/>
            <a:tailEnd type="triangle"/>
          </a:ln>
        </p:spPr>
      </p:sp>
      <p:sp>
        <p:nvSpPr>
          <p:cNvPr id="35" name="Shape 33"/>
          <p:cNvSpPr/>
          <p:nvPr/>
        </p:nvSpPr>
        <p:spPr>
          <a:xfrm>
            <a:off x="7315200" y="1481328"/>
            <a:ext cx="1261872" cy="1143000"/>
          </a:xfrm>
          <a:prstGeom prst="roundRect">
            <a:avLst>
              <a:gd name="adj" fmla="val 6400"/>
            </a:avLst>
          </a:prstGeom>
          <a:solidFill>
            <a:srgbClr val="F2F5F8"/>
          </a:solidFill>
          <a:ln w="12700">
            <a:solidFill>
              <a:srgbClr val="F2F5F8"/>
            </a:solidFill>
            <a:prstDash val="solid"/>
          </a:ln>
        </p:spPr>
      </p:sp>
      <p:sp>
        <p:nvSpPr>
          <p:cNvPr id="36" name="Text 34"/>
          <p:cNvSpPr txBox="1"/>
          <p:nvPr/>
        </p:nvSpPr>
        <p:spPr>
          <a:xfrm>
            <a:off x="7406640" y="1554480"/>
            <a:ext cx="1078992" cy="256032"/>
          </a:xfrm>
          <a:prstGeom prst="rect">
            <a:avLst/>
          </a:prstGeom>
          <a:noFill/>
          <a:ln/>
        </p:spPr>
        <p:txBody>
          <a:bodyPr wrap="square" lIns="0" tIns="0" rIns="0" bIns="0" rtlCol="0" anchor="t"/>
          <a:lstStyle/>
          <a:p>
            <a:pPr indent="0" marL="0">
              <a:buNone/>
            </a:pPr>
            <a:r>
              <a:rPr lang="en-US" sz="1050" b="1" dirty="0">
                <a:solidFill>
                  <a:srgbClr val="0B1D33"/>
                </a:solidFill>
                <a:latin typeface="Arial" pitchFamily="34" charset="0"/>
                <a:ea typeface="Arial" pitchFamily="34" charset="-122"/>
                <a:cs typeface="Arial" pitchFamily="34" charset="-120"/>
              </a:rPr>
              <a:t>Remediate</a:t>
            </a:r>
            <a:endParaRPr lang="en-US" sz="1050" dirty="0"/>
          </a:p>
        </p:txBody>
      </p:sp>
      <p:sp>
        <p:nvSpPr>
          <p:cNvPr id="37" name="Text 35"/>
          <p:cNvSpPr txBox="1"/>
          <p:nvPr/>
        </p:nvSpPr>
        <p:spPr>
          <a:xfrm>
            <a:off x="7406640" y="1810512"/>
            <a:ext cx="1078992" cy="457200"/>
          </a:xfrm>
          <a:prstGeom prst="rect">
            <a:avLst/>
          </a:prstGeom>
          <a:noFill/>
          <a:ln/>
        </p:spPr>
        <p:txBody>
          <a:bodyPr wrap="square" lIns="0" tIns="0" rIns="0" bIns="0" rtlCol="0" anchor="t"/>
          <a:lstStyle/>
          <a:p>
            <a:pPr indent="0" marL="0">
              <a:buNone/>
            </a:pPr>
            <a:r>
              <a:rPr lang="en-US" sz="900" dirty="0">
                <a:solidFill>
                  <a:srgbClr val="5A6B7D"/>
                </a:solidFill>
                <a:latin typeface="Calibri" pitchFamily="34" charset="0"/>
                <a:ea typeface="Calibri" pitchFamily="34" charset="-122"/>
                <a:cs typeface="Calibri" pitchFamily="34" charset="-120"/>
              </a:rPr>
              <a:t>never runs</a:t>
            </a:r>
            <a:endParaRPr lang="en-US" sz="900" dirty="0"/>
          </a:p>
        </p:txBody>
      </p:sp>
      <p:sp>
        <p:nvSpPr>
          <p:cNvPr id="38" name="Shape 36"/>
          <p:cNvSpPr/>
          <p:nvPr/>
        </p:nvSpPr>
        <p:spPr>
          <a:xfrm>
            <a:off x="7406640" y="2322576"/>
            <a:ext cx="868680" cy="201168"/>
          </a:xfrm>
          <a:prstGeom prst="roundRect">
            <a:avLst>
              <a:gd name="adj" fmla="val 50000"/>
            </a:avLst>
          </a:prstGeom>
          <a:solidFill>
            <a:srgbClr val="FFFFFF"/>
          </a:solidFill>
          <a:ln w="12700">
            <a:solidFill>
              <a:srgbClr val="9AA7B4"/>
            </a:solidFill>
            <a:prstDash val="dash"/>
          </a:ln>
        </p:spPr>
      </p:sp>
      <p:sp>
        <p:nvSpPr>
          <p:cNvPr id="39" name="Text 37"/>
          <p:cNvSpPr txBox="1"/>
          <p:nvPr/>
        </p:nvSpPr>
        <p:spPr>
          <a:xfrm>
            <a:off x="7406640" y="2322576"/>
            <a:ext cx="868680" cy="201168"/>
          </a:xfrm>
          <a:prstGeom prst="rect">
            <a:avLst/>
          </a:prstGeom>
          <a:noFill/>
          <a:ln/>
        </p:spPr>
        <p:txBody>
          <a:bodyPr wrap="square" lIns="0" tIns="0" rIns="0" bIns="0" rtlCol="0" anchor="ctr"/>
          <a:lstStyle/>
          <a:p>
            <a:pPr algn="ctr" indent="0" marL="0">
              <a:buNone/>
            </a:pPr>
            <a:r>
              <a:rPr lang="en-US" sz="700" b="1" spc="50" kern="0" dirty="0">
                <a:solidFill>
                  <a:srgbClr val="5A6B7D"/>
                </a:solidFill>
                <a:latin typeface="Arial" pitchFamily="34" charset="0"/>
                <a:ea typeface="Arial" pitchFamily="34" charset="-122"/>
                <a:cs typeface="Arial" pitchFamily="34" charset="-120"/>
              </a:rPr>
              <a:t>PLANNED</a:t>
            </a:r>
            <a:endParaRPr lang="en-US" sz="700" dirty="0"/>
          </a:p>
        </p:txBody>
      </p:sp>
      <p:sp>
        <p:nvSpPr>
          <p:cNvPr id="40" name="Text 38"/>
          <p:cNvSpPr txBox="1"/>
          <p:nvPr/>
        </p:nvSpPr>
        <p:spPr>
          <a:xfrm>
            <a:off x="457200" y="3017520"/>
            <a:ext cx="8229600" cy="228600"/>
          </a:xfrm>
          <a:prstGeom prst="rect">
            <a:avLst/>
          </a:prstGeom>
          <a:noFill/>
          <a:ln/>
        </p:spPr>
        <p:txBody>
          <a:bodyPr wrap="square" lIns="0" tIns="0" rIns="0" bIns="0" rtlCol="0" anchor="t"/>
          <a:lstStyle/>
          <a:p>
            <a:pPr indent="0" marL="0">
              <a:buNone/>
            </a:pPr>
            <a:r>
              <a:rPr lang="en-US" sz="1000" b="1" spc="150" kern="0" dirty="0">
                <a:solidFill>
                  <a:srgbClr val="22A06B"/>
                </a:solidFill>
                <a:latin typeface="Arial" pitchFamily="34" charset="0"/>
                <a:ea typeface="Arial" pitchFamily="34" charset="-122"/>
                <a:cs typeface="Arial" pitchFamily="34" charset="-120"/>
              </a:rPr>
              <a:t>TARGET</a:t>
            </a:r>
            <a:endParaRPr lang="en-US" sz="1000" dirty="0"/>
          </a:p>
        </p:txBody>
      </p:sp>
      <p:sp>
        <p:nvSpPr>
          <p:cNvPr id="41" name="Shape 39"/>
          <p:cNvSpPr/>
          <p:nvPr/>
        </p:nvSpPr>
        <p:spPr>
          <a:xfrm>
            <a:off x="457200" y="3310128"/>
            <a:ext cx="1261872" cy="1143000"/>
          </a:xfrm>
          <a:prstGeom prst="roundRect">
            <a:avLst>
              <a:gd name="adj" fmla="val 6400"/>
            </a:avLst>
          </a:prstGeom>
          <a:solidFill>
            <a:srgbClr val="F2F5F8"/>
          </a:solidFill>
          <a:ln w="12700">
            <a:solidFill>
              <a:srgbClr val="F2F5F8"/>
            </a:solidFill>
            <a:prstDash val="solid"/>
          </a:ln>
        </p:spPr>
      </p:sp>
      <p:sp>
        <p:nvSpPr>
          <p:cNvPr id="42" name="Text 40"/>
          <p:cNvSpPr txBox="1"/>
          <p:nvPr/>
        </p:nvSpPr>
        <p:spPr>
          <a:xfrm>
            <a:off x="548640" y="3383280"/>
            <a:ext cx="1078992" cy="256032"/>
          </a:xfrm>
          <a:prstGeom prst="rect">
            <a:avLst/>
          </a:prstGeom>
          <a:noFill/>
          <a:ln/>
        </p:spPr>
        <p:txBody>
          <a:bodyPr wrap="square" lIns="0" tIns="0" rIns="0" bIns="0" rtlCol="0" anchor="t"/>
          <a:lstStyle/>
          <a:p>
            <a:pPr indent="0" marL="0">
              <a:buNone/>
            </a:pPr>
            <a:r>
              <a:rPr lang="en-US" sz="1050" b="1" dirty="0">
                <a:solidFill>
                  <a:srgbClr val="0B1D33"/>
                </a:solidFill>
                <a:latin typeface="Arial" pitchFamily="34" charset="0"/>
                <a:ea typeface="Arial" pitchFamily="34" charset="-122"/>
                <a:cs typeface="Arial" pitchFamily="34" charset="-120"/>
              </a:rPr>
              <a:t>Intent</a:t>
            </a:r>
            <a:endParaRPr lang="en-US" sz="1050" dirty="0"/>
          </a:p>
        </p:txBody>
      </p:sp>
      <p:sp>
        <p:nvSpPr>
          <p:cNvPr id="43" name="Text 41"/>
          <p:cNvSpPr txBox="1"/>
          <p:nvPr/>
        </p:nvSpPr>
        <p:spPr>
          <a:xfrm>
            <a:off x="548640" y="3639312"/>
            <a:ext cx="1078992" cy="457200"/>
          </a:xfrm>
          <a:prstGeom prst="rect">
            <a:avLst/>
          </a:prstGeom>
          <a:noFill/>
          <a:ln/>
        </p:spPr>
        <p:txBody>
          <a:bodyPr wrap="square" lIns="0" tIns="0" rIns="0" bIns="0" rtlCol="0" anchor="t"/>
          <a:lstStyle/>
          <a:p>
            <a:pPr indent="0" marL="0">
              <a:buNone/>
            </a:pPr>
            <a:r>
              <a:rPr lang="en-US" sz="900" dirty="0">
                <a:solidFill>
                  <a:srgbClr val="5A6B7D"/>
                </a:solidFill>
                <a:latin typeface="Calibri" pitchFamily="34" charset="0"/>
                <a:ea typeface="Calibri" pitchFamily="34" charset="-122"/>
                <a:cs typeface="Calibri" pitchFamily="34" charset="-120"/>
              </a:rPr>
              <a:t>plus live telemetry</a:t>
            </a:r>
            <a:endParaRPr lang="en-US" sz="900" dirty="0"/>
          </a:p>
        </p:txBody>
      </p:sp>
      <p:sp>
        <p:nvSpPr>
          <p:cNvPr id="44" name="Shape 42"/>
          <p:cNvSpPr/>
          <p:nvPr/>
        </p:nvSpPr>
        <p:spPr>
          <a:xfrm>
            <a:off x="548640" y="4151376"/>
            <a:ext cx="868680" cy="201168"/>
          </a:xfrm>
          <a:prstGeom prst="roundRect">
            <a:avLst>
              <a:gd name="adj" fmla="val 50000"/>
            </a:avLst>
          </a:prstGeom>
          <a:solidFill>
            <a:srgbClr val="E8912D"/>
          </a:solidFill>
          <a:ln w="12700">
            <a:solidFill>
              <a:srgbClr val="E8912D"/>
            </a:solidFill>
            <a:prstDash val="solid"/>
          </a:ln>
        </p:spPr>
      </p:sp>
      <p:sp>
        <p:nvSpPr>
          <p:cNvPr id="45" name="Text 43"/>
          <p:cNvSpPr txBox="1"/>
          <p:nvPr/>
        </p:nvSpPr>
        <p:spPr>
          <a:xfrm>
            <a:off x="548640" y="4151376"/>
            <a:ext cx="868680" cy="201168"/>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Arial" pitchFamily="34" charset="0"/>
                <a:ea typeface="Arial" pitchFamily="34" charset="-122"/>
                <a:cs typeface="Arial" pitchFamily="34" charset="-120"/>
              </a:rPr>
              <a:t>PARTIAL</a:t>
            </a:r>
            <a:endParaRPr lang="en-US" sz="700" dirty="0"/>
          </a:p>
        </p:txBody>
      </p:sp>
      <p:sp>
        <p:nvSpPr>
          <p:cNvPr id="46" name="Shape 44"/>
          <p:cNvSpPr/>
          <p:nvPr/>
        </p:nvSpPr>
        <p:spPr>
          <a:xfrm>
            <a:off x="1719072" y="3886200"/>
            <a:ext cx="109728" cy="0"/>
          </a:xfrm>
          <a:prstGeom prst="line">
            <a:avLst/>
          </a:prstGeom>
          <a:noFill/>
          <a:ln w="22225">
            <a:solidFill>
              <a:srgbClr val="0B1D33"/>
            </a:solidFill>
            <a:prstDash val="solid"/>
            <a:headEnd type="none"/>
            <a:tailEnd type="triangle"/>
          </a:ln>
        </p:spPr>
      </p:sp>
      <p:sp>
        <p:nvSpPr>
          <p:cNvPr id="47" name="Shape 45"/>
          <p:cNvSpPr/>
          <p:nvPr/>
        </p:nvSpPr>
        <p:spPr>
          <a:xfrm>
            <a:off x="1828800" y="3310128"/>
            <a:ext cx="1261872" cy="1143000"/>
          </a:xfrm>
          <a:prstGeom prst="roundRect">
            <a:avLst>
              <a:gd name="adj" fmla="val 6400"/>
            </a:avLst>
          </a:prstGeom>
          <a:solidFill>
            <a:srgbClr val="F2F5F8"/>
          </a:solidFill>
          <a:ln w="12700">
            <a:solidFill>
              <a:srgbClr val="F2F5F8"/>
            </a:solidFill>
            <a:prstDash val="solid"/>
          </a:ln>
        </p:spPr>
      </p:sp>
      <p:sp>
        <p:nvSpPr>
          <p:cNvPr id="48" name="Text 46"/>
          <p:cNvSpPr txBox="1"/>
          <p:nvPr/>
        </p:nvSpPr>
        <p:spPr>
          <a:xfrm>
            <a:off x="1920240" y="3383280"/>
            <a:ext cx="1078992" cy="256032"/>
          </a:xfrm>
          <a:prstGeom prst="rect">
            <a:avLst/>
          </a:prstGeom>
          <a:noFill/>
          <a:ln/>
        </p:spPr>
        <p:txBody>
          <a:bodyPr wrap="square" lIns="0" tIns="0" rIns="0" bIns="0" rtlCol="0" anchor="t"/>
          <a:lstStyle/>
          <a:p>
            <a:pPr indent="0" marL="0">
              <a:buNone/>
            </a:pPr>
            <a:r>
              <a:rPr lang="en-US" sz="1050" b="1" dirty="0">
                <a:solidFill>
                  <a:srgbClr val="0B1D33"/>
                </a:solidFill>
                <a:latin typeface="Arial" pitchFamily="34" charset="0"/>
                <a:ea typeface="Arial" pitchFamily="34" charset="-122"/>
                <a:cs typeface="Arial" pitchFamily="34" charset="-120"/>
              </a:rPr>
              <a:t>What-if</a:t>
            </a:r>
            <a:endParaRPr lang="en-US" sz="1050" dirty="0"/>
          </a:p>
        </p:txBody>
      </p:sp>
      <p:sp>
        <p:nvSpPr>
          <p:cNvPr id="49" name="Text 47"/>
          <p:cNvSpPr txBox="1"/>
          <p:nvPr/>
        </p:nvSpPr>
        <p:spPr>
          <a:xfrm>
            <a:off x="1920240" y="3639312"/>
            <a:ext cx="1078992" cy="457200"/>
          </a:xfrm>
          <a:prstGeom prst="rect">
            <a:avLst/>
          </a:prstGeom>
          <a:noFill/>
          <a:ln/>
        </p:spPr>
        <p:txBody>
          <a:bodyPr wrap="square" lIns="0" tIns="0" rIns="0" bIns="0" rtlCol="0" anchor="t"/>
          <a:lstStyle/>
          <a:p>
            <a:pPr indent="0" marL="0">
              <a:buNone/>
            </a:pPr>
            <a:r>
              <a:rPr lang="en-US" sz="900" dirty="0">
                <a:solidFill>
                  <a:srgbClr val="5A6B7D"/>
                </a:solidFill>
                <a:latin typeface="Calibri" pitchFamily="34" charset="0"/>
                <a:ea typeface="Calibri" pitchFamily="34" charset="-122"/>
                <a:cs typeface="Calibri" pitchFamily="34" charset="-120"/>
              </a:rPr>
              <a:t>ns-3 job per candidate</a:t>
            </a:r>
            <a:endParaRPr lang="en-US" sz="900" dirty="0"/>
          </a:p>
        </p:txBody>
      </p:sp>
      <p:sp>
        <p:nvSpPr>
          <p:cNvPr id="50" name="Shape 48"/>
          <p:cNvSpPr/>
          <p:nvPr/>
        </p:nvSpPr>
        <p:spPr>
          <a:xfrm>
            <a:off x="1920240" y="4151376"/>
            <a:ext cx="868680" cy="201168"/>
          </a:xfrm>
          <a:prstGeom prst="roundRect">
            <a:avLst>
              <a:gd name="adj" fmla="val 50000"/>
            </a:avLst>
          </a:prstGeom>
          <a:solidFill>
            <a:srgbClr val="E8912D"/>
          </a:solidFill>
          <a:ln w="12700">
            <a:solidFill>
              <a:srgbClr val="E8912D"/>
            </a:solidFill>
            <a:prstDash val="solid"/>
          </a:ln>
        </p:spPr>
      </p:sp>
      <p:sp>
        <p:nvSpPr>
          <p:cNvPr id="51" name="Text 49"/>
          <p:cNvSpPr txBox="1"/>
          <p:nvPr/>
        </p:nvSpPr>
        <p:spPr>
          <a:xfrm>
            <a:off x="1920240" y="4151376"/>
            <a:ext cx="868680" cy="201168"/>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Arial" pitchFamily="34" charset="0"/>
                <a:ea typeface="Arial" pitchFamily="34" charset="-122"/>
                <a:cs typeface="Arial" pitchFamily="34" charset="-120"/>
              </a:rPr>
              <a:t>PARTIAL</a:t>
            </a:r>
            <a:endParaRPr lang="en-US" sz="700" dirty="0"/>
          </a:p>
        </p:txBody>
      </p:sp>
      <p:sp>
        <p:nvSpPr>
          <p:cNvPr id="52" name="Shape 50"/>
          <p:cNvSpPr/>
          <p:nvPr/>
        </p:nvSpPr>
        <p:spPr>
          <a:xfrm>
            <a:off x="3090672" y="3886200"/>
            <a:ext cx="109728" cy="0"/>
          </a:xfrm>
          <a:prstGeom prst="line">
            <a:avLst/>
          </a:prstGeom>
          <a:noFill/>
          <a:ln w="22225">
            <a:solidFill>
              <a:srgbClr val="0B1D33"/>
            </a:solidFill>
            <a:prstDash val="solid"/>
            <a:headEnd type="none"/>
            <a:tailEnd type="triangle"/>
          </a:ln>
        </p:spPr>
      </p:sp>
      <p:sp>
        <p:nvSpPr>
          <p:cNvPr id="53" name="Shape 51"/>
          <p:cNvSpPr/>
          <p:nvPr/>
        </p:nvSpPr>
        <p:spPr>
          <a:xfrm>
            <a:off x="3200400" y="3310128"/>
            <a:ext cx="1261872" cy="1143000"/>
          </a:xfrm>
          <a:prstGeom prst="roundRect">
            <a:avLst>
              <a:gd name="adj" fmla="val 6400"/>
            </a:avLst>
          </a:prstGeom>
          <a:solidFill>
            <a:srgbClr val="F2F5F8"/>
          </a:solidFill>
          <a:ln w="12700">
            <a:solidFill>
              <a:srgbClr val="F2F5F8"/>
            </a:solidFill>
            <a:prstDash val="solid"/>
          </a:ln>
        </p:spPr>
      </p:sp>
      <p:sp>
        <p:nvSpPr>
          <p:cNvPr id="54" name="Text 52"/>
          <p:cNvSpPr txBox="1"/>
          <p:nvPr/>
        </p:nvSpPr>
        <p:spPr>
          <a:xfrm>
            <a:off x="3291840" y="3383280"/>
            <a:ext cx="1078992" cy="256032"/>
          </a:xfrm>
          <a:prstGeom prst="rect">
            <a:avLst/>
          </a:prstGeom>
          <a:noFill/>
          <a:ln/>
        </p:spPr>
        <p:txBody>
          <a:bodyPr wrap="square" lIns="0" tIns="0" rIns="0" bIns="0" rtlCol="0" anchor="t"/>
          <a:lstStyle/>
          <a:p>
            <a:pPr indent="0" marL="0">
              <a:buNone/>
            </a:pPr>
            <a:r>
              <a:rPr lang="en-US" sz="1050" b="1" dirty="0">
                <a:solidFill>
                  <a:srgbClr val="0B1D33"/>
                </a:solidFill>
                <a:latin typeface="Arial" pitchFamily="34" charset="0"/>
                <a:ea typeface="Arial" pitchFamily="34" charset="-122"/>
                <a:cs typeface="Arial" pitchFamily="34" charset="-120"/>
              </a:rPr>
              <a:t>Gate</a:t>
            </a:r>
            <a:endParaRPr lang="en-US" sz="1050" dirty="0"/>
          </a:p>
        </p:txBody>
      </p:sp>
      <p:sp>
        <p:nvSpPr>
          <p:cNvPr id="55" name="Text 53"/>
          <p:cNvSpPr txBox="1"/>
          <p:nvPr/>
        </p:nvSpPr>
        <p:spPr>
          <a:xfrm>
            <a:off x="3291840" y="3639312"/>
            <a:ext cx="1078992" cy="457200"/>
          </a:xfrm>
          <a:prstGeom prst="rect">
            <a:avLst/>
          </a:prstGeom>
          <a:noFill/>
          <a:ln/>
        </p:spPr>
        <p:txBody>
          <a:bodyPr wrap="square" lIns="0" tIns="0" rIns="0" bIns="0" rtlCol="0" anchor="t"/>
          <a:lstStyle/>
          <a:p>
            <a:pPr indent="0" marL="0">
              <a:buNone/>
            </a:pPr>
            <a:r>
              <a:rPr lang="en-US" sz="900" dirty="0">
                <a:solidFill>
                  <a:srgbClr val="5A6B7D"/>
                </a:solidFill>
                <a:latin typeface="Calibri" pitchFamily="34" charset="0"/>
                <a:ea typeface="Calibri" pitchFamily="34" charset="-122"/>
                <a:cs typeface="Calibri" pitchFamily="34" charset="-120"/>
              </a:rPr>
              <a:t>from simulated KPIs</a:t>
            </a:r>
            <a:endParaRPr lang="en-US" sz="900" dirty="0"/>
          </a:p>
        </p:txBody>
      </p:sp>
      <p:sp>
        <p:nvSpPr>
          <p:cNvPr id="56" name="Shape 54"/>
          <p:cNvSpPr/>
          <p:nvPr/>
        </p:nvSpPr>
        <p:spPr>
          <a:xfrm>
            <a:off x="3291840" y="4151376"/>
            <a:ext cx="868680" cy="201168"/>
          </a:xfrm>
          <a:prstGeom prst="roundRect">
            <a:avLst>
              <a:gd name="adj" fmla="val 50000"/>
            </a:avLst>
          </a:prstGeom>
          <a:solidFill>
            <a:srgbClr val="FFFFFF"/>
          </a:solidFill>
          <a:ln w="12700">
            <a:solidFill>
              <a:srgbClr val="9AA7B4"/>
            </a:solidFill>
            <a:prstDash val="dash"/>
          </a:ln>
        </p:spPr>
      </p:sp>
      <p:sp>
        <p:nvSpPr>
          <p:cNvPr id="57" name="Text 55"/>
          <p:cNvSpPr txBox="1"/>
          <p:nvPr/>
        </p:nvSpPr>
        <p:spPr>
          <a:xfrm>
            <a:off x="3291840" y="4151376"/>
            <a:ext cx="868680" cy="201168"/>
          </a:xfrm>
          <a:prstGeom prst="rect">
            <a:avLst/>
          </a:prstGeom>
          <a:noFill/>
          <a:ln/>
        </p:spPr>
        <p:txBody>
          <a:bodyPr wrap="square" lIns="0" tIns="0" rIns="0" bIns="0" rtlCol="0" anchor="ctr"/>
          <a:lstStyle/>
          <a:p>
            <a:pPr algn="ctr" indent="0" marL="0">
              <a:buNone/>
            </a:pPr>
            <a:r>
              <a:rPr lang="en-US" sz="700" b="1" spc="50" kern="0" dirty="0">
                <a:solidFill>
                  <a:srgbClr val="5A6B7D"/>
                </a:solidFill>
                <a:latin typeface="Arial" pitchFamily="34" charset="0"/>
                <a:ea typeface="Arial" pitchFamily="34" charset="-122"/>
                <a:cs typeface="Arial" pitchFamily="34" charset="-120"/>
              </a:rPr>
              <a:t>PLANNED</a:t>
            </a:r>
            <a:endParaRPr lang="en-US" sz="700" dirty="0"/>
          </a:p>
        </p:txBody>
      </p:sp>
      <p:sp>
        <p:nvSpPr>
          <p:cNvPr id="58" name="Shape 56"/>
          <p:cNvSpPr/>
          <p:nvPr/>
        </p:nvSpPr>
        <p:spPr>
          <a:xfrm>
            <a:off x="4462272" y="3886200"/>
            <a:ext cx="109728" cy="0"/>
          </a:xfrm>
          <a:prstGeom prst="line">
            <a:avLst/>
          </a:prstGeom>
          <a:noFill/>
          <a:ln w="22225">
            <a:solidFill>
              <a:srgbClr val="0B1D33"/>
            </a:solidFill>
            <a:prstDash val="solid"/>
            <a:headEnd type="none"/>
            <a:tailEnd type="triangle"/>
          </a:ln>
        </p:spPr>
      </p:sp>
      <p:sp>
        <p:nvSpPr>
          <p:cNvPr id="59" name="Shape 57"/>
          <p:cNvSpPr/>
          <p:nvPr/>
        </p:nvSpPr>
        <p:spPr>
          <a:xfrm>
            <a:off x="4572000" y="3310128"/>
            <a:ext cx="1261872" cy="1143000"/>
          </a:xfrm>
          <a:prstGeom prst="roundRect">
            <a:avLst>
              <a:gd name="adj" fmla="val 6400"/>
            </a:avLst>
          </a:prstGeom>
          <a:solidFill>
            <a:srgbClr val="F2F5F8"/>
          </a:solidFill>
          <a:ln w="12700">
            <a:solidFill>
              <a:srgbClr val="F2F5F8"/>
            </a:solidFill>
            <a:prstDash val="solid"/>
          </a:ln>
        </p:spPr>
      </p:sp>
      <p:sp>
        <p:nvSpPr>
          <p:cNvPr id="60" name="Text 58"/>
          <p:cNvSpPr txBox="1"/>
          <p:nvPr/>
        </p:nvSpPr>
        <p:spPr>
          <a:xfrm>
            <a:off x="4663440" y="3383280"/>
            <a:ext cx="1078992" cy="256032"/>
          </a:xfrm>
          <a:prstGeom prst="rect">
            <a:avLst/>
          </a:prstGeom>
          <a:noFill/>
          <a:ln/>
        </p:spPr>
        <p:txBody>
          <a:bodyPr wrap="square" lIns="0" tIns="0" rIns="0" bIns="0" rtlCol="0" anchor="t"/>
          <a:lstStyle/>
          <a:p>
            <a:pPr indent="0" marL="0">
              <a:buNone/>
            </a:pPr>
            <a:r>
              <a:rPr lang="en-US" sz="1050" b="1" dirty="0">
                <a:solidFill>
                  <a:srgbClr val="0B1D33"/>
                </a:solidFill>
                <a:latin typeface="Arial" pitchFamily="34" charset="0"/>
                <a:ea typeface="Arial" pitchFamily="34" charset="-122"/>
                <a:cs typeface="Arial" pitchFamily="34" charset="-120"/>
              </a:rPr>
              <a:t>Commit</a:t>
            </a:r>
            <a:endParaRPr lang="en-US" sz="1050" dirty="0"/>
          </a:p>
        </p:txBody>
      </p:sp>
      <p:sp>
        <p:nvSpPr>
          <p:cNvPr id="61" name="Text 59"/>
          <p:cNvSpPr txBox="1"/>
          <p:nvPr/>
        </p:nvSpPr>
        <p:spPr>
          <a:xfrm>
            <a:off x="4663440" y="3639312"/>
            <a:ext cx="1078992" cy="457200"/>
          </a:xfrm>
          <a:prstGeom prst="rect">
            <a:avLst/>
          </a:prstGeom>
          <a:noFill/>
          <a:ln/>
        </p:spPr>
        <p:txBody>
          <a:bodyPr wrap="square" lIns="0" tIns="0" rIns="0" bIns="0" rtlCol="0" anchor="t"/>
          <a:lstStyle/>
          <a:p>
            <a:pPr indent="0" marL="0">
              <a:buNone/>
            </a:pPr>
            <a:r>
              <a:rPr lang="en-US" sz="900" dirty="0">
                <a:solidFill>
                  <a:srgbClr val="5A6B7D"/>
                </a:solidFill>
                <a:latin typeface="Calibri" pitchFamily="34" charset="0"/>
                <a:ea typeface="Calibri" pitchFamily="34" charset="-122"/>
                <a:cs typeface="Calibri" pitchFamily="34" charset="-120"/>
              </a:rPr>
              <a:t>stage → commit</a:t>
            </a:r>
            <a:endParaRPr lang="en-US" sz="900" dirty="0"/>
          </a:p>
        </p:txBody>
      </p:sp>
      <p:sp>
        <p:nvSpPr>
          <p:cNvPr id="62" name="Shape 60"/>
          <p:cNvSpPr/>
          <p:nvPr/>
        </p:nvSpPr>
        <p:spPr>
          <a:xfrm>
            <a:off x="4663440" y="4151376"/>
            <a:ext cx="868680" cy="201168"/>
          </a:xfrm>
          <a:prstGeom prst="roundRect">
            <a:avLst>
              <a:gd name="adj" fmla="val 50000"/>
            </a:avLst>
          </a:prstGeom>
          <a:solidFill>
            <a:srgbClr val="22A06B"/>
          </a:solidFill>
          <a:ln w="12700">
            <a:solidFill>
              <a:srgbClr val="22A06B"/>
            </a:solidFill>
            <a:prstDash val="solid"/>
          </a:ln>
        </p:spPr>
      </p:sp>
      <p:sp>
        <p:nvSpPr>
          <p:cNvPr id="63" name="Text 61"/>
          <p:cNvSpPr txBox="1"/>
          <p:nvPr/>
        </p:nvSpPr>
        <p:spPr>
          <a:xfrm>
            <a:off x="4663440" y="4151376"/>
            <a:ext cx="868680" cy="201168"/>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Arial" pitchFamily="34" charset="0"/>
                <a:ea typeface="Arial" pitchFamily="34" charset="-122"/>
                <a:cs typeface="Arial" pitchFamily="34" charset="-120"/>
              </a:rPr>
              <a:t>IMPLEMENTED</a:t>
            </a:r>
            <a:endParaRPr lang="en-US" sz="700" dirty="0"/>
          </a:p>
        </p:txBody>
      </p:sp>
      <p:sp>
        <p:nvSpPr>
          <p:cNvPr id="64" name="Shape 62"/>
          <p:cNvSpPr/>
          <p:nvPr/>
        </p:nvSpPr>
        <p:spPr>
          <a:xfrm>
            <a:off x="5833872" y="3886200"/>
            <a:ext cx="109728" cy="0"/>
          </a:xfrm>
          <a:prstGeom prst="line">
            <a:avLst/>
          </a:prstGeom>
          <a:noFill/>
          <a:ln w="22225">
            <a:solidFill>
              <a:srgbClr val="0B1D33"/>
            </a:solidFill>
            <a:prstDash val="solid"/>
            <a:headEnd type="none"/>
            <a:tailEnd type="triangle"/>
          </a:ln>
        </p:spPr>
      </p:sp>
      <p:sp>
        <p:nvSpPr>
          <p:cNvPr id="65" name="Shape 63"/>
          <p:cNvSpPr/>
          <p:nvPr/>
        </p:nvSpPr>
        <p:spPr>
          <a:xfrm>
            <a:off x="5943600" y="3310128"/>
            <a:ext cx="1261872" cy="1143000"/>
          </a:xfrm>
          <a:prstGeom prst="roundRect">
            <a:avLst>
              <a:gd name="adj" fmla="val 6400"/>
            </a:avLst>
          </a:prstGeom>
          <a:solidFill>
            <a:srgbClr val="F2F5F8"/>
          </a:solidFill>
          <a:ln w="12700">
            <a:solidFill>
              <a:srgbClr val="F2F5F8"/>
            </a:solidFill>
            <a:prstDash val="solid"/>
          </a:ln>
        </p:spPr>
      </p:sp>
      <p:sp>
        <p:nvSpPr>
          <p:cNvPr id="66" name="Text 64"/>
          <p:cNvSpPr txBox="1"/>
          <p:nvPr/>
        </p:nvSpPr>
        <p:spPr>
          <a:xfrm>
            <a:off x="6035040" y="3383280"/>
            <a:ext cx="1078992" cy="256032"/>
          </a:xfrm>
          <a:prstGeom prst="rect">
            <a:avLst/>
          </a:prstGeom>
          <a:noFill/>
          <a:ln/>
        </p:spPr>
        <p:txBody>
          <a:bodyPr wrap="square" lIns="0" tIns="0" rIns="0" bIns="0" rtlCol="0" anchor="t"/>
          <a:lstStyle/>
          <a:p>
            <a:pPr indent="0" marL="0">
              <a:buNone/>
            </a:pPr>
            <a:r>
              <a:rPr lang="en-US" sz="1050" b="1" dirty="0">
                <a:solidFill>
                  <a:srgbClr val="0B1D33"/>
                </a:solidFill>
                <a:latin typeface="Arial" pitchFamily="34" charset="0"/>
                <a:ea typeface="Arial" pitchFamily="34" charset="-122"/>
                <a:cs typeface="Arial" pitchFamily="34" charset="-120"/>
              </a:rPr>
              <a:t>Verify</a:t>
            </a:r>
            <a:endParaRPr lang="en-US" sz="1050" dirty="0"/>
          </a:p>
        </p:txBody>
      </p:sp>
      <p:sp>
        <p:nvSpPr>
          <p:cNvPr id="67" name="Text 65"/>
          <p:cNvSpPr txBox="1"/>
          <p:nvPr/>
        </p:nvSpPr>
        <p:spPr>
          <a:xfrm>
            <a:off x="6035040" y="3639312"/>
            <a:ext cx="1078992" cy="457200"/>
          </a:xfrm>
          <a:prstGeom prst="rect">
            <a:avLst/>
          </a:prstGeom>
          <a:noFill/>
          <a:ln/>
        </p:spPr>
        <p:txBody>
          <a:bodyPr wrap="square" lIns="0" tIns="0" rIns="0" bIns="0" rtlCol="0" anchor="t"/>
          <a:lstStyle/>
          <a:p>
            <a:pPr indent="0" marL="0">
              <a:buNone/>
            </a:pPr>
            <a:r>
              <a:rPr lang="en-US" sz="900" dirty="0">
                <a:solidFill>
                  <a:srgbClr val="5A6B7D"/>
                </a:solidFill>
                <a:latin typeface="Calibri" pitchFamily="34" charset="0"/>
                <a:ea typeface="Calibri" pitchFamily="34" charset="-122"/>
                <a:cs typeface="Calibri" pitchFamily="34" charset="-120"/>
              </a:rPr>
              <a:t>YANG-Push read-back</a:t>
            </a:r>
            <a:endParaRPr lang="en-US" sz="900" dirty="0"/>
          </a:p>
        </p:txBody>
      </p:sp>
      <p:sp>
        <p:nvSpPr>
          <p:cNvPr id="68" name="Shape 66"/>
          <p:cNvSpPr/>
          <p:nvPr/>
        </p:nvSpPr>
        <p:spPr>
          <a:xfrm>
            <a:off x="6035040" y="4151376"/>
            <a:ext cx="868680" cy="201168"/>
          </a:xfrm>
          <a:prstGeom prst="roundRect">
            <a:avLst>
              <a:gd name="adj" fmla="val 50000"/>
            </a:avLst>
          </a:prstGeom>
          <a:solidFill>
            <a:srgbClr val="FFFFFF"/>
          </a:solidFill>
          <a:ln w="12700">
            <a:solidFill>
              <a:srgbClr val="9AA7B4"/>
            </a:solidFill>
            <a:prstDash val="dash"/>
          </a:ln>
        </p:spPr>
      </p:sp>
      <p:sp>
        <p:nvSpPr>
          <p:cNvPr id="69" name="Text 67"/>
          <p:cNvSpPr txBox="1"/>
          <p:nvPr/>
        </p:nvSpPr>
        <p:spPr>
          <a:xfrm>
            <a:off x="6035040" y="4151376"/>
            <a:ext cx="868680" cy="201168"/>
          </a:xfrm>
          <a:prstGeom prst="rect">
            <a:avLst/>
          </a:prstGeom>
          <a:noFill/>
          <a:ln/>
        </p:spPr>
        <p:txBody>
          <a:bodyPr wrap="square" lIns="0" tIns="0" rIns="0" bIns="0" rtlCol="0" anchor="ctr"/>
          <a:lstStyle/>
          <a:p>
            <a:pPr algn="ctr" indent="0" marL="0">
              <a:buNone/>
            </a:pPr>
            <a:r>
              <a:rPr lang="en-US" sz="700" b="1" spc="50" kern="0" dirty="0">
                <a:solidFill>
                  <a:srgbClr val="5A6B7D"/>
                </a:solidFill>
                <a:latin typeface="Arial" pitchFamily="34" charset="0"/>
                <a:ea typeface="Arial" pitchFamily="34" charset="-122"/>
                <a:cs typeface="Arial" pitchFamily="34" charset="-120"/>
              </a:rPr>
              <a:t>PLANNED</a:t>
            </a:r>
            <a:endParaRPr lang="en-US" sz="700" dirty="0"/>
          </a:p>
        </p:txBody>
      </p:sp>
      <p:sp>
        <p:nvSpPr>
          <p:cNvPr id="70" name="Shape 68"/>
          <p:cNvSpPr/>
          <p:nvPr/>
        </p:nvSpPr>
        <p:spPr>
          <a:xfrm>
            <a:off x="7205472" y="3886200"/>
            <a:ext cx="109728" cy="0"/>
          </a:xfrm>
          <a:prstGeom prst="line">
            <a:avLst/>
          </a:prstGeom>
          <a:noFill/>
          <a:ln w="22225">
            <a:solidFill>
              <a:srgbClr val="0B1D33"/>
            </a:solidFill>
            <a:prstDash val="solid"/>
            <a:headEnd type="none"/>
            <a:tailEnd type="triangle"/>
          </a:ln>
        </p:spPr>
      </p:sp>
      <p:sp>
        <p:nvSpPr>
          <p:cNvPr id="71" name="Shape 69"/>
          <p:cNvSpPr/>
          <p:nvPr/>
        </p:nvSpPr>
        <p:spPr>
          <a:xfrm>
            <a:off x="7315200" y="3310128"/>
            <a:ext cx="1261872" cy="1143000"/>
          </a:xfrm>
          <a:prstGeom prst="roundRect">
            <a:avLst>
              <a:gd name="adj" fmla="val 6400"/>
            </a:avLst>
          </a:prstGeom>
          <a:solidFill>
            <a:srgbClr val="F2F5F8"/>
          </a:solidFill>
          <a:ln w="12700">
            <a:solidFill>
              <a:srgbClr val="F2F5F8"/>
            </a:solidFill>
            <a:prstDash val="solid"/>
          </a:ln>
        </p:spPr>
      </p:sp>
      <p:sp>
        <p:nvSpPr>
          <p:cNvPr id="72" name="Text 70"/>
          <p:cNvSpPr txBox="1"/>
          <p:nvPr/>
        </p:nvSpPr>
        <p:spPr>
          <a:xfrm>
            <a:off x="7406640" y="3383280"/>
            <a:ext cx="1078992" cy="256032"/>
          </a:xfrm>
          <a:prstGeom prst="rect">
            <a:avLst/>
          </a:prstGeom>
          <a:noFill/>
          <a:ln/>
        </p:spPr>
        <p:txBody>
          <a:bodyPr wrap="square" lIns="0" tIns="0" rIns="0" bIns="0" rtlCol="0" anchor="t"/>
          <a:lstStyle/>
          <a:p>
            <a:pPr indent="0" marL="0">
              <a:buNone/>
            </a:pPr>
            <a:r>
              <a:rPr lang="en-US" sz="1050" b="1" dirty="0">
                <a:solidFill>
                  <a:srgbClr val="0B1D33"/>
                </a:solidFill>
                <a:latin typeface="Arial" pitchFamily="34" charset="0"/>
                <a:ea typeface="Arial" pitchFamily="34" charset="-122"/>
                <a:cs typeface="Arial" pitchFamily="34" charset="-120"/>
              </a:rPr>
              <a:t>Rollback</a:t>
            </a:r>
            <a:endParaRPr lang="en-US" sz="1050" dirty="0"/>
          </a:p>
        </p:txBody>
      </p:sp>
      <p:sp>
        <p:nvSpPr>
          <p:cNvPr id="73" name="Text 71"/>
          <p:cNvSpPr txBox="1"/>
          <p:nvPr/>
        </p:nvSpPr>
        <p:spPr>
          <a:xfrm>
            <a:off x="7406640" y="3639312"/>
            <a:ext cx="1078992" cy="457200"/>
          </a:xfrm>
          <a:prstGeom prst="rect">
            <a:avLst/>
          </a:prstGeom>
          <a:noFill/>
          <a:ln/>
        </p:spPr>
        <p:txBody>
          <a:bodyPr wrap="square" lIns="0" tIns="0" rIns="0" bIns="0" rtlCol="0" anchor="t"/>
          <a:lstStyle/>
          <a:p>
            <a:pPr indent="0" marL="0">
              <a:buNone/>
            </a:pPr>
            <a:r>
              <a:rPr lang="en-US" sz="900" dirty="0">
                <a:solidFill>
                  <a:srgbClr val="5A6B7D"/>
                </a:solidFill>
                <a:latin typeface="Calibri" pitchFamily="34" charset="0"/>
                <a:ea typeface="Calibri" pitchFamily="34" charset="-122"/>
                <a:cs typeface="Calibri" pitchFamily="34" charset="-120"/>
              </a:rPr>
              <a:t>if KPIs regress</a:t>
            </a:r>
            <a:endParaRPr lang="en-US" sz="900" dirty="0"/>
          </a:p>
        </p:txBody>
      </p:sp>
      <p:sp>
        <p:nvSpPr>
          <p:cNvPr id="74" name="Shape 72"/>
          <p:cNvSpPr/>
          <p:nvPr/>
        </p:nvSpPr>
        <p:spPr>
          <a:xfrm>
            <a:off x="7406640" y="4151376"/>
            <a:ext cx="868680" cy="201168"/>
          </a:xfrm>
          <a:prstGeom prst="roundRect">
            <a:avLst>
              <a:gd name="adj" fmla="val 50000"/>
            </a:avLst>
          </a:prstGeom>
          <a:solidFill>
            <a:srgbClr val="FFFFFF"/>
          </a:solidFill>
          <a:ln w="12700">
            <a:solidFill>
              <a:srgbClr val="9AA7B4"/>
            </a:solidFill>
            <a:prstDash val="dash"/>
          </a:ln>
        </p:spPr>
      </p:sp>
      <p:sp>
        <p:nvSpPr>
          <p:cNvPr id="75" name="Text 73"/>
          <p:cNvSpPr txBox="1"/>
          <p:nvPr/>
        </p:nvSpPr>
        <p:spPr>
          <a:xfrm>
            <a:off x="7406640" y="4151376"/>
            <a:ext cx="868680" cy="201168"/>
          </a:xfrm>
          <a:prstGeom prst="rect">
            <a:avLst/>
          </a:prstGeom>
          <a:noFill/>
          <a:ln/>
        </p:spPr>
        <p:txBody>
          <a:bodyPr wrap="square" lIns="0" tIns="0" rIns="0" bIns="0" rtlCol="0" anchor="ctr"/>
          <a:lstStyle/>
          <a:p>
            <a:pPr algn="ctr" indent="0" marL="0">
              <a:buNone/>
            </a:pPr>
            <a:r>
              <a:rPr lang="en-US" sz="700" b="1" spc="50" kern="0" dirty="0">
                <a:solidFill>
                  <a:srgbClr val="5A6B7D"/>
                </a:solidFill>
                <a:latin typeface="Arial" pitchFamily="34" charset="0"/>
                <a:ea typeface="Arial" pitchFamily="34" charset="-122"/>
                <a:cs typeface="Arial" pitchFamily="34" charset="-120"/>
              </a:rPr>
              <a:t>PLANNED</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000" b="1" spc="200" kern="0" dirty="0">
                <a:solidFill>
                  <a:srgbClr val="0FA3B1"/>
                </a:solidFill>
                <a:latin typeface="Arial" pitchFamily="34" charset="0"/>
                <a:ea typeface="Arial" pitchFamily="34" charset="-122"/>
                <a:cs typeface="Arial" pitchFamily="34" charset="-120"/>
              </a:rPr>
              <a:t>STANDARDS</a:t>
            </a:r>
            <a:endParaRPr lang="en-US" sz="10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400" b="1" dirty="0">
                <a:solidFill>
                  <a:srgbClr val="0B1D33"/>
                </a:solidFill>
                <a:latin typeface="Arial" pitchFamily="34" charset="0"/>
                <a:ea typeface="Arial" pitchFamily="34" charset="-122"/>
                <a:cs typeface="Arial" pitchFamily="34" charset="-120"/>
              </a:rPr>
              <a:t>Claimed vs implemented</a:t>
            </a:r>
            <a:endParaRPr lang="en-US" sz="2400" dirty="0"/>
          </a:p>
        </p:txBody>
      </p:sp>
      <p:sp>
        <p:nvSpPr>
          <p:cNvPr id="4" name="Text 2"/>
          <p:cNvSpPr txBox="1"/>
          <p:nvPr/>
        </p:nvSpPr>
        <p:spPr>
          <a:xfrm>
            <a:off x="548640" y="1188720"/>
            <a:ext cx="2377440" cy="228600"/>
          </a:xfrm>
          <a:prstGeom prst="rect">
            <a:avLst/>
          </a:prstGeom>
          <a:noFill/>
          <a:ln/>
        </p:spPr>
        <p:txBody>
          <a:bodyPr wrap="square" lIns="0" tIns="0" rIns="0" bIns="0" rtlCol="0" anchor="t"/>
          <a:lstStyle/>
          <a:p>
            <a:pPr indent="0" marL="0">
              <a:buNone/>
            </a:pPr>
            <a:r>
              <a:rPr lang="en-US" sz="850" b="1" spc="100" kern="0" dirty="0">
                <a:solidFill>
                  <a:srgbClr val="5A6B7D"/>
                </a:solidFill>
                <a:latin typeface="Calibri" pitchFamily="34" charset="0"/>
                <a:ea typeface="Calibri" pitchFamily="34" charset="-122"/>
                <a:cs typeface="Calibri" pitchFamily="34" charset="-120"/>
              </a:rPr>
              <a:t>STANDARD</a:t>
            </a:r>
            <a:endParaRPr lang="en-US" sz="850" dirty="0"/>
          </a:p>
        </p:txBody>
      </p:sp>
      <p:sp>
        <p:nvSpPr>
          <p:cNvPr id="5" name="Text 3"/>
          <p:cNvSpPr txBox="1"/>
          <p:nvPr/>
        </p:nvSpPr>
        <p:spPr>
          <a:xfrm>
            <a:off x="3017520" y="1188720"/>
            <a:ext cx="4114800" cy="228600"/>
          </a:xfrm>
          <a:prstGeom prst="rect">
            <a:avLst/>
          </a:prstGeom>
          <a:noFill/>
          <a:ln/>
        </p:spPr>
        <p:txBody>
          <a:bodyPr wrap="square" lIns="0" tIns="0" rIns="0" bIns="0" rtlCol="0" anchor="t"/>
          <a:lstStyle/>
          <a:p>
            <a:pPr indent="0" marL="0">
              <a:buNone/>
            </a:pPr>
            <a:r>
              <a:rPr lang="en-US" sz="850" b="1" spc="100" kern="0" dirty="0">
                <a:solidFill>
                  <a:srgbClr val="5A6B7D"/>
                </a:solidFill>
                <a:latin typeface="Calibri" pitchFamily="34" charset="0"/>
                <a:ea typeface="Calibri" pitchFamily="34" charset="-122"/>
                <a:cs typeface="Calibri" pitchFamily="34" charset="-120"/>
              </a:rPr>
              <a:t>WHAT THE CODE DOES</a:t>
            </a:r>
            <a:endParaRPr lang="en-US" sz="850" dirty="0"/>
          </a:p>
        </p:txBody>
      </p:sp>
      <p:sp>
        <p:nvSpPr>
          <p:cNvPr id="6" name="Text 4"/>
          <p:cNvSpPr txBox="1"/>
          <p:nvPr/>
        </p:nvSpPr>
        <p:spPr>
          <a:xfrm>
            <a:off x="7589520" y="1188720"/>
            <a:ext cx="1005840" cy="228600"/>
          </a:xfrm>
          <a:prstGeom prst="rect">
            <a:avLst/>
          </a:prstGeom>
          <a:noFill/>
          <a:ln/>
        </p:spPr>
        <p:txBody>
          <a:bodyPr wrap="square" lIns="0" tIns="0" rIns="0" bIns="0" rtlCol="0" anchor="t"/>
          <a:lstStyle/>
          <a:p>
            <a:pPr indent="0" marL="0">
              <a:buNone/>
            </a:pPr>
            <a:r>
              <a:rPr lang="en-US" sz="850" b="1" spc="100" kern="0" dirty="0">
                <a:solidFill>
                  <a:srgbClr val="5A6B7D"/>
                </a:solidFill>
                <a:latin typeface="Calibri" pitchFamily="34" charset="0"/>
                <a:ea typeface="Calibri" pitchFamily="34" charset="-122"/>
                <a:cs typeface="Calibri" pitchFamily="34" charset="-120"/>
              </a:rPr>
              <a:t>STATUS</a:t>
            </a:r>
            <a:endParaRPr lang="en-US" sz="850" dirty="0"/>
          </a:p>
        </p:txBody>
      </p:sp>
      <p:sp>
        <p:nvSpPr>
          <p:cNvPr id="7" name="Shape 5"/>
          <p:cNvSpPr/>
          <p:nvPr/>
        </p:nvSpPr>
        <p:spPr>
          <a:xfrm>
            <a:off x="457200" y="1463040"/>
            <a:ext cx="8229600" cy="329184"/>
          </a:xfrm>
          <a:prstGeom prst="rect">
            <a:avLst/>
          </a:prstGeom>
          <a:solidFill>
            <a:srgbClr val="F2F5F8"/>
          </a:solidFill>
          <a:ln w="12700">
            <a:solidFill>
              <a:srgbClr val="F2F5F8"/>
            </a:solidFill>
            <a:prstDash val="solid"/>
          </a:ln>
        </p:spPr>
      </p:sp>
      <p:sp>
        <p:nvSpPr>
          <p:cNvPr id="8" name="Text 6"/>
          <p:cNvSpPr txBox="1"/>
          <p:nvPr/>
        </p:nvSpPr>
        <p:spPr>
          <a:xfrm>
            <a:off x="548640" y="1463040"/>
            <a:ext cx="2423160" cy="329184"/>
          </a:xfrm>
          <a:prstGeom prst="rect">
            <a:avLst/>
          </a:prstGeom>
          <a:noFill/>
          <a:ln/>
        </p:spPr>
        <p:txBody>
          <a:bodyPr wrap="square" lIns="0" tIns="0" rIns="0" bIns="0" rtlCol="0" anchor="ctr"/>
          <a:lstStyle/>
          <a:p>
            <a:pPr indent="0" marL="0">
              <a:buNone/>
            </a:pPr>
            <a:r>
              <a:rPr lang="en-US" sz="1000" b="1" dirty="0">
                <a:solidFill>
                  <a:srgbClr val="1A2B3C"/>
                </a:solidFill>
                <a:latin typeface="Calibri" pitchFamily="34" charset="0"/>
                <a:ea typeface="Calibri" pitchFamily="34" charset="-122"/>
                <a:cs typeface="Calibri" pitchFamily="34" charset="-120"/>
              </a:rPr>
              <a:t>IETF RFC 8040 RESTCONF</a:t>
            </a:r>
            <a:endParaRPr lang="en-US" sz="1000" dirty="0"/>
          </a:p>
        </p:txBody>
      </p:sp>
      <p:sp>
        <p:nvSpPr>
          <p:cNvPr id="9" name="Text 7"/>
          <p:cNvSpPr txBox="1"/>
          <p:nvPr/>
        </p:nvSpPr>
        <p:spPr>
          <a:xfrm>
            <a:off x="3017520" y="1463040"/>
            <a:ext cx="4480560" cy="329184"/>
          </a:xfrm>
          <a:prstGeom prst="rect">
            <a:avLst/>
          </a:prstGeom>
          <a:noFill/>
          <a:ln/>
        </p:spPr>
        <p:txBody>
          <a:bodyPr wrap="square" lIns="0" tIns="0" rIns="0" bIns="0" rtlCol="0" anchor="ctr"/>
          <a:lstStyle/>
          <a:p>
            <a:pPr indent="0" marL="0">
              <a:buNone/>
            </a:pPr>
            <a:r>
              <a:rPr lang="en-US" sz="950" dirty="0">
                <a:solidFill>
                  <a:srgbClr val="5A6B7D"/>
                </a:solidFill>
                <a:latin typeface="Calibri" pitchFamily="34" charset="0"/>
                <a:ea typeface="Calibri" pitchFamily="34" charset="-122"/>
                <a:cs typeface="Calibri" pitchFamily="34" charset="-120"/>
              </a:rPr>
              <a:t>Ceragon driver: PATCH candidate, commit, discard</a:t>
            </a:r>
            <a:endParaRPr lang="en-US" sz="950" dirty="0"/>
          </a:p>
        </p:txBody>
      </p:sp>
      <p:sp>
        <p:nvSpPr>
          <p:cNvPr id="10" name="Shape 8"/>
          <p:cNvSpPr/>
          <p:nvPr/>
        </p:nvSpPr>
        <p:spPr>
          <a:xfrm>
            <a:off x="7589520" y="1527048"/>
            <a:ext cx="868680" cy="201168"/>
          </a:xfrm>
          <a:prstGeom prst="roundRect">
            <a:avLst>
              <a:gd name="adj" fmla="val 50000"/>
            </a:avLst>
          </a:prstGeom>
          <a:solidFill>
            <a:srgbClr val="22A06B"/>
          </a:solidFill>
          <a:ln w="12700">
            <a:solidFill>
              <a:srgbClr val="22A06B"/>
            </a:solidFill>
            <a:prstDash val="solid"/>
          </a:ln>
        </p:spPr>
      </p:sp>
      <p:sp>
        <p:nvSpPr>
          <p:cNvPr id="11" name="Text 9"/>
          <p:cNvSpPr txBox="1"/>
          <p:nvPr/>
        </p:nvSpPr>
        <p:spPr>
          <a:xfrm>
            <a:off x="7589520" y="1527048"/>
            <a:ext cx="868680" cy="201168"/>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Arial" pitchFamily="34" charset="0"/>
                <a:ea typeface="Arial" pitchFamily="34" charset="-122"/>
                <a:cs typeface="Arial" pitchFamily="34" charset="-120"/>
              </a:rPr>
              <a:t>IMPLEMENTED</a:t>
            </a:r>
            <a:endParaRPr lang="en-US" sz="700" dirty="0"/>
          </a:p>
        </p:txBody>
      </p:sp>
      <p:sp>
        <p:nvSpPr>
          <p:cNvPr id="12" name="Text 10"/>
          <p:cNvSpPr txBox="1"/>
          <p:nvPr/>
        </p:nvSpPr>
        <p:spPr>
          <a:xfrm>
            <a:off x="548640" y="1792224"/>
            <a:ext cx="2423160" cy="329184"/>
          </a:xfrm>
          <a:prstGeom prst="rect">
            <a:avLst/>
          </a:prstGeom>
          <a:noFill/>
          <a:ln/>
        </p:spPr>
        <p:txBody>
          <a:bodyPr wrap="square" lIns="0" tIns="0" rIns="0" bIns="0" rtlCol="0" anchor="ctr"/>
          <a:lstStyle/>
          <a:p>
            <a:pPr indent="0" marL="0">
              <a:buNone/>
            </a:pPr>
            <a:r>
              <a:rPr lang="en-US" sz="1000" b="1" dirty="0">
                <a:solidFill>
                  <a:srgbClr val="1A2B3C"/>
                </a:solidFill>
                <a:latin typeface="Calibri" pitchFamily="34" charset="0"/>
                <a:ea typeface="Calibri" pitchFamily="34" charset="-122"/>
                <a:cs typeface="Calibri" pitchFamily="34" charset="-120"/>
              </a:rPr>
              <a:t>IETF RFC 7950 YANG 1.1</a:t>
            </a:r>
            <a:endParaRPr lang="en-US" sz="1000" dirty="0"/>
          </a:p>
        </p:txBody>
      </p:sp>
      <p:sp>
        <p:nvSpPr>
          <p:cNvPr id="13" name="Text 11"/>
          <p:cNvSpPr txBox="1"/>
          <p:nvPr/>
        </p:nvSpPr>
        <p:spPr>
          <a:xfrm>
            <a:off x="3017520" y="1792224"/>
            <a:ext cx="4480560" cy="329184"/>
          </a:xfrm>
          <a:prstGeom prst="rect">
            <a:avLst/>
          </a:prstGeom>
          <a:noFill/>
          <a:ln/>
        </p:spPr>
        <p:txBody>
          <a:bodyPr wrap="square" lIns="0" tIns="0" rIns="0" bIns="0" rtlCol="0" anchor="ctr"/>
          <a:lstStyle/>
          <a:p>
            <a:pPr indent="0" marL="0">
              <a:buNone/>
            </a:pPr>
            <a:r>
              <a:rPr lang="en-US" sz="950" dirty="0">
                <a:solidFill>
                  <a:srgbClr val="5A6B7D"/>
                </a:solidFill>
                <a:latin typeface="Calibri" pitchFamily="34" charset="0"/>
                <a:ea typeface="Calibri" pitchFamily="34" charset="-122"/>
                <a:cs typeface="Calibri" pitchFamily="34" charset="-120"/>
              </a:rPr>
              <a:t>51 bundled models; payload templates</a:t>
            </a:r>
            <a:endParaRPr lang="en-US" sz="950" dirty="0"/>
          </a:p>
        </p:txBody>
      </p:sp>
      <p:sp>
        <p:nvSpPr>
          <p:cNvPr id="14" name="Shape 12"/>
          <p:cNvSpPr/>
          <p:nvPr/>
        </p:nvSpPr>
        <p:spPr>
          <a:xfrm>
            <a:off x="7589520" y="1856232"/>
            <a:ext cx="868680" cy="201168"/>
          </a:xfrm>
          <a:prstGeom prst="roundRect">
            <a:avLst>
              <a:gd name="adj" fmla="val 50000"/>
            </a:avLst>
          </a:prstGeom>
          <a:solidFill>
            <a:srgbClr val="22A06B"/>
          </a:solidFill>
          <a:ln w="12700">
            <a:solidFill>
              <a:srgbClr val="22A06B"/>
            </a:solidFill>
            <a:prstDash val="solid"/>
          </a:ln>
        </p:spPr>
      </p:sp>
      <p:sp>
        <p:nvSpPr>
          <p:cNvPr id="15" name="Text 13"/>
          <p:cNvSpPr txBox="1"/>
          <p:nvPr/>
        </p:nvSpPr>
        <p:spPr>
          <a:xfrm>
            <a:off x="7589520" y="1856232"/>
            <a:ext cx="868680" cy="201168"/>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Arial" pitchFamily="34" charset="0"/>
                <a:ea typeface="Arial" pitchFamily="34" charset="-122"/>
                <a:cs typeface="Arial" pitchFamily="34" charset="-120"/>
              </a:rPr>
              <a:t>IMPLEMENTED</a:t>
            </a:r>
            <a:endParaRPr lang="en-US" sz="700" dirty="0"/>
          </a:p>
        </p:txBody>
      </p:sp>
      <p:sp>
        <p:nvSpPr>
          <p:cNvPr id="16" name="Shape 14"/>
          <p:cNvSpPr/>
          <p:nvPr/>
        </p:nvSpPr>
        <p:spPr>
          <a:xfrm>
            <a:off x="457200" y="2121408"/>
            <a:ext cx="8229600" cy="329184"/>
          </a:xfrm>
          <a:prstGeom prst="rect">
            <a:avLst/>
          </a:prstGeom>
          <a:solidFill>
            <a:srgbClr val="F2F5F8"/>
          </a:solidFill>
          <a:ln w="12700">
            <a:solidFill>
              <a:srgbClr val="F2F5F8"/>
            </a:solidFill>
            <a:prstDash val="solid"/>
          </a:ln>
        </p:spPr>
      </p:sp>
      <p:sp>
        <p:nvSpPr>
          <p:cNvPr id="17" name="Text 15"/>
          <p:cNvSpPr txBox="1"/>
          <p:nvPr/>
        </p:nvSpPr>
        <p:spPr>
          <a:xfrm>
            <a:off x="548640" y="2121408"/>
            <a:ext cx="2423160" cy="329184"/>
          </a:xfrm>
          <a:prstGeom prst="rect">
            <a:avLst/>
          </a:prstGeom>
          <a:noFill/>
          <a:ln/>
        </p:spPr>
        <p:txBody>
          <a:bodyPr wrap="square" lIns="0" tIns="0" rIns="0" bIns="0" rtlCol="0" anchor="ctr"/>
          <a:lstStyle/>
          <a:p>
            <a:pPr indent="0" marL="0">
              <a:buNone/>
            </a:pPr>
            <a:r>
              <a:rPr lang="en-US" sz="1000" b="1" dirty="0">
                <a:solidFill>
                  <a:srgbClr val="1A2B3C"/>
                </a:solidFill>
                <a:latin typeface="Calibri" pitchFamily="34" charset="0"/>
                <a:ea typeface="Calibri" pitchFamily="34" charset="-122"/>
                <a:cs typeface="Calibri" pitchFamily="34" charset="-120"/>
              </a:rPr>
              <a:t>IETF RFC 8345 topology</a:t>
            </a:r>
            <a:endParaRPr lang="en-US" sz="1000" dirty="0"/>
          </a:p>
        </p:txBody>
      </p:sp>
      <p:sp>
        <p:nvSpPr>
          <p:cNvPr id="18" name="Text 16"/>
          <p:cNvSpPr txBox="1"/>
          <p:nvPr/>
        </p:nvSpPr>
        <p:spPr>
          <a:xfrm>
            <a:off x="3017520" y="2121408"/>
            <a:ext cx="4480560" cy="329184"/>
          </a:xfrm>
          <a:prstGeom prst="rect">
            <a:avLst/>
          </a:prstGeom>
          <a:noFill/>
          <a:ln/>
        </p:spPr>
        <p:txBody>
          <a:bodyPr wrap="square" lIns="0" tIns="0" rIns="0" bIns="0" rtlCol="0" anchor="ctr"/>
          <a:lstStyle/>
          <a:p>
            <a:pPr indent="0" marL="0">
              <a:buNone/>
            </a:pPr>
            <a:r>
              <a:rPr lang="en-US" sz="950" dirty="0">
                <a:solidFill>
                  <a:srgbClr val="5A6B7D"/>
                </a:solidFill>
                <a:latin typeface="Calibri" pitchFamily="34" charset="0"/>
                <a:ea typeface="Calibri" pitchFamily="34" charset="-122"/>
                <a:cs typeface="Calibri" pitchFamily="34" charset="-120"/>
              </a:rPr>
              <a:t>TFS NBI plugin exists; not used by our code</a:t>
            </a:r>
            <a:endParaRPr lang="en-US" sz="950" dirty="0"/>
          </a:p>
        </p:txBody>
      </p:sp>
      <p:sp>
        <p:nvSpPr>
          <p:cNvPr id="19" name="Shape 17"/>
          <p:cNvSpPr/>
          <p:nvPr/>
        </p:nvSpPr>
        <p:spPr>
          <a:xfrm>
            <a:off x="7589520" y="2185416"/>
            <a:ext cx="868680" cy="201168"/>
          </a:xfrm>
          <a:prstGeom prst="roundRect">
            <a:avLst>
              <a:gd name="adj" fmla="val 50000"/>
            </a:avLst>
          </a:prstGeom>
          <a:solidFill>
            <a:srgbClr val="FFFFFF"/>
          </a:solidFill>
          <a:ln w="12700">
            <a:solidFill>
              <a:srgbClr val="9AA7B4"/>
            </a:solidFill>
            <a:prstDash val="dash"/>
          </a:ln>
        </p:spPr>
      </p:sp>
      <p:sp>
        <p:nvSpPr>
          <p:cNvPr id="20" name="Text 18"/>
          <p:cNvSpPr txBox="1"/>
          <p:nvPr/>
        </p:nvSpPr>
        <p:spPr>
          <a:xfrm>
            <a:off x="7589520" y="2185416"/>
            <a:ext cx="868680" cy="201168"/>
          </a:xfrm>
          <a:prstGeom prst="rect">
            <a:avLst/>
          </a:prstGeom>
          <a:noFill/>
          <a:ln/>
        </p:spPr>
        <p:txBody>
          <a:bodyPr wrap="square" lIns="0" tIns="0" rIns="0" bIns="0" rtlCol="0" anchor="ctr"/>
          <a:lstStyle/>
          <a:p>
            <a:pPr algn="ctr" indent="0" marL="0">
              <a:buNone/>
            </a:pPr>
            <a:r>
              <a:rPr lang="en-US" sz="700" b="1" spc="50" kern="0" dirty="0">
                <a:solidFill>
                  <a:srgbClr val="5A6B7D"/>
                </a:solidFill>
                <a:latin typeface="Arial" pitchFamily="34" charset="0"/>
                <a:ea typeface="Arial" pitchFamily="34" charset="-122"/>
                <a:cs typeface="Arial" pitchFamily="34" charset="-120"/>
              </a:rPr>
              <a:t>PLANNED</a:t>
            </a:r>
            <a:endParaRPr lang="en-US" sz="700" dirty="0"/>
          </a:p>
        </p:txBody>
      </p:sp>
      <p:sp>
        <p:nvSpPr>
          <p:cNvPr id="21" name="Text 19"/>
          <p:cNvSpPr txBox="1"/>
          <p:nvPr/>
        </p:nvSpPr>
        <p:spPr>
          <a:xfrm>
            <a:off x="548640" y="2450592"/>
            <a:ext cx="2423160" cy="329184"/>
          </a:xfrm>
          <a:prstGeom prst="rect">
            <a:avLst/>
          </a:prstGeom>
          <a:noFill/>
          <a:ln/>
        </p:spPr>
        <p:txBody>
          <a:bodyPr wrap="square" lIns="0" tIns="0" rIns="0" bIns="0" rtlCol="0" anchor="ctr"/>
          <a:lstStyle/>
          <a:p>
            <a:pPr indent="0" marL="0">
              <a:buNone/>
            </a:pPr>
            <a:r>
              <a:rPr lang="en-US" sz="1000" b="1" dirty="0">
                <a:solidFill>
                  <a:srgbClr val="1A2B3C"/>
                </a:solidFill>
                <a:latin typeface="Calibri" pitchFamily="34" charset="0"/>
                <a:ea typeface="Calibri" pitchFamily="34" charset="-122"/>
                <a:cs typeface="Calibri" pitchFamily="34" charset="-120"/>
              </a:rPr>
              <a:t>IETF RFC 6241 NETCONF</a:t>
            </a:r>
            <a:endParaRPr lang="en-US" sz="1000" dirty="0"/>
          </a:p>
        </p:txBody>
      </p:sp>
      <p:sp>
        <p:nvSpPr>
          <p:cNvPr id="22" name="Text 20"/>
          <p:cNvSpPr txBox="1"/>
          <p:nvPr/>
        </p:nvSpPr>
        <p:spPr>
          <a:xfrm>
            <a:off x="3017520" y="2450592"/>
            <a:ext cx="4480560" cy="329184"/>
          </a:xfrm>
          <a:prstGeom prst="rect">
            <a:avLst/>
          </a:prstGeom>
          <a:noFill/>
          <a:ln/>
        </p:spPr>
        <p:txBody>
          <a:bodyPr wrap="square" lIns="0" tIns="0" rIns="0" bIns="0" rtlCol="0" anchor="ctr"/>
          <a:lstStyle/>
          <a:p>
            <a:pPr indent="0" marL="0">
              <a:buNone/>
            </a:pPr>
            <a:r>
              <a:rPr lang="en-US" sz="950" dirty="0">
                <a:solidFill>
                  <a:srgbClr val="5A6B7D"/>
                </a:solidFill>
                <a:latin typeface="Calibri" pitchFamily="34" charset="0"/>
                <a:ea typeface="Calibri" pitchFamily="34" charset="-122"/>
                <a:cs typeface="Calibri" pitchFamily="34" charset="-120"/>
              </a:rPr>
              <a:t>XML generated by yang_builder, never sent</a:t>
            </a:r>
            <a:endParaRPr lang="en-US" sz="950" dirty="0"/>
          </a:p>
        </p:txBody>
      </p:sp>
      <p:sp>
        <p:nvSpPr>
          <p:cNvPr id="23" name="Shape 21"/>
          <p:cNvSpPr/>
          <p:nvPr/>
        </p:nvSpPr>
        <p:spPr>
          <a:xfrm>
            <a:off x="7589520" y="2514600"/>
            <a:ext cx="868680" cy="201168"/>
          </a:xfrm>
          <a:prstGeom prst="roundRect">
            <a:avLst>
              <a:gd name="adj" fmla="val 50000"/>
            </a:avLst>
          </a:prstGeom>
          <a:solidFill>
            <a:srgbClr val="E8912D"/>
          </a:solidFill>
          <a:ln w="12700">
            <a:solidFill>
              <a:srgbClr val="E8912D"/>
            </a:solidFill>
            <a:prstDash val="solid"/>
          </a:ln>
        </p:spPr>
      </p:sp>
      <p:sp>
        <p:nvSpPr>
          <p:cNvPr id="24" name="Text 22"/>
          <p:cNvSpPr txBox="1"/>
          <p:nvPr/>
        </p:nvSpPr>
        <p:spPr>
          <a:xfrm>
            <a:off x="7589520" y="2514600"/>
            <a:ext cx="868680" cy="201168"/>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Arial" pitchFamily="34" charset="0"/>
                <a:ea typeface="Arial" pitchFamily="34" charset="-122"/>
                <a:cs typeface="Arial" pitchFamily="34" charset="-120"/>
              </a:rPr>
              <a:t>PARTIAL</a:t>
            </a:r>
            <a:endParaRPr lang="en-US" sz="700" dirty="0"/>
          </a:p>
        </p:txBody>
      </p:sp>
      <p:sp>
        <p:nvSpPr>
          <p:cNvPr id="25" name="Shape 23"/>
          <p:cNvSpPr/>
          <p:nvPr/>
        </p:nvSpPr>
        <p:spPr>
          <a:xfrm>
            <a:off x="457200" y="2779776"/>
            <a:ext cx="8229600" cy="329184"/>
          </a:xfrm>
          <a:prstGeom prst="rect">
            <a:avLst/>
          </a:prstGeom>
          <a:solidFill>
            <a:srgbClr val="F2F5F8"/>
          </a:solidFill>
          <a:ln w="12700">
            <a:solidFill>
              <a:srgbClr val="F2F5F8"/>
            </a:solidFill>
            <a:prstDash val="solid"/>
          </a:ln>
        </p:spPr>
      </p:sp>
      <p:sp>
        <p:nvSpPr>
          <p:cNvPr id="26" name="Text 24"/>
          <p:cNvSpPr txBox="1"/>
          <p:nvPr/>
        </p:nvSpPr>
        <p:spPr>
          <a:xfrm>
            <a:off x="548640" y="2779776"/>
            <a:ext cx="2423160" cy="329184"/>
          </a:xfrm>
          <a:prstGeom prst="rect">
            <a:avLst/>
          </a:prstGeom>
          <a:noFill/>
          <a:ln/>
        </p:spPr>
        <p:txBody>
          <a:bodyPr wrap="square" lIns="0" tIns="0" rIns="0" bIns="0" rtlCol="0" anchor="ctr"/>
          <a:lstStyle/>
          <a:p>
            <a:pPr indent="0" marL="0">
              <a:buNone/>
            </a:pPr>
            <a:r>
              <a:rPr lang="en-US" sz="1000" b="1" dirty="0">
                <a:solidFill>
                  <a:srgbClr val="1A2B3C"/>
                </a:solidFill>
                <a:latin typeface="Calibri" pitchFamily="34" charset="0"/>
                <a:ea typeface="Calibri" pitchFamily="34" charset="-122"/>
                <a:cs typeface="Calibri" pitchFamily="34" charset="-120"/>
              </a:rPr>
              <a:t>TM Forum TMF921 intent</a:t>
            </a:r>
            <a:endParaRPr lang="en-US" sz="1000" dirty="0"/>
          </a:p>
        </p:txBody>
      </p:sp>
      <p:sp>
        <p:nvSpPr>
          <p:cNvPr id="27" name="Text 25"/>
          <p:cNvSpPr txBox="1"/>
          <p:nvPr/>
        </p:nvSpPr>
        <p:spPr>
          <a:xfrm>
            <a:off x="3017520" y="2779776"/>
            <a:ext cx="4480560" cy="329184"/>
          </a:xfrm>
          <a:prstGeom prst="rect">
            <a:avLst/>
          </a:prstGeom>
          <a:noFill/>
          <a:ln/>
        </p:spPr>
        <p:txBody>
          <a:bodyPr wrap="square" lIns="0" tIns="0" rIns="0" bIns="0" rtlCol="0" anchor="ctr"/>
          <a:lstStyle/>
          <a:p>
            <a:pPr indent="0" marL="0">
              <a:buNone/>
            </a:pPr>
            <a:r>
              <a:rPr lang="en-US" sz="950" dirty="0">
                <a:solidFill>
                  <a:srgbClr val="5A6B7D"/>
                </a:solidFill>
                <a:latin typeface="Calibri" pitchFamily="34" charset="0"/>
                <a:ea typeface="Calibri" pitchFamily="34" charset="-122"/>
                <a:cs typeface="Calibri" pitchFamily="34" charset="-120"/>
              </a:rPr>
              <a:t>custom schema; :9100 endpoint stores and acknowledges</a:t>
            </a:r>
            <a:endParaRPr lang="en-US" sz="950" dirty="0"/>
          </a:p>
        </p:txBody>
      </p:sp>
      <p:sp>
        <p:nvSpPr>
          <p:cNvPr id="28" name="Shape 26"/>
          <p:cNvSpPr/>
          <p:nvPr/>
        </p:nvSpPr>
        <p:spPr>
          <a:xfrm>
            <a:off x="7589520" y="2843784"/>
            <a:ext cx="868680" cy="201168"/>
          </a:xfrm>
          <a:prstGeom prst="roundRect">
            <a:avLst>
              <a:gd name="adj" fmla="val 50000"/>
            </a:avLst>
          </a:prstGeom>
          <a:solidFill>
            <a:srgbClr val="D64545"/>
          </a:solidFill>
          <a:ln w="12700">
            <a:solidFill>
              <a:srgbClr val="D64545"/>
            </a:solidFill>
            <a:prstDash val="solid"/>
          </a:ln>
        </p:spPr>
      </p:sp>
      <p:sp>
        <p:nvSpPr>
          <p:cNvPr id="29" name="Text 27"/>
          <p:cNvSpPr txBox="1"/>
          <p:nvPr/>
        </p:nvSpPr>
        <p:spPr>
          <a:xfrm>
            <a:off x="7589520" y="2843784"/>
            <a:ext cx="868680" cy="201168"/>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Arial" pitchFamily="34" charset="0"/>
                <a:ea typeface="Arial" pitchFamily="34" charset="-122"/>
                <a:cs typeface="Arial" pitchFamily="34" charset="-120"/>
              </a:rPr>
              <a:t>MOCK</a:t>
            </a:r>
            <a:endParaRPr lang="en-US" sz="700" dirty="0"/>
          </a:p>
        </p:txBody>
      </p:sp>
      <p:sp>
        <p:nvSpPr>
          <p:cNvPr id="30" name="Text 28"/>
          <p:cNvSpPr txBox="1"/>
          <p:nvPr/>
        </p:nvSpPr>
        <p:spPr>
          <a:xfrm>
            <a:off x="548640" y="3108960"/>
            <a:ext cx="2423160" cy="329184"/>
          </a:xfrm>
          <a:prstGeom prst="rect">
            <a:avLst/>
          </a:prstGeom>
          <a:noFill/>
          <a:ln/>
        </p:spPr>
        <p:txBody>
          <a:bodyPr wrap="square" lIns="0" tIns="0" rIns="0" bIns="0" rtlCol="0" anchor="ctr"/>
          <a:lstStyle/>
          <a:p>
            <a:pPr indent="0" marL="0">
              <a:buNone/>
            </a:pPr>
            <a:r>
              <a:rPr lang="en-US" sz="1000" b="1" dirty="0">
                <a:solidFill>
                  <a:srgbClr val="1A2B3C"/>
                </a:solidFill>
                <a:latin typeface="Calibri" pitchFamily="34" charset="0"/>
                <a:ea typeface="Calibri" pitchFamily="34" charset="-122"/>
                <a:cs typeface="Calibri" pitchFamily="34" charset="-120"/>
              </a:rPr>
              <a:t>3GPP TS 28.561 NDT</a:t>
            </a:r>
            <a:endParaRPr lang="en-US" sz="1000" dirty="0"/>
          </a:p>
        </p:txBody>
      </p:sp>
      <p:sp>
        <p:nvSpPr>
          <p:cNvPr id="31" name="Text 29"/>
          <p:cNvSpPr txBox="1"/>
          <p:nvPr/>
        </p:nvSpPr>
        <p:spPr>
          <a:xfrm>
            <a:off x="3017520" y="3108960"/>
            <a:ext cx="4480560" cy="329184"/>
          </a:xfrm>
          <a:prstGeom prst="rect">
            <a:avLst/>
          </a:prstGeom>
          <a:noFill/>
          <a:ln/>
        </p:spPr>
        <p:txBody>
          <a:bodyPr wrap="square" lIns="0" tIns="0" rIns="0" bIns="0" rtlCol="0" anchor="ctr"/>
          <a:lstStyle/>
          <a:p>
            <a:pPr indent="0" marL="0">
              <a:buNone/>
            </a:pPr>
            <a:r>
              <a:rPr lang="en-US" sz="950" dirty="0">
                <a:solidFill>
                  <a:srgbClr val="5A6B7D"/>
                </a:solidFill>
                <a:latin typeface="Calibri" pitchFamily="34" charset="0"/>
                <a:ea typeface="Calibri" pitchFamily="34" charset="-122"/>
                <a:cs typeface="Calibri" pitchFamily="34" charset="-120"/>
              </a:rPr>
              <a:t>NDTI state enum only; no NDTJob or report</a:t>
            </a:r>
            <a:endParaRPr lang="en-US" sz="950" dirty="0"/>
          </a:p>
        </p:txBody>
      </p:sp>
      <p:sp>
        <p:nvSpPr>
          <p:cNvPr id="32" name="Shape 30"/>
          <p:cNvSpPr/>
          <p:nvPr/>
        </p:nvSpPr>
        <p:spPr>
          <a:xfrm>
            <a:off x="7589520" y="3172968"/>
            <a:ext cx="868680" cy="201168"/>
          </a:xfrm>
          <a:prstGeom prst="roundRect">
            <a:avLst>
              <a:gd name="adj" fmla="val 50000"/>
            </a:avLst>
          </a:prstGeom>
          <a:solidFill>
            <a:srgbClr val="E8912D"/>
          </a:solidFill>
          <a:ln w="12700">
            <a:solidFill>
              <a:srgbClr val="E8912D"/>
            </a:solidFill>
            <a:prstDash val="solid"/>
          </a:ln>
        </p:spPr>
      </p:sp>
      <p:sp>
        <p:nvSpPr>
          <p:cNvPr id="33" name="Text 31"/>
          <p:cNvSpPr txBox="1"/>
          <p:nvPr/>
        </p:nvSpPr>
        <p:spPr>
          <a:xfrm>
            <a:off x="7589520" y="3172968"/>
            <a:ext cx="868680" cy="201168"/>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Arial" pitchFamily="34" charset="0"/>
                <a:ea typeface="Arial" pitchFamily="34" charset="-122"/>
                <a:cs typeface="Arial" pitchFamily="34" charset="-120"/>
              </a:rPr>
              <a:t>PARTIAL</a:t>
            </a:r>
            <a:endParaRPr lang="en-US" sz="700" dirty="0"/>
          </a:p>
        </p:txBody>
      </p:sp>
      <p:sp>
        <p:nvSpPr>
          <p:cNvPr id="34" name="Shape 32"/>
          <p:cNvSpPr/>
          <p:nvPr/>
        </p:nvSpPr>
        <p:spPr>
          <a:xfrm>
            <a:off x="457200" y="3438144"/>
            <a:ext cx="8229600" cy="329184"/>
          </a:xfrm>
          <a:prstGeom prst="rect">
            <a:avLst/>
          </a:prstGeom>
          <a:solidFill>
            <a:srgbClr val="F2F5F8"/>
          </a:solidFill>
          <a:ln w="12700">
            <a:solidFill>
              <a:srgbClr val="F2F5F8"/>
            </a:solidFill>
            <a:prstDash val="solid"/>
          </a:ln>
        </p:spPr>
      </p:sp>
      <p:sp>
        <p:nvSpPr>
          <p:cNvPr id="35" name="Text 33"/>
          <p:cNvSpPr txBox="1"/>
          <p:nvPr/>
        </p:nvSpPr>
        <p:spPr>
          <a:xfrm>
            <a:off x="548640" y="3438144"/>
            <a:ext cx="2423160" cy="329184"/>
          </a:xfrm>
          <a:prstGeom prst="rect">
            <a:avLst/>
          </a:prstGeom>
          <a:noFill/>
          <a:ln/>
        </p:spPr>
        <p:txBody>
          <a:bodyPr wrap="square" lIns="0" tIns="0" rIns="0" bIns="0" rtlCol="0" anchor="ctr"/>
          <a:lstStyle/>
          <a:p>
            <a:pPr indent="0" marL="0">
              <a:buNone/>
            </a:pPr>
            <a:r>
              <a:rPr lang="en-US" sz="1000" b="1" dirty="0">
                <a:solidFill>
                  <a:srgbClr val="1A2B3C"/>
                </a:solidFill>
                <a:latin typeface="Calibri" pitchFamily="34" charset="0"/>
                <a:ea typeface="Calibri" pitchFamily="34" charset="-122"/>
                <a:cs typeface="Calibri" pitchFamily="34" charset="-120"/>
              </a:rPr>
              <a:t>3GPP TS 29.222 CAPIF</a:t>
            </a:r>
            <a:endParaRPr lang="en-US" sz="1000" dirty="0"/>
          </a:p>
        </p:txBody>
      </p:sp>
      <p:sp>
        <p:nvSpPr>
          <p:cNvPr id="36" name="Text 34"/>
          <p:cNvSpPr txBox="1"/>
          <p:nvPr/>
        </p:nvSpPr>
        <p:spPr>
          <a:xfrm>
            <a:off x="3017520" y="3438144"/>
            <a:ext cx="4480560" cy="329184"/>
          </a:xfrm>
          <a:prstGeom prst="rect">
            <a:avLst/>
          </a:prstGeom>
          <a:noFill/>
          <a:ln/>
        </p:spPr>
        <p:txBody>
          <a:bodyPr wrap="square" lIns="0" tIns="0" rIns="0" bIns="0" rtlCol="0" anchor="ctr"/>
          <a:lstStyle/>
          <a:p>
            <a:pPr indent="0" marL="0">
              <a:buNone/>
            </a:pPr>
            <a:r>
              <a:rPr lang="en-US" sz="950" dirty="0">
                <a:solidFill>
                  <a:srgbClr val="5A6B7D"/>
                </a:solidFill>
                <a:latin typeface="Calibri" pitchFamily="34" charset="0"/>
                <a:ea typeface="Calibri" pitchFamily="34" charset="-122"/>
                <a:cs typeface="Calibri" pitchFamily="34" charset="-120"/>
              </a:rPr>
              <a:t>static discovery JSON</a:t>
            </a:r>
            <a:endParaRPr lang="en-US" sz="950" dirty="0"/>
          </a:p>
        </p:txBody>
      </p:sp>
      <p:sp>
        <p:nvSpPr>
          <p:cNvPr id="37" name="Shape 35"/>
          <p:cNvSpPr/>
          <p:nvPr/>
        </p:nvSpPr>
        <p:spPr>
          <a:xfrm>
            <a:off x="7589520" y="3502152"/>
            <a:ext cx="868680" cy="201168"/>
          </a:xfrm>
          <a:prstGeom prst="roundRect">
            <a:avLst>
              <a:gd name="adj" fmla="val 50000"/>
            </a:avLst>
          </a:prstGeom>
          <a:solidFill>
            <a:srgbClr val="D64545"/>
          </a:solidFill>
          <a:ln w="12700">
            <a:solidFill>
              <a:srgbClr val="D64545"/>
            </a:solidFill>
            <a:prstDash val="solid"/>
          </a:ln>
        </p:spPr>
      </p:sp>
      <p:sp>
        <p:nvSpPr>
          <p:cNvPr id="38" name="Text 36"/>
          <p:cNvSpPr txBox="1"/>
          <p:nvPr/>
        </p:nvSpPr>
        <p:spPr>
          <a:xfrm>
            <a:off x="7589520" y="3502152"/>
            <a:ext cx="868680" cy="201168"/>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Arial" pitchFamily="34" charset="0"/>
                <a:ea typeface="Arial" pitchFamily="34" charset="-122"/>
                <a:cs typeface="Arial" pitchFamily="34" charset="-120"/>
              </a:rPr>
              <a:t>MOCK</a:t>
            </a:r>
            <a:endParaRPr lang="en-US" sz="700" dirty="0"/>
          </a:p>
        </p:txBody>
      </p:sp>
      <p:sp>
        <p:nvSpPr>
          <p:cNvPr id="39" name="Text 37"/>
          <p:cNvSpPr txBox="1"/>
          <p:nvPr/>
        </p:nvSpPr>
        <p:spPr>
          <a:xfrm>
            <a:off x="548640" y="3767328"/>
            <a:ext cx="2423160" cy="329184"/>
          </a:xfrm>
          <a:prstGeom prst="rect">
            <a:avLst/>
          </a:prstGeom>
          <a:noFill/>
          <a:ln/>
        </p:spPr>
        <p:txBody>
          <a:bodyPr wrap="square" lIns="0" tIns="0" rIns="0" bIns="0" rtlCol="0" anchor="ctr"/>
          <a:lstStyle/>
          <a:p>
            <a:pPr indent="0" marL="0">
              <a:buNone/>
            </a:pPr>
            <a:r>
              <a:rPr lang="en-US" sz="1000" b="1" dirty="0">
                <a:solidFill>
                  <a:srgbClr val="1A2B3C"/>
                </a:solidFill>
                <a:latin typeface="Calibri" pitchFamily="34" charset="0"/>
                <a:ea typeface="Calibri" pitchFamily="34" charset="-122"/>
                <a:cs typeface="Calibri" pitchFamily="34" charset="-120"/>
              </a:rPr>
              <a:t>ITU-T Y.3090 / Y.3092</a:t>
            </a:r>
            <a:endParaRPr lang="en-US" sz="1000" dirty="0"/>
          </a:p>
        </p:txBody>
      </p:sp>
      <p:sp>
        <p:nvSpPr>
          <p:cNvPr id="40" name="Text 38"/>
          <p:cNvSpPr txBox="1"/>
          <p:nvPr/>
        </p:nvSpPr>
        <p:spPr>
          <a:xfrm>
            <a:off x="3017520" y="3767328"/>
            <a:ext cx="4480560" cy="329184"/>
          </a:xfrm>
          <a:prstGeom prst="rect">
            <a:avLst/>
          </a:prstGeom>
          <a:noFill/>
          <a:ln/>
        </p:spPr>
        <p:txBody>
          <a:bodyPr wrap="square" lIns="0" tIns="0" rIns="0" bIns="0" rtlCol="0" anchor="ctr"/>
          <a:lstStyle/>
          <a:p>
            <a:pPr indent="0" marL="0">
              <a:buNone/>
            </a:pPr>
            <a:r>
              <a:rPr lang="en-US" sz="950" dirty="0">
                <a:solidFill>
                  <a:srgbClr val="5A6B7D"/>
                </a:solidFill>
                <a:latin typeface="Calibri" pitchFamily="34" charset="0"/>
                <a:ea typeface="Calibri" pitchFamily="34" charset="-122"/>
                <a:cs typeface="Calibri" pitchFamily="34" charset="-120"/>
              </a:rPr>
              <a:t>labels on endpoints and slides</a:t>
            </a:r>
            <a:endParaRPr lang="en-US" sz="950" dirty="0"/>
          </a:p>
        </p:txBody>
      </p:sp>
      <p:sp>
        <p:nvSpPr>
          <p:cNvPr id="41" name="Shape 39"/>
          <p:cNvSpPr/>
          <p:nvPr/>
        </p:nvSpPr>
        <p:spPr>
          <a:xfrm>
            <a:off x="7589520" y="3831336"/>
            <a:ext cx="868680" cy="201168"/>
          </a:xfrm>
          <a:prstGeom prst="roundRect">
            <a:avLst>
              <a:gd name="adj" fmla="val 50000"/>
            </a:avLst>
          </a:prstGeom>
          <a:solidFill>
            <a:srgbClr val="FFFFFF"/>
          </a:solidFill>
          <a:ln w="12700">
            <a:solidFill>
              <a:srgbClr val="9AA7B4"/>
            </a:solidFill>
            <a:prstDash val="dash"/>
          </a:ln>
        </p:spPr>
      </p:sp>
      <p:sp>
        <p:nvSpPr>
          <p:cNvPr id="42" name="Text 40"/>
          <p:cNvSpPr txBox="1"/>
          <p:nvPr/>
        </p:nvSpPr>
        <p:spPr>
          <a:xfrm>
            <a:off x="7589520" y="3831336"/>
            <a:ext cx="868680" cy="201168"/>
          </a:xfrm>
          <a:prstGeom prst="rect">
            <a:avLst/>
          </a:prstGeom>
          <a:noFill/>
          <a:ln/>
        </p:spPr>
        <p:txBody>
          <a:bodyPr wrap="square" lIns="0" tIns="0" rIns="0" bIns="0" rtlCol="0" anchor="ctr"/>
          <a:lstStyle/>
          <a:p>
            <a:pPr algn="ctr" indent="0" marL="0">
              <a:buNone/>
            </a:pPr>
            <a:r>
              <a:rPr lang="en-US" sz="700" b="1" spc="50" kern="0" dirty="0">
                <a:solidFill>
                  <a:srgbClr val="5A6B7D"/>
                </a:solidFill>
                <a:latin typeface="Arial" pitchFamily="34" charset="0"/>
                <a:ea typeface="Arial" pitchFamily="34" charset="-122"/>
                <a:cs typeface="Arial" pitchFamily="34" charset="-120"/>
              </a:rPr>
              <a:t>PLANNED</a:t>
            </a:r>
            <a:endParaRPr lang="en-US" sz="700" dirty="0"/>
          </a:p>
        </p:txBody>
      </p:sp>
      <p:sp>
        <p:nvSpPr>
          <p:cNvPr id="43" name="Shape 41"/>
          <p:cNvSpPr/>
          <p:nvPr/>
        </p:nvSpPr>
        <p:spPr>
          <a:xfrm>
            <a:off x="457200" y="4096512"/>
            <a:ext cx="8229600" cy="329184"/>
          </a:xfrm>
          <a:prstGeom prst="rect">
            <a:avLst/>
          </a:prstGeom>
          <a:solidFill>
            <a:srgbClr val="F2F5F8"/>
          </a:solidFill>
          <a:ln w="12700">
            <a:solidFill>
              <a:srgbClr val="F2F5F8"/>
            </a:solidFill>
            <a:prstDash val="solid"/>
          </a:ln>
        </p:spPr>
      </p:sp>
      <p:sp>
        <p:nvSpPr>
          <p:cNvPr id="44" name="Text 42"/>
          <p:cNvSpPr txBox="1"/>
          <p:nvPr/>
        </p:nvSpPr>
        <p:spPr>
          <a:xfrm>
            <a:off x="548640" y="4096512"/>
            <a:ext cx="2423160" cy="329184"/>
          </a:xfrm>
          <a:prstGeom prst="rect">
            <a:avLst/>
          </a:prstGeom>
          <a:noFill/>
          <a:ln/>
        </p:spPr>
        <p:txBody>
          <a:bodyPr wrap="square" lIns="0" tIns="0" rIns="0" bIns="0" rtlCol="0" anchor="ctr"/>
          <a:lstStyle/>
          <a:p>
            <a:pPr indent="0" marL="0">
              <a:buNone/>
            </a:pPr>
            <a:r>
              <a:rPr lang="en-US" sz="1000" b="1" dirty="0">
                <a:solidFill>
                  <a:srgbClr val="1A2B3C"/>
                </a:solidFill>
                <a:latin typeface="Calibri" pitchFamily="34" charset="0"/>
                <a:ea typeface="Calibri" pitchFamily="34" charset="-122"/>
                <a:cs typeface="Calibri" pitchFamily="34" charset="-120"/>
              </a:rPr>
              <a:t>YANG-Push / gNMI</a:t>
            </a:r>
            <a:endParaRPr lang="en-US" sz="1000" dirty="0"/>
          </a:p>
        </p:txBody>
      </p:sp>
      <p:sp>
        <p:nvSpPr>
          <p:cNvPr id="45" name="Text 43"/>
          <p:cNvSpPr txBox="1"/>
          <p:nvPr/>
        </p:nvSpPr>
        <p:spPr>
          <a:xfrm>
            <a:off x="3017520" y="4096512"/>
            <a:ext cx="4480560" cy="329184"/>
          </a:xfrm>
          <a:prstGeom prst="rect">
            <a:avLst/>
          </a:prstGeom>
          <a:noFill/>
          <a:ln/>
        </p:spPr>
        <p:txBody>
          <a:bodyPr wrap="square" lIns="0" tIns="0" rIns="0" bIns="0" rtlCol="0" anchor="ctr"/>
          <a:lstStyle/>
          <a:p>
            <a:pPr indent="0" marL="0">
              <a:buNone/>
            </a:pPr>
            <a:r>
              <a:rPr lang="en-US" sz="950" dirty="0">
                <a:solidFill>
                  <a:srgbClr val="5A6B7D"/>
                </a:solidFill>
                <a:latin typeface="Calibri" pitchFamily="34" charset="0"/>
                <a:ea typeface="Calibri" pitchFamily="34" charset="-122"/>
                <a:cs typeface="Calibri" pitchFamily="34" charset="-120"/>
              </a:rPr>
              <a:t>claimed in docs; driver subscribes to nothing</a:t>
            </a:r>
            <a:endParaRPr lang="en-US" sz="950" dirty="0"/>
          </a:p>
        </p:txBody>
      </p:sp>
      <p:sp>
        <p:nvSpPr>
          <p:cNvPr id="46" name="Shape 44"/>
          <p:cNvSpPr/>
          <p:nvPr/>
        </p:nvSpPr>
        <p:spPr>
          <a:xfrm>
            <a:off x="7589520" y="4160520"/>
            <a:ext cx="868680" cy="201168"/>
          </a:xfrm>
          <a:prstGeom prst="roundRect">
            <a:avLst>
              <a:gd name="adj" fmla="val 50000"/>
            </a:avLst>
          </a:prstGeom>
          <a:solidFill>
            <a:srgbClr val="FFFFFF"/>
          </a:solidFill>
          <a:ln w="12700">
            <a:solidFill>
              <a:srgbClr val="9AA7B4"/>
            </a:solidFill>
            <a:prstDash val="dash"/>
          </a:ln>
        </p:spPr>
      </p:sp>
      <p:sp>
        <p:nvSpPr>
          <p:cNvPr id="47" name="Text 45"/>
          <p:cNvSpPr txBox="1"/>
          <p:nvPr/>
        </p:nvSpPr>
        <p:spPr>
          <a:xfrm>
            <a:off x="7589520" y="4160520"/>
            <a:ext cx="868680" cy="201168"/>
          </a:xfrm>
          <a:prstGeom prst="rect">
            <a:avLst/>
          </a:prstGeom>
          <a:noFill/>
          <a:ln/>
        </p:spPr>
        <p:txBody>
          <a:bodyPr wrap="square" lIns="0" tIns="0" rIns="0" bIns="0" rtlCol="0" anchor="ctr"/>
          <a:lstStyle/>
          <a:p>
            <a:pPr algn="ctr" indent="0" marL="0">
              <a:buNone/>
            </a:pPr>
            <a:r>
              <a:rPr lang="en-US" sz="700" b="1" spc="50" kern="0" dirty="0">
                <a:solidFill>
                  <a:srgbClr val="5A6B7D"/>
                </a:solidFill>
                <a:latin typeface="Arial" pitchFamily="34" charset="0"/>
                <a:ea typeface="Arial" pitchFamily="34" charset="-122"/>
                <a:cs typeface="Arial" pitchFamily="34" charset="-120"/>
              </a:rPr>
              <a:t>PLANNED</a:t>
            </a:r>
            <a:endParaRPr lang="en-US" sz="700" dirty="0"/>
          </a:p>
        </p:txBody>
      </p:sp>
      <p:sp>
        <p:nvSpPr>
          <p:cNvPr id="48" name="Text 46"/>
          <p:cNvSpPr txBox="1"/>
          <p:nvPr/>
        </p:nvSpPr>
        <p:spPr>
          <a:xfrm>
            <a:off x="548640" y="4425696"/>
            <a:ext cx="2423160" cy="329184"/>
          </a:xfrm>
          <a:prstGeom prst="rect">
            <a:avLst/>
          </a:prstGeom>
          <a:noFill/>
          <a:ln/>
        </p:spPr>
        <p:txBody>
          <a:bodyPr wrap="square" lIns="0" tIns="0" rIns="0" bIns="0" rtlCol="0" anchor="ctr"/>
          <a:lstStyle/>
          <a:p>
            <a:pPr indent="0" marL="0">
              <a:buNone/>
            </a:pPr>
            <a:r>
              <a:rPr lang="en-US" sz="1000" b="1" dirty="0">
                <a:solidFill>
                  <a:srgbClr val="1A2B3C"/>
                </a:solidFill>
                <a:latin typeface="Calibri" pitchFamily="34" charset="0"/>
                <a:ea typeface="Calibri" pitchFamily="34" charset="-122"/>
                <a:cs typeface="Calibri" pitchFamily="34" charset="-120"/>
              </a:rPr>
              <a:t>ITU-R P.838 rain</a:t>
            </a:r>
            <a:endParaRPr lang="en-US" sz="1000" dirty="0"/>
          </a:p>
        </p:txBody>
      </p:sp>
      <p:sp>
        <p:nvSpPr>
          <p:cNvPr id="49" name="Text 47"/>
          <p:cNvSpPr txBox="1"/>
          <p:nvPr/>
        </p:nvSpPr>
        <p:spPr>
          <a:xfrm>
            <a:off x="3017520" y="4425696"/>
            <a:ext cx="4480560" cy="329184"/>
          </a:xfrm>
          <a:prstGeom prst="rect">
            <a:avLst/>
          </a:prstGeom>
          <a:noFill/>
          <a:ln/>
        </p:spPr>
        <p:txBody>
          <a:bodyPr wrap="square" lIns="0" tIns="0" rIns="0" bIns="0" rtlCol="0" anchor="ctr"/>
          <a:lstStyle/>
          <a:p>
            <a:pPr indent="0" marL="0">
              <a:buNone/>
            </a:pPr>
            <a:r>
              <a:rPr lang="en-US" sz="950" dirty="0">
                <a:solidFill>
                  <a:srgbClr val="5A6B7D"/>
                </a:solidFill>
                <a:latin typeface="Calibri" pitchFamily="34" charset="0"/>
                <a:ea typeface="Calibri" pitchFamily="34" charset="-122"/>
                <a:cs typeface="Calibri" pitchFamily="34" charset="-120"/>
              </a:rPr>
              <a:t>approximate coefficients in formulas</a:t>
            </a:r>
            <a:endParaRPr lang="en-US" sz="950" dirty="0"/>
          </a:p>
        </p:txBody>
      </p:sp>
      <p:sp>
        <p:nvSpPr>
          <p:cNvPr id="50" name="Shape 48"/>
          <p:cNvSpPr/>
          <p:nvPr/>
        </p:nvSpPr>
        <p:spPr>
          <a:xfrm>
            <a:off x="7589520" y="4489704"/>
            <a:ext cx="868680" cy="201168"/>
          </a:xfrm>
          <a:prstGeom prst="roundRect">
            <a:avLst>
              <a:gd name="adj" fmla="val 50000"/>
            </a:avLst>
          </a:prstGeom>
          <a:solidFill>
            <a:srgbClr val="E8912D"/>
          </a:solidFill>
          <a:ln w="12700">
            <a:solidFill>
              <a:srgbClr val="E8912D"/>
            </a:solidFill>
            <a:prstDash val="solid"/>
          </a:ln>
        </p:spPr>
      </p:sp>
      <p:sp>
        <p:nvSpPr>
          <p:cNvPr id="51" name="Text 49"/>
          <p:cNvSpPr txBox="1"/>
          <p:nvPr/>
        </p:nvSpPr>
        <p:spPr>
          <a:xfrm>
            <a:off x="7589520" y="4489704"/>
            <a:ext cx="868680" cy="201168"/>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Arial" pitchFamily="34" charset="0"/>
                <a:ea typeface="Arial" pitchFamily="34" charset="-122"/>
                <a:cs typeface="Arial" pitchFamily="34" charset="-120"/>
              </a:rPr>
              <a:t>PARTIAL</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000" b="1" spc="200" kern="0" dirty="0">
                <a:solidFill>
                  <a:srgbClr val="0FA3B1"/>
                </a:solidFill>
                <a:latin typeface="Arial" pitchFamily="34" charset="0"/>
                <a:ea typeface="Arial" pitchFamily="34" charset="-122"/>
                <a:cs typeface="Arial" pitchFamily="34" charset="-120"/>
              </a:rPr>
              <a:t>STANDARDS BY INTERFACE</a:t>
            </a:r>
            <a:endParaRPr lang="en-US" sz="10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400" b="1" dirty="0">
                <a:solidFill>
                  <a:srgbClr val="0B1D33"/>
                </a:solidFill>
                <a:latin typeface="Arial" pitchFamily="34" charset="0"/>
                <a:ea typeface="Arial" pitchFamily="34" charset="-122"/>
                <a:cs typeface="Arial" pitchFamily="34" charset="-120"/>
              </a:rPr>
              <a:t>Four interfaces, and the standards that fit each</a:t>
            </a:r>
            <a:endParaRPr lang="en-US" sz="2400" dirty="0"/>
          </a:p>
        </p:txBody>
      </p:sp>
      <p:sp>
        <p:nvSpPr>
          <p:cNvPr id="4" name="Shape 2"/>
          <p:cNvSpPr/>
          <p:nvPr/>
        </p:nvSpPr>
        <p:spPr>
          <a:xfrm>
            <a:off x="457200" y="2331720"/>
            <a:ext cx="1828800" cy="731520"/>
          </a:xfrm>
          <a:prstGeom prst="roundRect">
            <a:avLst>
              <a:gd name="adj" fmla="val 10000"/>
            </a:avLst>
          </a:prstGeom>
          <a:solidFill>
            <a:srgbClr val="FFFFFF"/>
          </a:solidFill>
          <a:ln w="19050">
            <a:solidFill>
              <a:srgbClr val="7C5CFF"/>
            </a:solidFill>
            <a:prstDash val="solid"/>
          </a:ln>
          <a:effectLst>
            <a:outerShdw sx="100000" sy="100000" kx="0" ky="0" algn="bl" rotWithShape="0" blurRad="50800" dist="12700" dir="5400000">
              <a:srgbClr val="000000">
                <a:alpha val="12000"/>
              </a:srgbClr>
            </a:outerShdw>
          </a:effectLst>
        </p:spPr>
      </p:sp>
      <p:sp>
        <p:nvSpPr>
          <p:cNvPr id="5" name="Shape 3"/>
          <p:cNvSpPr/>
          <p:nvPr/>
        </p:nvSpPr>
        <p:spPr>
          <a:xfrm>
            <a:off x="548640" y="2496312"/>
            <a:ext cx="402336" cy="402336"/>
          </a:xfrm>
          <a:prstGeom prst="ellipse">
            <a:avLst/>
          </a:prstGeom>
          <a:solidFill>
            <a:srgbClr val="7C5CFF"/>
          </a:solidFill>
          <a:ln w="12700">
            <a:solidFill>
              <a:srgbClr val="7C5CFF"/>
            </a:solidFill>
            <a:prstDash val="solid"/>
          </a:ln>
        </p:spPr>
      </p:sp>
      <p:pic>
        <p:nvPicPr>
          <p:cNvPr id="6" name="Image 0" descr="preencoded.png">    </p:cNvPr>
          <p:cNvPicPr>
            <a:picLocks noChangeAspect="1"/>
          </p:cNvPicPr>
          <p:nvPr/>
        </p:nvPicPr>
        <p:blipFill>
          <a:blip r:embed="rId1"/>
          <a:stretch>
            <a:fillRect/>
          </a:stretch>
        </p:blipFill>
        <p:spPr>
          <a:xfrm>
            <a:off x="649224" y="2596896"/>
            <a:ext cx="201168" cy="201168"/>
          </a:xfrm>
          <a:prstGeom prst="rect">
            <a:avLst/>
          </a:prstGeom>
        </p:spPr>
      </p:pic>
      <p:sp>
        <p:nvSpPr>
          <p:cNvPr id="7" name="Text 4"/>
          <p:cNvSpPr txBox="1"/>
          <p:nvPr/>
        </p:nvSpPr>
        <p:spPr>
          <a:xfrm>
            <a:off x="1024128" y="2441448"/>
            <a:ext cx="1234440" cy="256032"/>
          </a:xfrm>
          <a:prstGeom prst="rect">
            <a:avLst/>
          </a:prstGeom>
          <a:noFill/>
          <a:ln/>
        </p:spPr>
        <p:txBody>
          <a:bodyPr wrap="square" lIns="0" tIns="0" rIns="0" bIns="0" rtlCol="0" anchor="t"/>
          <a:lstStyle/>
          <a:p>
            <a:pPr indent="0" marL="0">
              <a:buNone/>
            </a:pPr>
            <a:r>
              <a:rPr lang="en-US" sz="1050" b="1" dirty="0">
                <a:solidFill>
                  <a:srgbClr val="1A2B3C"/>
                </a:solidFill>
                <a:latin typeface="Arial" pitchFamily="34" charset="0"/>
                <a:ea typeface="Arial" pitchFamily="34" charset="-122"/>
                <a:cs typeface="Arial" pitchFamily="34" charset="-120"/>
              </a:rPr>
              <a:t>CER-Intent</a:t>
            </a:r>
            <a:endParaRPr lang="en-US" sz="1050" dirty="0"/>
          </a:p>
        </p:txBody>
      </p:sp>
      <p:sp>
        <p:nvSpPr>
          <p:cNvPr id="8" name="Text 5"/>
          <p:cNvSpPr txBox="1"/>
          <p:nvPr/>
        </p:nvSpPr>
        <p:spPr>
          <a:xfrm>
            <a:off x="1024128" y="2697480"/>
            <a:ext cx="1234440" cy="274320"/>
          </a:xfrm>
          <a:prstGeom prst="rect">
            <a:avLst/>
          </a:prstGeom>
          <a:noFill/>
          <a:ln/>
        </p:spPr>
        <p:txBody>
          <a:bodyPr wrap="square" lIns="0" tIns="0" rIns="0" bIns="0" rtlCol="0" anchor="t"/>
          <a:lstStyle/>
          <a:p>
            <a:pPr indent="0" marL="0">
              <a:buNone/>
            </a:pPr>
            <a:r>
              <a:rPr lang="en-US" sz="850" dirty="0">
                <a:solidFill>
                  <a:srgbClr val="5A6B7D"/>
                </a:solidFill>
                <a:latin typeface="Calibri" pitchFamily="34" charset="0"/>
                <a:ea typeface="Calibri" pitchFamily="34" charset="-122"/>
                <a:cs typeface="Calibri" pitchFamily="34" charset="-120"/>
              </a:rPr>
              <a:t>LLM + rule agents</a:t>
            </a:r>
            <a:endParaRPr lang="en-US" sz="850" dirty="0"/>
          </a:p>
        </p:txBody>
      </p:sp>
      <p:sp>
        <p:nvSpPr>
          <p:cNvPr id="9" name="Shape 6"/>
          <p:cNvSpPr/>
          <p:nvPr/>
        </p:nvSpPr>
        <p:spPr>
          <a:xfrm>
            <a:off x="3657600" y="1234440"/>
            <a:ext cx="1828800" cy="731520"/>
          </a:xfrm>
          <a:prstGeom prst="roundRect">
            <a:avLst>
              <a:gd name="adj" fmla="val 10000"/>
            </a:avLst>
          </a:prstGeom>
          <a:solidFill>
            <a:srgbClr val="FFFFFF"/>
          </a:solidFill>
          <a:ln w="19050">
            <a:solidFill>
              <a:srgbClr val="0FA3B1"/>
            </a:solidFill>
            <a:prstDash val="solid"/>
          </a:ln>
          <a:effectLst>
            <a:outerShdw sx="100000" sy="100000" kx="0" ky="0" algn="bl" rotWithShape="0" blurRad="50800" dist="12700" dir="5400000">
              <a:srgbClr val="000000">
                <a:alpha val="12000"/>
              </a:srgbClr>
            </a:outerShdw>
          </a:effectLst>
        </p:spPr>
      </p:sp>
      <p:sp>
        <p:nvSpPr>
          <p:cNvPr id="10" name="Shape 7"/>
          <p:cNvSpPr/>
          <p:nvPr/>
        </p:nvSpPr>
        <p:spPr>
          <a:xfrm>
            <a:off x="3749040" y="1399032"/>
            <a:ext cx="402336" cy="402336"/>
          </a:xfrm>
          <a:prstGeom prst="ellipse">
            <a:avLst/>
          </a:prstGeom>
          <a:solidFill>
            <a:srgbClr val="0FA3B1"/>
          </a:solidFill>
          <a:ln w="12700">
            <a:solidFill>
              <a:srgbClr val="0FA3B1"/>
            </a:solidFill>
            <a:prstDash val="solid"/>
          </a:ln>
        </p:spPr>
      </p:sp>
      <p:pic>
        <p:nvPicPr>
          <p:cNvPr id="11" name="Image 1" descr="preencoded.png">    </p:cNvPr>
          <p:cNvPicPr>
            <a:picLocks noChangeAspect="1"/>
          </p:cNvPicPr>
          <p:nvPr/>
        </p:nvPicPr>
        <p:blipFill>
          <a:blip r:embed="rId2"/>
          <a:stretch>
            <a:fillRect/>
          </a:stretch>
        </p:blipFill>
        <p:spPr>
          <a:xfrm>
            <a:off x="3849624" y="1499616"/>
            <a:ext cx="201168" cy="201168"/>
          </a:xfrm>
          <a:prstGeom prst="rect">
            <a:avLst/>
          </a:prstGeom>
        </p:spPr>
      </p:pic>
      <p:sp>
        <p:nvSpPr>
          <p:cNvPr id="12" name="Text 8"/>
          <p:cNvSpPr txBox="1"/>
          <p:nvPr/>
        </p:nvSpPr>
        <p:spPr>
          <a:xfrm>
            <a:off x="4224528" y="1344168"/>
            <a:ext cx="1234440" cy="256032"/>
          </a:xfrm>
          <a:prstGeom prst="rect">
            <a:avLst/>
          </a:prstGeom>
          <a:noFill/>
          <a:ln/>
        </p:spPr>
        <p:txBody>
          <a:bodyPr wrap="square" lIns="0" tIns="0" rIns="0" bIns="0" rtlCol="0" anchor="t"/>
          <a:lstStyle/>
          <a:p>
            <a:pPr indent="0" marL="0">
              <a:buNone/>
            </a:pPr>
            <a:r>
              <a:rPr lang="en-US" sz="1050" b="1" dirty="0">
                <a:solidFill>
                  <a:srgbClr val="1A2B3C"/>
                </a:solidFill>
                <a:latin typeface="Arial" pitchFamily="34" charset="0"/>
                <a:ea typeface="Arial" pitchFamily="34" charset="-122"/>
                <a:cs typeface="Arial" pitchFamily="34" charset="-120"/>
              </a:rPr>
              <a:t>TeraFlowSDN</a:t>
            </a:r>
            <a:endParaRPr lang="en-US" sz="1050" dirty="0"/>
          </a:p>
        </p:txBody>
      </p:sp>
      <p:sp>
        <p:nvSpPr>
          <p:cNvPr id="13" name="Text 9"/>
          <p:cNvSpPr txBox="1"/>
          <p:nvPr/>
        </p:nvSpPr>
        <p:spPr>
          <a:xfrm>
            <a:off x="4224528" y="1600200"/>
            <a:ext cx="1234440" cy="274320"/>
          </a:xfrm>
          <a:prstGeom prst="rect">
            <a:avLst/>
          </a:prstGeom>
          <a:noFill/>
          <a:ln/>
        </p:spPr>
        <p:txBody>
          <a:bodyPr wrap="square" lIns="0" tIns="0" rIns="0" bIns="0" rtlCol="0" anchor="t"/>
          <a:lstStyle/>
          <a:p>
            <a:pPr indent="0" marL="0">
              <a:buNone/>
            </a:pPr>
            <a:r>
              <a:rPr lang="en-US" sz="850" dirty="0">
                <a:solidFill>
                  <a:srgbClr val="5A6B7D"/>
                </a:solidFill>
                <a:latin typeface="Calibri" pitchFamily="34" charset="0"/>
                <a:ea typeface="Calibri" pitchFamily="34" charset="-122"/>
                <a:cs typeface="Calibri" pitchFamily="34" charset="-120"/>
              </a:rPr>
              <a:t>SDN controller</a:t>
            </a:r>
            <a:endParaRPr lang="en-US" sz="850" dirty="0"/>
          </a:p>
        </p:txBody>
      </p:sp>
      <p:sp>
        <p:nvSpPr>
          <p:cNvPr id="14" name="Shape 10"/>
          <p:cNvSpPr/>
          <p:nvPr/>
        </p:nvSpPr>
        <p:spPr>
          <a:xfrm>
            <a:off x="3657600" y="3977640"/>
            <a:ext cx="1828800" cy="731520"/>
          </a:xfrm>
          <a:prstGeom prst="roundRect">
            <a:avLst>
              <a:gd name="adj" fmla="val 10000"/>
            </a:avLst>
          </a:prstGeom>
          <a:solidFill>
            <a:srgbClr val="FFFFFF"/>
          </a:solidFill>
          <a:ln w="19050">
            <a:solidFill>
              <a:srgbClr val="E8912D"/>
            </a:solidFill>
            <a:prstDash val="solid"/>
          </a:ln>
          <a:effectLst>
            <a:outerShdw sx="100000" sy="100000" kx="0" ky="0" algn="bl" rotWithShape="0" blurRad="50800" dist="12700" dir="5400000">
              <a:srgbClr val="000000">
                <a:alpha val="12000"/>
              </a:srgbClr>
            </a:outerShdw>
          </a:effectLst>
        </p:spPr>
      </p:sp>
      <p:sp>
        <p:nvSpPr>
          <p:cNvPr id="15" name="Shape 11"/>
          <p:cNvSpPr/>
          <p:nvPr/>
        </p:nvSpPr>
        <p:spPr>
          <a:xfrm>
            <a:off x="3749040" y="4142232"/>
            <a:ext cx="402336" cy="402336"/>
          </a:xfrm>
          <a:prstGeom prst="ellipse">
            <a:avLst/>
          </a:prstGeom>
          <a:solidFill>
            <a:srgbClr val="E8912D"/>
          </a:solidFill>
          <a:ln w="12700">
            <a:solidFill>
              <a:srgbClr val="E8912D"/>
            </a:solidFill>
            <a:prstDash val="solid"/>
          </a:ln>
        </p:spPr>
      </p:sp>
      <p:pic>
        <p:nvPicPr>
          <p:cNvPr id="16" name="Image 2" descr="preencoded.png">    </p:cNvPr>
          <p:cNvPicPr>
            <a:picLocks noChangeAspect="1"/>
          </p:cNvPicPr>
          <p:nvPr/>
        </p:nvPicPr>
        <p:blipFill>
          <a:blip r:embed="rId3"/>
          <a:stretch>
            <a:fillRect/>
          </a:stretch>
        </p:blipFill>
        <p:spPr>
          <a:xfrm>
            <a:off x="3849624" y="4242816"/>
            <a:ext cx="201168" cy="201168"/>
          </a:xfrm>
          <a:prstGeom prst="rect">
            <a:avLst/>
          </a:prstGeom>
        </p:spPr>
      </p:pic>
      <p:sp>
        <p:nvSpPr>
          <p:cNvPr id="17" name="Text 12"/>
          <p:cNvSpPr txBox="1"/>
          <p:nvPr/>
        </p:nvSpPr>
        <p:spPr>
          <a:xfrm>
            <a:off x="4224528" y="4087368"/>
            <a:ext cx="1234440" cy="256032"/>
          </a:xfrm>
          <a:prstGeom prst="rect">
            <a:avLst/>
          </a:prstGeom>
          <a:noFill/>
          <a:ln/>
        </p:spPr>
        <p:txBody>
          <a:bodyPr wrap="square" lIns="0" tIns="0" rIns="0" bIns="0" rtlCol="0" anchor="t"/>
          <a:lstStyle/>
          <a:p>
            <a:pPr indent="0" marL="0">
              <a:buNone/>
            </a:pPr>
            <a:r>
              <a:rPr lang="en-US" sz="1050" b="1" dirty="0">
                <a:solidFill>
                  <a:srgbClr val="1A2B3C"/>
                </a:solidFill>
                <a:latin typeface="Arial" pitchFamily="34" charset="0"/>
                <a:ea typeface="Arial" pitchFamily="34" charset="-122"/>
                <a:cs typeface="Arial" pitchFamily="34" charset="-120"/>
              </a:rPr>
              <a:t>Digital twin</a:t>
            </a:r>
            <a:endParaRPr lang="en-US" sz="1050" dirty="0"/>
          </a:p>
        </p:txBody>
      </p:sp>
      <p:sp>
        <p:nvSpPr>
          <p:cNvPr id="18" name="Text 13"/>
          <p:cNvSpPr txBox="1"/>
          <p:nvPr/>
        </p:nvSpPr>
        <p:spPr>
          <a:xfrm>
            <a:off x="4224528" y="4343400"/>
            <a:ext cx="1234440" cy="274320"/>
          </a:xfrm>
          <a:prstGeom prst="rect">
            <a:avLst/>
          </a:prstGeom>
          <a:noFill/>
          <a:ln/>
        </p:spPr>
        <p:txBody>
          <a:bodyPr wrap="square" lIns="0" tIns="0" rIns="0" bIns="0" rtlCol="0" anchor="t"/>
          <a:lstStyle/>
          <a:p>
            <a:pPr indent="0" marL="0">
              <a:buNone/>
            </a:pPr>
            <a:r>
              <a:rPr lang="en-US" sz="850" dirty="0">
                <a:solidFill>
                  <a:srgbClr val="5A6B7D"/>
                </a:solidFill>
                <a:latin typeface="Calibri" pitchFamily="34" charset="0"/>
                <a:ea typeface="Calibri" pitchFamily="34" charset="-122"/>
                <a:cs typeface="Calibri" pitchFamily="34" charset="-120"/>
              </a:rPr>
              <a:t>ns-3.45</a:t>
            </a:r>
            <a:endParaRPr lang="en-US" sz="850" dirty="0"/>
          </a:p>
        </p:txBody>
      </p:sp>
      <p:sp>
        <p:nvSpPr>
          <p:cNvPr id="19" name="Shape 14"/>
          <p:cNvSpPr/>
          <p:nvPr/>
        </p:nvSpPr>
        <p:spPr>
          <a:xfrm>
            <a:off x="6858000" y="1234440"/>
            <a:ext cx="1828800" cy="731520"/>
          </a:xfrm>
          <a:prstGeom prst="roundRect">
            <a:avLst>
              <a:gd name="adj" fmla="val 10000"/>
            </a:avLst>
          </a:prstGeom>
          <a:solidFill>
            <a:srgbClr val="FFFFFF"/>
          </a:solidFill>
          <a:ln w="19050">
            <a:solidFill>
              <a:srgbClr val="22A06B"/>
            </a:solidFill>
            <a:prstDash val="solid"/>
          </a:ln>
          <a:effectLst>
            <a:outerShdw sx="100000" sy="100000" kx="0" ky="0" algn="bl" rotWithShape="0" blurRad="50800" dist="12700" dir="5400000">
              <a:srgbClr val="000000">
                <a:alpha val="12000"/>
              </a:srgbClr>
            </a:outerShdw>
          </a:effectLst>
        </p:spPr>
      </p:sp>
      <p:sp>
        <p:nvSpPr>
          <p:cNvPr id="20" name="Shape 15"/>
          <p:cNvSpPr/>
          <p:nvPr/>
        </p:nvSpPr>
        <p:spPr>
          <a:xfrm>
            <a:off x="6949440" y="1399032"/>
            <a:ext cx="402336" cy="402336"/>
          </a:xfrm>
          <a:prstGeom prst="ellipse">
            <a:avLst/>
          </a:prstGeom>
          <a:solidFill>
            <a:srgbClr val="22A06B"/>
          </a:solidFill>
          <a:ln w="12700">
            <a:solidFill>
              <a:srgbClr val="22A06B"/>
            </a:solidFill>
            <a:prstDash val="solid"/>
          </a:ln>
        </p:spPr>
      </p:sp>
      <p:pic>
        <p:nvPicPr>
          <p:cNvPr id="21" name="Image 3" descr="preencoded.png">    </p:cNvPr>
          <p:cNvPicPr>
            <a:picLocks noChangeAspect="1"/>
          </p:cNvPicPr>
          <p:nvPr/>
        </p:nvPicPr>
        <p:blipFill>
          <a:blip r:embed="rId4"/>
          <a:stretch>
            <a:fillRect/>
          </a:stretch>
        </p:blipFill>
        <p:spPr>
          <a:xfrm>
            <a:off x="7050024" y="1499616"/>
            <a:ext cx="201168" cy="201168"/>
          </a:xfrm>
          <a:prstGeom prst="rect">
            <a:avLst/>
          </a:prstGeom>
        </p:spPr>
      </p:pic>
      <p:sp>
        <p:nvSpPr>
          <p:cNvPr id="22" name="Text 16"/>
          <p:cNvSpPr txBox="1"/>
          <p:nvPr/>
        </p:nvSpPr>
        <p:spPr>
          <a:xfrm>
            <a:off x="7424928" y="1344168"/>
            <a:ext cx="1234440" cy="256032"/>
          </a:xfrm>
          <a:prstGeom prst="rect">
            <a:avLst/>
          </a:prstGeom>
          <a:noFill/>
          <a:ln/>
        </p:spPr>
        <p:txBody>
          <a:bodyPr wrap="square" lIns="0" tIns="0" rIns="0" bIns="0" rtlCol="0" anchor="t"/>
          <a:lstStyle/>
          <a:p>
            <a:pPr indent="0" marL="0">
              <a:buNone/>
            </a:pPr>
            <a:r>
              <a:rPr lang="en-US" sz="1050" b="1" dirty="0">
                <a:solidFill>
                  <a:srgbClr val="1A2B3C"/>
                </a:solidFill>
                <a:latin typeface="Arial" pitchFamily="34" charset="0"/>
                <a:ea typeface="Arial" pitchFamily="34" charset="-122"/>
                <a:cs typeface="Arial" pitchFamily="34" charset="-120"/>
              </a:rPr>
              <a:t>MH-T261</a:t>
            </a:r>
            <a:endParaRPr lang="en-US" sz="1050" dirty="0"/>
          </a:p>
        </p:txBody>
      </p:sp>
      <p:sp>
        <p:nvSpPr>
          <p:cNvPr id="23" name="Text 17"/>
          <p:cNvSpPr txBox="1"/>
          <p:nvPr/>
        </p:nvSpPr>
        <p:spPr>
          <a:xfrm>
            <a:off x="7424928" y="1600200"/>
            <a:ext cx="1234440" cy="274320"/>
          </a:xfrm>
          <a:prstGeom prst="rect">
            <a:avLst/>
          </a:prstGeom>
          <a:noFill/>
          <a:ln/>
        </p:spPr>
        <p:txBody>
          <a:bodyPr wrap="square" lIns="0" tIns="0" rIns="0" bIns="0" rtlCol="0" anchor="t"/>
          <a:lstStyle/>
          <a:p>
            <a:pPr indent="0" marL="0">
              <a:buNone/>
            </a:pPr>
            <a:r>
              <a:rPr lang="en-US" sz="850" dirty="0">
                <a:solidFill>
                  <a:srgbClr val="5A6B7D"/>
                </a:solidFill>
                <a:latin typeface="Calibri" pitchFamily="34" charset="0"/>
                <a:ea typeface="Calibri" pitchFamily="34" charset="-122"/>
                <a:cs typeface="Calibri" pitchFamily="34" charset="-120"/>
              </a:rPr>
              <a:t>Ceragon radio</a:t>
            </a:r>
            <a:endParaRPr lang="en-US" sz="850" dirty="0"/>
          </a:p>
        </p:txBody>
      </p:sp>
      <p:sp>
        <p:nvSpPr>
          <p:cNvPr id="24" name="Shape 18"/>
          <p:cNvSpPr/>
          <p:nvPr/>
        </p:nvSpPr>
        <p:spPr>
          <a:xfrm flipV="1">
            <a:off x="2286000" y="1783080"/>
            <a:ext cx="1371600" cy="731520"/>
          </a:xfrm>
          <a:prstGeom prst="line">
            <a:avLst/>
          </a:prstGeom>
          <a:noFill/>
          <a:ln w="22225">
            <a:solidFill>
              <a:srgbClr val="0B1D33"/>
            </a:solidFill>
            <a:prstDash val="solid"/>
            <a:headEnd type="none"/>
            <a:tailEnd type="triangle"/>
          </a:ln>
        </p:spPr>
      </p:sp>
      <p:sp>
        <p:nvSpPr>
          <p:cNvPr id="25" name="Shape 19"/>
          <p:cNvSpPr/>
          <p:nvPr/>
        </p:nvSpPr>
        <p:spPr>
          <a:xfrm>
            <a:off x="2286000" y="2880360"/>
            <a:ext cx="1371600" cy="1280160"/>
          </a:xfrm>
          <a:prstGeom prst="line">
            <a:avLst/>
          </a:prstGeom>
          <a:noFill/>
          <a:ln w="22225">
            <a:solidFill>
              <a:srgbClr val="0B1D33"/>
            </a:solidFill>
            <a:prstDash val="solid"/>
            <a:headEnd type="none"/>
            <a:tailEnd type="triangle"/>
          </a:ln>
        </p:spPr>
      </p:sp>
      <p:sp>
        <p:nvSpPr>
          <p:cNvPr id="26" name="Shape 20"/>
          <p:cNvSpPr/>
          <p:nvPr/>
        </p:nvSpPr>
        <p:spPr>
          <a:xfrm>
            <a:off x="4572000" y="1965960"/>
            <a:ext cx="0" cy="2011680"/>
          </a:xfrm>
          <a:prstGeom prst="line">
            <a:avLst/>
          </a:prstGeom>
          <a:noFill/>
          <a:ln w="22225">
            <a:solidFill>
              <a:srgbClr val="0B1D33"/>
            </a:solidFill>
            <a:prstDash val="solid"/>
            <a:headEnd type="triangle"/>
            <a:tailEnd type="triangle"/>
          </a:ln>
        </p:spPr>
      </p:sp>
      <p:sp>
        <p:nvSpPr>
          <p:cNvPr id="27" name="Shape 21"/>
          <p:cNvSpPr/>
          <p:nvPr/>
        </p:nvSpPr>
        <p:spPr>
          <a:xfrm>
            <a:off x="5486400" y="1600200"/>
            <a:ext cx="1371600" cy="0"/>
          </a:xfrm>
          <a:prstGeom prst="line">
            <a:avLst/>
          </a:prstGeom>
          <a:noFill/>
          <a:ln w="22225">
            <a:solidFill>
              <a:srgbClr val="0B1D33"/>
            </a:solidFill>
            <a:prstDash val="solid"/>
            <a:headEnd type="none"/>
            <a:tailEnd type="triangle"/>
          </a:ln>
        </p:spPr>
      </p:sp>
      <p:sp>
        <p:nvSpPr>
          <p:cNvPr id="28" name="Shape 22"/>
          <p:cNvSpPr/>
          <p:nvPr/>
        </p:nvSpPr>
        <p:spPr>
          <a:xfrm>
            <a:off x="457200" y="1234440"/>
            <a:ext cx="3017520" cy="457200"/>
          </a:xfrm>
          <a:prstGeom prst="roundRect">
            <a:avLst>
              <a:gd name="adj" fmla="val 12000"/>
            </a:avLst>
          </a:prstGeom>
          <a:solidFill>
            <a:srgbClr val="F2F5F8"/>
          </a:solidFill>
          <a:ln w="12700">
            <a:solidFill>
              <a:srgbClr val="7C5CFF"/>
            </a:solidFill>
            <a:prstDash val="solid"/>
          </a:ln>
        </p:spPr>
      </p:sp>
      <p:sp>
        <p:nvSpPr>
          <p:cNvPr id="29" name="Text 23"/>
          <p:cNvSpPr txBox="1"/>
          <p:nvPr/>
        </p:nvSpPr>
        <p:spPr>
          <a:xfrm>
            <a:off x="530352" y="1234440"/>
            <a:ext cx="2907792" cy="457200"/>
          </a:xfrm>
          <a:prstGeom prst="rect">
            <a:avLst/>
          </a:prstGeom>
          <a:noFill/>
          <a:ln/>
        </p:spPr>
        <p:txBody>
          <a:bodyPr wrap="square" lIns="0" tIns="0" rIns="0" bIns="0" rtlCol="0" anchor="ctr"/>
          <a:lstStyle/>
          <a:p>
            <a:pPr indent="0" marL="0">
              <a:buNone/>
            </a:pPr>
            <a:r>
              <a:rPr lang="en-US" sz="850" b="1" dirty="0">
                <a:solidFill>
                  <a:srgbClr val="7C5CFF"/>
                </a:solidFill>
                <a:latin typeface="Calibri" pitchFamily="34" charset="0"/>
                <a:ea typeface="Calibri" pitchFamily="34" charset="-122"/>
                <a:cs typeface="Calibri" pitchFamily="34" charset="-120"/>
              </a:rPr>
              <a:t>① </a:t>
            </a:r>
            <a:pPr indent="0" marL="0">
              <a:buNone/>
            </a:pPr>
            <a:r>
              <a:rPr lang="en-US" sz="850" dirty="0">
                <a:solidFill>
                  <a:srgbClr val="1A2B3C"/>
                </a:solidFill>
                <a:latin typeface="Calibri" pitchFamily="34" charset="0"/>
                <a:ea typeface="Calibri" pitchFamily="34" charset="-122"/>
                <a:cs typeface="Calibri" pitchFamily="34" charset="-120"/>
              </a:rPr>
              <a:t>TMF921 · TS 28.312 · IETF L3NM / slice NBI</a:t>
            </a:r>
            <a:endParaRPr lang="en-US" sz="850" dirty="0"/>
          </a:p>
        </p:txBody>
      </p:sp>
      <p:sp>
        <p:nvSpPr>
          <p:cNvPr id="30" name="Shape 24"/>
          <p:cNvSpPr/>
          <p:nvPr/>
        </p:nvSpPr>
        <p:spPr>
          <a:xfrm>
            <a:off x="457200" y="3840480"/>
            <a:ext cx="3017520" cy="457200"/>
          </a:xfrm>
          <a:prstGeom prst="roundRect">
            <a:avLst>
              <a:gd name="adj" fmla="val 12000"/>
            </a:avLst>
          </a:prstGeom>
          <a:solidFill>
            <a:srgbClr val="F2F5F8"/>
          </a:solidFill>
          <a:ln w="12700">
            <a:solidFill>
              <a:srgbClr val="E8912D"/>
            </a:solidFill>
            <a:prstDash val="solid"/>
          </a:ln>
        </p:spPr>
      </p:sp>
      <p:sp>
        <p:nvSpPr>
          <p:cNvPr id="31" name="Text 25"/>
          <p:cNvSpPr txBox="1"/>
          <p:nvPr/>
        </p:nvSpPr>
        <p:spPr>
          <a:xfrm>
            <a:off x="530352" y="3840480"/>
            <a:ext cx="2907792" cy="457200"/>
          </a:xfrm>
          <a:prstGeom prst="rect">
            <a:avLst/>
          </a:prstGeom>
          <a:noFill/>
          <a:ln/>
        </p:spPr>
        <p:txBody>
          <a:bodyPr wrap="square" lIns="0" tIns="0" rIns="0" bIns="0" rtlCol="0" anchor="ctr"/>
          <a:lstStyle/>
          <a:p>
            <a:pPr indent="0" marL="0">
              <a:buNone/>
            </a:pPr>
            <a:r>
              <a:rPr lang="en-US" sz="850" b="1" dirty="0">
                <a:solidFill>
                  <a:srgbClr val="E8912D"/>
                </a:solidFill>
                <a:latin typeface="Calibri" pitchFamily="34" charset="0"/>
                <a:ea typeface="Calibri" pitchFamily="34" charset="-122"/>
                <a:cs typeface="Calibri" pitchFamily="34" charset="-120"/>
              </a:rPr>
              <a:t>② </a:t>
            </a:r>
            <a:pPr indent="0" marL="0">
              <a:buNone/>
            </a:pPr>
            <a:r>
              <a:rPr lang="en-US" sz="850" dirty="0">
                <a:solidFill>
                  <a:srgbClr val="1A2B3C"/>
                </a:solidFill>
                <a:latin typeface="Calibri" pitchFamily="34" charset="0"/>
                <a:ea typeface="Calibri" pitchFamily="34" charset="-122"/>
                <a:cs typeface="Calibri" pitchFamily="34" charset="-120"/>
              </a:rPr>
              <a:t>TS 28.561 NDTJob · Y.3092 NDT-m · CAPIF</a:t>
            </a:r>
            <a:endParaRPr lang="en-US" sz="850" dirty="0"/>
          </a:p>
        </p:txBody>
      </p:sp>
      <p:sp>
        <p:nvSpPr>
          <p:cNvPr id="32" name="Shape 26"/>
          <p:cNvSpPr/>
          <p:nvPr/>
        </p:nvSpPr>
        <p:spPr>
          <a:xfrm>
            <a:off x="4754880" y="2697480"/>
            <a:ext cx="3931920" cy="457200"/>
          </a:xfrm>
          <a:prstGeom prst="roundRect">
            <a:avLst>
              <a:gd name="adj" fmla="val 12000"/>
            </a:avLst>
          </a:prstGeom>
          <a:solidFill>
            <a:srgbClr val="F2F5F8"/>
          </a:solidFill>
          <a:ln w="12700">
            <a:solidFill>
              <a:srgbClr val="0FA3B1"/>
            </a:solidFill>
            <a:prstDash val="solid"/>
          </a:ln>
        </p:spPr>
      </p:sp>
      <p:sp>
        <p:nvSpPr>
          <p:cNvPr id="33" name="Text 27"/>
          <p:cNvSpPr txBox="1"/>
          <p:nvPr/>
        </p:nvSpPr>
        <p:spPr>
          <a:xfrm>
            <a:off x="4828032" y="2697480"/>
            <a:ext cx="3822192" cy="457200"/>
          </a:xfrm>
          <a:prstGeom prst="rect">
            <a:avLst/>
          </a:prstGeom>
          <a:noFill/>
          <a:ln/>
        </p:spPr>
        <p:txBody>
          <a:bodyPr wrap="square" lIns="0" tIns="0" rIns="0" bIns="0" rtlCol="0" anchor="ctr"/>
          <a:lstStyle/>
          <a:p>
            <a:pPr indent="0" marL="0">
              <a:buNone/>
            </a:pPr>
            <a:r>
              <a:rPr lang="en-US" sz="850" b="1" dirty="0">
                <a:solidFill>
                  <a:srgbClr val="0FA3B1"/>
                </a:solidFill>
                <a:latin typeface="Calibri" pitchFamily="34" charset="0"/>
                <a:ea typeface="Calibri" pitchFamily="34" charset="-122"/>
                <a:cs typeface="Calibri" pitchFamily="34" charset="-120"/>
              </a:rPr>
              <a:t>③ </a:t>
            </a:r>
            <a:pPr indent="0" marL="0">
              <a:buNone/>
            </a:pPr>
            <a:r>
              <a:rPr lang="en-US" sz="850" dirty="0">
                <a:solidFill>
                  <a:srgbClr val="1A2B3C"/>
                </a:solidFill>
                <a:latin typeface="Calibri" pitchFamily="34" charset="0"/>
                <a:ea typeface="Calibri" pitchFamily="34" charset="-122"/>
                <a:cs typeface="Calibri" pitchFamily="34" charset="-120"/>
              </a:rPr>
              <a:t>RFC 8345 · RFC 8561 · YANG-Push / gNMI · Y.3092 NDT-p</a:t>
            </a:r>
            <a:endParaRPr lang="en-US" sz="850" dirty="0"/>
          </a:p>
        </p:txBody>
      </p:sp>
      <p:sp>
        <p:nvSpPr>
          <p:cNvPr id="34" name="Shape 28"/>
          <p:cNvSpPr/>
          <p:nvPr/>
        </p:nvSpPr>
        <p:spPr>
          <a:xfrm>
            <a:off x="5669280" y="2103120"/>
            <a:ext cx="3017520" cy="457200"/>
          </a:xfrm>
          <a:prstGeom prst="roundRect">
            <a:avLst>
              <a:gd name="adj" fmla="val 12000"/>
            </a:avLst>
          </a:prstGeom>
          <a:solidFill>
            <a:srgbClr val="F2F5F8"/>
          </a:solidFill>
          <a:ln w="12700">
            <a:solidFill>
              <a:srgbClr val="22A06B"/>
            </a:solidFill>
            <a:prstDash val="solid"/>
          </a:ln>
        </p:spPr>
      </p:sp>
      <p:sp>
        <p:nvSpPr>
          <p:cNvPr id="35" name="Text 29"/>
          <p:cNvSpPr txBox="1"/>
          <p:nvPr/>
        </p:nvSpPr>
        <p:spPr>
          <a:xfrm>
            <a:off x="5742432" y="2103120"/>
            <a:ext cx="2907792" cy="457200"/>
          </a:xfrm>
          <a:prstGeom prst="rect">
            <a:avLst/>
          </a:prstGeom>
          <a:noFill/>
          <a:ln/>
        </p:spPr>
        <p:txBody>
          <a:bodyPr wrap="square" lIns="0" tIns="0" rIns="0" bIns="0" rtlCol="0" anchor="ctr"/>
          <a:lstStyle/>
          <a:p>
            <a:pPr indent="0" marL="0">
              <a:buNone/>
            </a:pPr>
            <a:r>
              <a:rPr lang="en-US" sz="850" b="1" dirty="0">
                <a:solidFill>
                  <a:srgbClr val="22A06B"/>
                </a:solidFill>
                <a:latin typeface="Calibri" pitchFamily="34" charset="0"/>
                <a:ea typeface="Calibri" pitchFamily="34" charset="-122"/>
                <a:cs typeface="Calibri" pitchFamily="34" charset="-120"/>
              </a:rPr>
              <a:t>④ </a:t>
            </a:r>
            <a:pPr indent="0" marL="0">
              <a:buNone/>
            </a:pPr>
            <a:r>
              <a:rPr lang="en-US" sz="850" dirty="0">
                <a:solidFill>
                  <a:srgbClr val="1A2B3C"/>
                </a:solidFill>
                <a:latin typeface="Calibri" pitchFamily="34" charset="0"/>
                <a:ea typeface="Calibri" pitchFamily="34" charset="-122"/>
                <a:cs typeface="Calibri" pitchFamily="34" charset="-120"/>
              </a:rPr>
              <a:t>RESTCONF 8040/8527 · YANG · RFC 8561 · TLS</a:t>
            </a:r>
            <a:endParaRPr lang="en-US" sz="850" dirty="0"/>
          </a:p>
        </p:txBody>
      </p:sp>
      <p:sp>
        <p:nvSpPr>
          <p:cNvPr id="36" name="Shape 30"/>
          <p:cNvSpPr/>
          <p:nvPr/>
        </p:nvSpPr>
        <p:spPr>
          <a:xfrm>
            <a:off x="5760720" y="3337560"/>
            <a:ext cx="2926080" cy="1371600"/>
          </a:xfrm>
          <a:prstGeom prst="roundRect">
            <a:avLst>
              <a:gd name="adj" fmla="val 5333"/>
            </a:avLst>
          </a:prstGeom>
          <a:solidFill>
            <a:srgbClr val="F2F5F8"/>
          </a:solidFill>
          <a:ln w="12700">
            <a:solidFill>
              <a:srgbClr val="F2F5F8"/>
            </a:solidFill>
            <a:prstDash val="solid"/>
          </a:ln>
        </p:spPr>
      </p:sp>
      <p:sp>
        <p:nvSpPr>
          <p:cNvPr id="37" name="Text 31"/>
          <p:cNvSpPr txBox="1"/>
          <p:nvPr/>
        </p:nvSpPr>
        <p:spPr>
          <a:xfrm>
            <a:off x="5897880" y="3401568"/>
            <a:ext cx="2743200" cy="228600"/>
          </a:xfrm>
          <a:prstGeom prst="rect">
            <a:avLst/>
          </a:prstGeom>
          <a:noFill/>
          <a:ln/>
        </p:spPr>
        <p:txBody>
          <a:bodyPr wrap="square" lIns="0" tIns="0" rIns="0" bIns="0" rtlCol="0" anchor="t"/>
          <a:lstStyle/>
          <a:p>
            <a:pPr indent="0" marL="0">
              <a:buNone/>
            </a:pPr>
            <a:r>
              <a:rPr lang="en-US" sz="1000" b="1" dirty="0">
                <a:solidFill>
                  <a:srgbClr val="0B1D33"/>
                </a:solidFill>
                <a:latin typeface="Arial" pitchFamily="34" charset="0"/>
                <a:ea typeface="Arial" pitchFamily="34" charset="-122"/>
                <a:cs typeface="Arial" pitchFamily="34" charset="-120"/>
              </a:rPr>
              <a:t>In use today</a:t>
            </a:r>
            <a:endParaRPr lang="en-US" sz="1000" dirty="0"/>
          </a:p>
        </p:txBody>
      </p:sp>
      <p:sp>
        <p:nvSpPr>
          <p:cNvPr id="38" name="Text 32"/>
          <p:cNvSpPr txBox="1"/>
          <p:nvPr/>
        </p:nvSpPr>
        <p:spPr>
          <a:xfrm>
            <a:off x="5897880" y="3639312"/>
            <a:ext cx="2743200" cy="1005840"/>
          </a:xfrm>
          <a:prstGeom prst="rect">
            <a:avLst/>
          </a:prstGeom>
          <a:noFill/>
          <a:ln/>
        </p:spPr>
        <p:txBody>
          <a:bodyPr wrap="square" lIns="0" tIns="0" rIns="0" bIns="0" rtlCol="0" anchor="t"/>
          <a:lstStyle/>
          <a:p>
            <a:pPr indent="0" marL="0">
              <a:spcAft>
                <a:spcPts val="200"/>
              </a:spcAft>
              <a:buNone/>
            </a:pPr>
            <a:r>
              <a:rPr lang="en-US" sz="950" dirty="0">
                <a:solidFill>
                  <a:srgbClr val="1A2B3C"/>
                </a:solidFill>
                <a:latin typeface="Calibri" pitchFamily="34" charset="0"/>
                <a:ea typeface="Calibri" pitchFamily="34" charset="-122"/>
                <a:cs typeface="Calibri" pitchFamily="34" charset="-120"/>
              </a:rPr>
              <a:t>① TFS native REST NBI</a:t>
            </a:r>
            <a:endParaRPr lang="en-US" sz="950" dirty="0"/>
          </a:p>
          <a:p>
            <a:pPr indent="0" marL="0">
              <a:spcAft>
                <a:spcPts val="200"/>
              </a:spcAft>
              <a:buNone/>
            </a:pPr>
            <a:r>
              <a:rPr lang="en-US" sz="950" dirty="0">
                <a:solidFill>
                  <a:srgbClr val="1A2B3C"/>
                </a:solidFill>
                <a:latin typeface="Calibri" pitchFamily="34" charset="0"/>
                <a:ea typeface="Calibri" pitchFamily="34" charset="-122"/>
                <a:cs typeface="Calibri" pitchFamily="34" charset="-120"/>
              </a:rPr>
              <a:t>② SSH + JSON, custom REST :9100</a:t>
            </a:r>
            <a:endParaRPr lang="en-US" sz="950" dirty="0"/>
          </a:p>
          <a:p>
            <a:pPr indent="0" marL="0">
              <a:spcAft>
                <a:spcPts val="200"/>
              </a:spcAft>
              <a:buNone/>
            </a:pPr>
            <a:r>
              <a:rPr lang="en-US" sz="950" dirty="0">
                <a:solidFill>
                  <a:srgbClr val="1A2B3C"/>
                </a:solidFill>
                <a:latin typeface="Calibri" pitchFamily="34" charset="0"/>
                <a:ea typeface="Calibri" pitchFamily="34" charset="-122"/>
                <a:cs typeface="Calibri" pitchFamily="34" charset="-120"/>
              </a:rPr>
              <a:t>③ TFS REST polling every 1 s</a:t>
            </a:r>
            <a:endParaRPr lang="en-US" sz="950" dirty="0"/>
          </a:p>
          <a:p>
            <a:pPr indent="0" marL="0">
              <a:spcAft>
                <a:spcPts val="200"/>
              </a:spcAft>
              <a:buNone/>
            </a:pPr>
            <a:r>
              <a:rPr lang="en-US" sz="950" dirty="0">
                <a:solidFill>
                  <a:srgbClr val="1A2B3C"/>
                </a:solidFill>
                <a:latin typeface="Calibri" pitchFamily="34" charset="0"/>
                <a:ea typeface="Calibri" pitchFamily="34" charset="-122"/>
                <a:cs typeface="Calibri" pitchFamily="34" charset="-120"/>
              </a:rPr>
              <a:t>④ RESTCONF candidate → commit</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000" b="1" spc="200" kern="0" dirty="0">
                <a:solidFill>
                  <a:srgbClr val="0FA3B1"/>
                </a:solidFill>
                <a:latin typeface="Arial" pitchFamily="34" charset="0"/>
                <a:ea typeface="Arial" pitchFamily="34" charset="-122"/>
                <a:cs typeface="Arial" pitchFamily="34" charset="-120"/>
              </a:rPr>
              <a:t>STANDARDS BY INTERFACE</a:t>
            </a:r>
            <a:endParaRPr lang="en-US" sz="10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400" b="1" dirty="0">
                <a:solidFill>
                  <a:srgbClr val="0B1D33"/>
                </a:solidFill>
                <a:latin typeface="Arial" pitchFamily="34" charset="0"/>
                <a:ea typeface="Arial" pitchFamily="34" charset="-122"/>
                <a:cs typeface="Arial" pitchFamily="34" charset="-120"/>
              </a:rPr>
              <a:t>What we use, what TFS offers, what to adopt</a:t>
            </a:r>
            <a:endParaRPr lang="en-US" sz="2400" dirty="0"/>
          </a:p>
        </p:txBody>
      </p:sp>
      <p:sp>
        <p:nvSpPr>
          <p:cNvPr id="4" name="Shape 2"/>
          <p:cNvSpPr/>
          <p:nvPr/>
        </p:nvSpPr>
        <p:spPr>
          <a:xfrm>
            <a:off x="457200" y="1188720"/>
            <a:ext cx="1988820" cy="3584448"/>
          </a:xfrm>
          <a:prstGeom prst="roundRect">
            <a:avLst>
              <a:gd name="adj" fmla="val 3678"/>
            </a:avLst>
          </a:prstGeom>
          <a:solidFill>
            <a:srgbClr val="F2F5F8"/>
          </a:solidFill>
          <a:ln w="12700">
            <a:solidFill>
              <a:srgbClr val="F2F5F8"/>
            </a:solidFill>
            <a:prstDash val="solid"/>
          </a:ln>
        </p:spPr>
      </p:sp>
      <p:sp>
        <p:nvSpPr>
          <p:cNvPr id="5" name="Text 3"/>
          <p:cNvSpPr txBox="1"/>
          <p:nvPr/>
        </p:nvSpPr>
        <p:spPr>
          <a:xfrm>
            <a:off x="566928" y="1280160"/>
            <a:ext cx="1805940" cy="292608"/>
          </a:xfrm>
          <a:prstGeom prst="rect">
            <a:avLst/>
          </a:prstGeom>
          <a:noFill/>
          <a:ln/>
        </p:spPr>
        <p:txBody>
          <a:bodyPr wrap="square" lIns="0" tIns="0" rIns="0" bIns="0" rtlCol="0" anchor="ctr"/>
          <a:lstStyle/>
          <a:p>
            <a:pPr indent="0" marL="0">
              <a:buNone/>
            </a:pPr>
            <a:r>
              <a:rPr lang="en-US" sz="1200" b="1" dirty="0">
                <a:solidFill>
                  <a:srgbClr val="7C5CFF"/>
                </a:solidFill>
                <a:latin typeface="Arial" pitchFamily="34" charset="0"/>
                <a:ea typeface="Arial" pitchFamily="34" charset="-122"/>
                <a:cs typeface="Arial" pitchFamily="34" charset="-120"/>
              </a:rPr>
              <a:t>① </a:t>
            </a:r>
            <a:pPr indent="0" marL="0">
              <a:buNone/>
            </a:pPr>
            <a:r>
              <a:rPr lang="en-US" sz="1200" b="1" dirty="0">
                <a:solidFill>
                  <a:srgbClr val="0B1D33"/>
                </a:solidFill>
                <a:latin typeface="Arial" pitchFamily="34" charset="0"/>
                <a:ea typeface="Arial" pitchFamily="34" charset="-122"/>
                <a:cs typeface="Arial" pitchFamily="34" charset="-120"/>
              </a:rPr>
              <a:t>Agents → TFS</a:t>
            </a:r>
            <a:endParaRPr lang="en-US" sz="1200" dirty="0"/>
          </a:p>
        </p:txBody>
      </p:sp>
      <p:sp>
        <p:nvSpPr>
          <p:cNvPr id="6" name="Shape 4"/>
          <p:cNvSpPr/>
          <p:nvPr/>
        </p:nvSpPr>
        <p:spPr>
          <a:xfrm>
            <a:off x="548640" y="1691640"/>
            <a:ext cx="1805940" cy="365760"/>
          </a:xfrm>
          <a:prstGeom prst="roundRect">
            <a:avLst>
              <a:gd name="adj" fmla="val 12500"/>
            </a:avLst>
          </a:prstGeom>
          <a:solidFill>
            <a:srgbClr val="FFFFFF"/>
          </a:solidFill>
          <a:ln w="12700">
            <a:solidFill>
              <a:srgbClr val="FFFFFF"/>
            </a:solidFill>
            <a:prstDash val="solid"/>
          </a:ln>
        </p:spPr>
      </p:sp>
      <p:sp>
        <p:nvSpPr>
          <p:cNvPr id="7" name="Shape 5"/>
          <p:cNvSpPr/>
          <p:nvPr/>
        </p:nvSpPr>
        <p:spPr>
          <a:xfrm>
            <a:off x="603504" y="1783080"/>
            <a:ext cx="566928" cy="182880"/>
          </a:xfrm>
          <a:prstGeom prst="roundRect">
            <a:avLst>
              <a:gd name="adj" fmla="val 50000"/>
            </a:avLst>
          </a:prstGeom>
          <a:solidFill>
            <a:srgbClr val="22A06B"/>
          </a:solidFill>
          <a:ln w="9525">
            <a:solidFill>
              <a:srgbClr val="22A06B"/>
            </a:solidFill>
            <a:prstDash val="solid"/>
          </a:ln>
        </p:spPr>
      </p:sp>
      <p:sp>
        <p:nvSpPr>
          <p:cNvPr id="8" name="Text 6"/>
          <p:cNvSpPr txBox="1"/>
          <p:nvPr/>
        </p:nvSpPr>
        <p:spPr>
          <a:xfrm>
            <a:off x="603504" y="1783080"/>
            <a:ext cx="566928" cy="182880"/>
          </a:xfrm>
          <a:prstGeom prst="rect">
            <a:avLst/>
          </a:prstGeom>
          <a:noFill/>
          <a:ln/>
        </p:spPr>
        <p:txBody>
          <a:bodyPr wrap="square" lIns="0" tIns="0" rIns="0" bIns="0" rtlCol="0" anchor="ctr"/>
          <a:lstStyle/>
          <a:p>
            <a:pPr algn="ctr" indent="0" marL="0">
              <a:buNone/>
            </a:pPr>
            <a:r>
              <a:rPr lang="en-US" sz="550" b="1" dirty="0">
                <a:solidFill>
                  <a:srgbClr val="FFFFFF"/>
                </a:solidFill>
                <a:latin typeface="Arial" pitchFamily="34" charset="0"/>
                <a:ea typeface="Arial" pitchFamily="34" charset="-122"/>
                <a:cs typeface="Arial" pitchFamily="34" charset="-120"/>
              </a:rPr>
              <a:t>IN USE</a:t>
            </a:r>
            <a:endParaRPr lang="en-US" sz="550" dirty="0"/>
          </a:p>
        </p:txBody>
      </p:sp>
      <p:sp>
        <p:nvSpPr>
          <p:cNvPr id="9" name="Text 7"/>
          <p:cNvSpPr txBox="1"/>
          <p:nvPr/>
        </p:nvSpPr>
        <p:spPr>
          <a:xfrm>
            <a:off x="1225296" y="1691640"/>
            <a:ext cx="1110996" cy="365760"/>
          </a:xfrm>
          <a:prstGeom prst="rect">
            <a:avLst/>
          </a:prstGeom>
          <a:noFill/>
          <a:ln/>
        </p:spPr>
        <p:txBody>
          <a:bodyPr wrap="square" lIns="0" tIns="0" rIns="0" bIns="0" rtlCol="0" anchor="ctr"/>
          <a:lstStyle/>
          <a:p>
            <a:pPr indent="0" marL="0">
              <a:buNone/>
            </a:pPr>
            <a:r>
              <a:rPr lang="en-US" sz="850" dirty="0">
                <a:solidFill>
                  <a:srgbClr val="1A2B3C"/>
                </a:solidFill>
                <a:latin typeface="Calibri" pitchFamily="34" charset="0"/>
                <a:ea typeface="Calibri" pitchFamily="34" charset="-122"/>
                <a:cs typeface="Calibri" pitchFamily="34" charset="-120"/>
              </a:rPr>
              <a:t>TFS REST NBI</a:t>
            </a:r>
            <a:endParaRPr lang="en-US" sz="850" dirty="0"/>
          </a:p>
        </p:txBody>
      </p:sp>
      <p:sp>
        <p:nvSpPr>
          <p:cNvPr id="10" name="Shape 8"/>
          <p:cNvSpPr/>
          <p:nvPr/>
        </p:nvSpPr>
        <p:spPr>
          <a:xfrm>
            <a:off x="548640" y="2121408"/>
            <a:ext cx="1805940" cy="365760"/>
          </a:xfrm>
          <a:prstGeom prst="roundRect">
            <a:avLst>
              <a:gd name="adj" fmla="val 12500"/>
            </a:avLst>
          </a:prstGeom>
          <a:solidFill>
            <a:srgbClr val="FFFFFF"/>
          </a:solidFill>
          <a:ln w="12700">
            <a:solidFill>
              <a:srgbClr val="FFFFFF"/>
            </a:solidFill>
            <a:prstDash val="solid"/>
          </a:ln>
        </p:spPr>
      </p:sp>
      <p:sp>
        <p:nvSpPr>
          <p:cNvPr id="11" name="Shape 9"/>
          <p:cNvSpPr/>
          <p:nvPr/>
        </p:nvSpPr>
        <p:spPr>
          <a:xfrm>
            <a:off x="603504" y="2212848"/>
            <a:ext cx="566928" cy="182880"/>
          </a:xfrm>
          <a:prstGeom prst="roundRect">
            <a:avLst>
              <a:gd name="adj" fmla="val 50000"/>
            </a:avLst>
          </a:prstGeom>
          <a:solidFill>
            <a:srgbClr val="0B1D33"/>
          </a:solidFill>
          <a:ln w="9525">
            <a:solidFill>
              <a:srgbClr val="0B1D33"/>
            </a:solidFill>
            <a:prstDash val="solid"/>
          </a:ln>
        </p:spPr>
      </p:sp>
      <p:sp>
        <p:nvSpPr>
          <p:cNvPr id="12" name="Text 10"/>
          <p:cNvSpPr txBox="1"/>
          <p:nvPr/>
        </p:nvSpPr>
        <p:spPr>
          <a:xfrm>
            <a:off x="603504" y="2212848"/>
            <a:ext cx="566928" cy="182880"/>
          </a:xfrm>
          <a:prstGeom prst="rect">
            <a:avLst/>
          </a:prstGeom>
          <a:noFill/>
          <a:ln/>
        </p:spPr>
        <p:txBody>
          <a:bodyPr wrap="square" lIns="0" tIns="0" rIns="0" bIns="0" rtlCol="0" anchor="ctr"/>
          <a:lstStyle/>
          <a:p>
            <a:pPr algn="ctr" indent="0" marL="0">
              <a:buNone/>
            </a:pPr>
            <a:r>
              <a:rPr lang="en-US" sz="550" b="1" dirty="0">
                <a:solidFill>
                  <a:srgbClr val="FFFFFF"/>
                </a:solidFill>
                <a:latin typeface="Arial" pitchFamily="34" charset="0"/>
                <a:ea typeface="Arial" pitchFamily="34" charset="-122"/>
                <a:cs typeface="Arial" pitchFamily="34" charset="-120"/>
              </a:rPr>
              <a:t>ADOPT</a:t>
            </a:r>
            <a:endParaRPr lang="en-US" sz="550" dirty="0"/>
          </a:p>
        </p:txBody>
      </p:sp>
      <p:sp>
        <p:nvSpPr>
          <p:cNvPr id="13" name="Text 11"/>
          <p:cNvSpPr txBox="1"/>
          <p:nvPr/>
        </p:nvSpPr>
        <p:spPr>
          <a:xfrm>
            <a:off x="1225296" y="2121408"/>
            <a:ext cx="1110996" cy="365760"/>
          </a:xfrm>
          <a:prstGeom prst="rect">
            <a:avLst/>
          </a:prstGeom>
          <a:noFill/>
          <a:ln/>
        </p:spPr>
        <p:txBody>
          <a:bodyPr wrap="square" lIns="0" tIns="0" rIns="0" bIns="0" rtlCol="0" anchor="ctr"/>
          <a:lstStyle/>
          <a:p>
            <a:pPr indent="0" marL="0">
              <a:buNone/>
            </a:pPr>
            <a:r>
              <a:rPr lang="en-US" sz="850" dirty="0">
                <a:solidFill>
                  <a:srgbClr val="1A2B3C"/>
                </a:solidFill>
                <a:latin typeface="Calibri" pitchFamily="34" charset="0"/>
                <a:ea typeface="Calibri" pitchFamily="34" charset="-122"/>
                <a:cs typeface="Calibri" pitchFamily="34" charset="-120"/>
              </a:rPr>
              <a:t>TMF921 intent API</a:t>
            </a:r>
            <a:endParaRPr lang="en-US" sz="850" dirty="0"/>
          </a:p>
        </p:txBody>
      </p:sp>
      <p:sp>
        <p:nvSpPr>
          <p:cNvPr id="14" name="Shape 12"/>
          <p:cNvSpPr/>
          <p:nvPr/>
        </p:nvSpPr>
        <p:spPr>
          <a:xfrm>
            <a:off x="548640" y="2551176"/>
            <a:ext cx="1805940" cy="365760"/>
          </a:xfrm>
          <a:prstGeom prst="roundRect">
            <a:avLst>
              <a:gd name="adj" fmla="val 12500"/>
            </a:avLst>
          </a:prstGeom>
          <a:solidFill>
            <a:srgbClr val="FFFFFF"/>
          </a:solidFill>
          <a:ln w="12700">
            <a:solidFill>
              <a:srgbClr val="FFFFFF"/>
            </a:solidFill>
            <a:prstDash val="solid"/>
          </a:ln>
        </p:spPr>
      </p:sp>
      <p:sp>
        <p:nvSpPr>
          <p:cNvPr id="15" name="Shape 13"/>
          <p:cNvSpPr/>
          <p:nvPr/>
        </p:nvSpPr>
        <p:spPr>
          <a:xfrm>
            <a:off x="603504" y="2642616"/>
            <a:ext cx="566928" cy="182880"/>
          </a:xfrm>
          <a:prstGeom prst="roundRect">
            <a:avLst>
              <a:gd name="adj" fmla="val 50000"/>
            </a:avLst>
          </a:prstGeom>
          <a:solidFill>
            <a:srgbClr val="0B1D33"/>
          </a:solidFill>
          <a:ln w="9525">
            <a:solidFill>
              <a:srgbClr val="0B1D33"/>
            </a:solidFill>
            <a:prstDash val="solid"/>
          </a:ln>
        </p:spPr>
      </p:sp>
      <p:sp>
        <p:nvSpPr>
          <p:cNvPr id="16" name="Text 14"/>
          <p:cNvSpPr txBox="1"/>
          <p:nvPr/>
        </p:nvSpPr>
        <p:spPr>
          <a:xfrm>
            <a:off x="603504" y="2642616"/>
            <a:ext cx="566928" cy="182880"/>
          </a:xfrm>
          <a:prstGeom prst="rect">
            <a:avLst/>
          </a:prstGeom>
          <a:noFill/>
          <a:ln/>
        </p:spPr>
        <p:txBody>
          <a:bodyPr wrap="square" lIns="0" tIns="0" rIns="0" bIns="0" rtlCol="0" anchor="ctr"/>
          <a:lstStyle/>
          <a:p>
            <a:pPr algn="ctr" indent="0" marL="0">
              <a:buNone/>
            </a:pPr>
            <a:r>
              <a:rPr lang="en-US" sz="550" b="1" dirty="0">
                <a:solidFill>
                  <a:srgbClr val="FFFFFF"/>
                </a:solidFill>
                <a:latin typeface="Arial" pitchFamily="34" charset="0"/>
                <a:ea typeface="Arial" pitchFamily="34" charset="-122"/>
                <a:cs typeface="Arial" pitchFamily="34" charset="-120"/>
              </a:rPr>
              <a:t>ADOPT</a:t>
            </a:r>
            <a:endParaRPr lang="en-US" sz="550" dirty="0"/>
          </a:p>
        </p:txBody>
      </p:sp>
      <p:sp>
        <p:nvSpPr>
          <p:cNvPr id="17" name="Text 15"/>
          <p:cNvSpPr txBox="1"/>
          <p:nvPr/>
        </p:nvSpPr>
        <p:spPr>
          <a:xfrm>
            <a:off x="1225296" y="2551176"/>
            <a:ext cx="1110996" cy="365760"/>
          </a:xfrm>
          <a:prstGeom prst="rect">
            <a:avLst/>
          </a:prstGeom>
          <a:noFill/>
          <a:ln/>
        </p:spPr>
        <p:txBody>
          <a:bodyPr wrap="square" lIns="0" tIns="0" rIns="0" bIns="0" rtlCol="0" anchor="ctr"/>
          <a:lstStyle/>
          <a:p>
            <a:pPr indent="0" marL="0">
              <a:buNone/>
            </a:pPr>
            <a:r>
              <a:rPr lang="en-US" sz="850" dirty="0">
                <a:solidFill>
                  <a:srgbClr val="1A2B3C"/>
                </a:solidFill>
                <a:latin typeface="Calibri" pitchFamily="34" charset="0"/>
                <a:ea typeface="Calibri" pitchFamily="34" charset="-122"/>
                <a:cs typeface="Calibri" pitchFamily="34" charset="-120"/>
              </a:rPr>
              <a:t>3GPP TS 28.312 intent</a:t>
            </a:r>
            <a:endParaRPr lang="en-US" sz="850" dirty="0"/>
          </a:p>
        </p:txBody>
      </p:sp>
      <p:sp>
        <p:nvSpPr>
          <p:cNvPr id="18" name="Shape 16"/>
          <p:cNvSpPr/>
          <p:nvPr/>
        </p:nvSpPr>
        <p:spPr>
          <a:xfrm>
            <a:off x="548640" y="2980944"/>
            <a:ext cx="1805940" cy="365760"/>
          </a:xfrm>
          <a:prstGeom prst="roundRect">
            <a:avLst>
              <a:gd name="adj" fmla="val 12500"/>
            </a:avLst>
          </a:prstGeom>
          <a:solidFill>
            <a:srgbClr val="FFFFFF"/>
          </a:solidFill>
          <a:ln w="12700">
            <a:solidFill>
              <a:srgbClr val="FFFFFF"/>
            </a:solidFill>
            <a:prstDash val="solid"/>
          </a:ln>
        </p:spPr>
      </p:sp>
      <p:sp>
        <p:nvSpPr>
          <p:cNvPr id="19" name="Shape 17"/>
          <p:cNvSpPr/>
          <p:nvPr/>
        </p:nvSpPr>
        <p:spPr>
          <a:xfrm>
            <a:off x="603504" y="3072384"/>
            <a:ext cx="566928" cy="182880"/>
          </a:xfrm>
          <a:prstGeom prst="roundRect">
            <a:avLst>
              <a:gd name="adj" fmla="val 50000"/>
            </a:avLst>
          </a:prstGeom>
          <a:solidFill>
            <a:srgbClr val="0FA3B1"/>
          </a:solidFill>
          <a:ln w="9525">
            <a:solidFill>
              <a:srgbClr val="0FA3B1"/>
            </a:solidFill>
            <a:prstDash val="solid"/>
          </a:ln>
        </p:spPr>
      </p:sp>
      <p:sp>
        <p:nvSpPr>
          <p:cNvPr id="20" name="Text 18"/>
          <p:cNvSpPr txBox="1"/>
          <p:nvPr/>
        </p:nvSpPr>
        <p:spPr>
          <a:xfrm>
            <a:off x="603504" y="3072384"/>
            <a:ext cx="566928" cy="182880"/>
          </a:xfrm>
          <a:prstGeom prst="rect">
            <a:avLst/>
          </a:prstGeom>
          <a:noFill/>
          <a:ln/>
        </p:spPr>
        <p:txBody>
          <a:bodyPr wrap="square" lIns="0" tIns="0" rIns="0" bIns="0" rtlCol="0" anchor="ctr"/>
          <a:lstStyle/>
          <a:p>
            <a:pPr algn="ctr" indent="0" marL="0">
              <a:buNone/>
            </a:pPr>
            <a:r>
              <a:rPr lang="en-US" sz="550" b="1" dirty="0">
                <a:solidFill>
                  <a:srgbClr val="FFFFFF"/>
                </a:solidFill>
                <a:latin typeface="Arial" pitchFamily="34" charset="0"/>
                <a:ea typeface="Arial" pitchFamily="34" charset="-122"/>
                <a:cs typeface="Arial" pitchFamily="34" charset="-120"/>
              </a:rPr>
              <a:t>IN TFS</a:t>
            </a:r>
            <a:endParaRPr lang="en-US" sz="550" dirty="0"/>
          </a:p>
        </p:txBody>
      </p:sp>
      <p:sp>
        <p:nvSpPr>
          <p:cNvPr id="21" name="Text 19"/>
          <p:cNvSpPr txBox="1"/>
          <p:nvPr/>
        </p:nvSpPr>
        <p:spPr>
          <a:xfrm>
            <a:off x="1225296" y="2980944"/>
            <a:ext cx="1110996" cy="365760"/>
          </a:xfrm>
          <a:prstGeom prst="rect">
            <a:avLst/>
          </a:prstGeom>
          <a:noFill/>
          <a:ln/>
        </p:spPr>
        <p:txBody>
          <a:bodyPr wrap="square" lIns="0" tIns="0" rIns="0" bIns="0" rtlCol="0" anchor="ctr"/>
          <a:lstStyle/>
          <a:p>
            <a:pPr indent="0" marL="0">
              <a:buNone/>
            </a:pPr>
            <a:r>
              <a:rPr lang="en-US" sz="850" dirty="0">
                <a:solidFill>
                  <a:srgbClr val="1A2B3C"/>
                </a:solidFill>
                <a:latin typeface="Calibri" pitchFamily="34" charset="0"/>
                <a:ea typeface="Calibri" pitchFamily="34" charset="-122"/>
                <a:cs typeface="Calibri" pitchFamily="34" charset="-120"/>
              </a:rPr>
              <a:t>IETF L3NM · L2NM</a:t>
            </a:r>
            <a:endParaRPr lang="en-US" sz="850" dirty="0"/>
          </a:p>
        </p:txBody>
      </p:sp>
      <p:sp>
        <p:nvSpPr>
          <p:cNvPr id="22" name="Shape 20"/>
          <p:cNvSpPr/>
          <p:nvPr/>
        </p:nvSpPr>
        <p:spPr>
          <a:xfrm>
            <a:off x="548640" y="3410712"/>
            <a:ext cx="1805940" cy="365760"/>
          </a:xfrm>
          <a:prstGeom prst="roundRect">
            <a:avLst>
              <a:gd name="adj" fmla="val 12500"/>
            </a:avLst>
          </a:prstGeom>
          <a:solidFill>
            <a:srgbClr val="FFFFFF"/>
          </a:solidFill>
          <a:ln w="12700">
            <a:solidFill>
              <a:srgbClr val="FFFFFF"/>
            </a:solidFill>
            <a:prstDash val="solid"/>
          </a:ln>
        </p:spPr>
      </p:sp>
      <p:sp>
        <p:nvSpPr>
          <p:cNvPr id="23" name="Shape 21"/>
          <p:cNvSpPr/>
          <p:nvPr/>
        </p:nvSpPr>
        <p:spPr>
          <a:xfrm>
            <a:off x="603504" y="3502152"/>
            <a:ext cx="566928" cy="182880"/>
          </a:xfrm>
          <a:prstGeom prst="roundRect">
            <a:avLst>
              <a:gd name="adj" fmla="val 50000"/>
            </a:avLst>
          </a:prstGeom>
          <a:solidFill>
            <a:srgbClr val="0FA3B1"/>
          </a:solidFill>
          <a:ln w="9525">
            <a:solidFill>
              <a:srgbClr val="0FA3B1"/>
            </a:solidFill>
            <a:prstDash val="solid"/>
          </a:ln>
        </p:spPr>
      </p:sp>
      <p:sp>
        <p:nvSpPr>
          <p:cNvPr id="24" name="Text 22"/>
          <p:cNvSpPr txBox="1"/>
          <p:nvPr/>
        </p:nvSpPr>
        <p:spPr>
          <a:xfrm>
            <a:off x="603504" y="3502152"/>
            <a:ext cx="566928" cy="182880"/>
          </a:xfrm>
          <a:prstGeom prst="rect">
            <a:avLst/>
          </a:prstGeom>
          <a:noFill/>
          <a:ln/>
        </p:spPr>
        <p:txBody>
          <a:bodyPr wrap="square" lIns="0" tIns="0" rIns="0" bIns="0" rtlCol="0" anchor="ctr"/>
          <a:lstStyle/>
          <a:p>
            <a:pPr algn="ctr" indent="0" marL="0">
              <a:buNone/>
            </a:pPr>
            <a:r>
              <a:rPr lang="en-US" sz="550" b="1" dirty="0">
                <a:solidFill>
                  <a:srgbClr val="FFFFFF"/>
                </a:solidFill>
                <a:latin typeface="Arial" pitchFamily="34" charset="0"/>
                <a:ea typeface="Arial" pitchFamily="34" charset="-122"/>
                <a:cs typeface="Arial" pitchFamily="34" charset="-120"/>
              </a:rPr>
              <a:t>IN TFS</a:t>
            </a:r>
            <a:endParaRPr lang="en-US" sz="550" dirty="0"/>
          </a:p>
        </p:txBody>
      </p:sp>
      <p:sp>
        <p:nvSpPr>
          <p:cNvPr id="25" name="Text 23"/>
          <p:cNvSpPr txBox="1"/>
          <p:nvPr/>
        </p:nvSpPr>
        <p:spPr>
          <a:xfrm>
            <a:off x="1225296" y="3410712"/>
            <a:ext cx="1110996" cy="365760"/>
          </a:xfrm>
          <a:prstGeom prst="rect">
            <a:avLst/>
          </a:prstGeom>
          <a:noFill/>
          <a:ln/>
        </p:spPr>
        <p:txBody>
          <a:bodyPr wrap="square" lIns="0" tIns="0" rIns="0" bIns="0" rtlCol="0" anchor="ctr"/>
          <a:lstStyle/>
          <a:p>
            <a:pPr indent="0" marL="0">
              <a:buNone/>
            </a:pPr>
            <a:r>
              <a:rPr lang="en-US" sz="850" dirty="0">
                <a:solidFill>
                  <a:srgbClr val="1A2B3C"/>
                </a:solidFill>
                <a:latin typeface="Calibri" pitchFamily="34" charset="0"/>
                <a:ea typeface="Calibri" pitchFamily="34" charset="-122"/>
                <a:cs typeface="Calibri" pitchFamily="34" charset="-120"/>
              </a:rPr>
              <a:t>IETF network slice NBI</a:t>
            </a:r>
            <a:endParaRPr lang="en-US" sz="850" dirty="0"/>
          </a:p>
        </p:txBody>
      </p:sp>
      <p:sp>
        <p:nvSpPr>
          <p:cNvPr id="26" name="Shape 24"/>
          <p:cNvSpPr/>
          <p:nvPr/>
        </p:nvSpPr>
        <p:spPr>
          <a:xfrm>
            <a:off x="548640" y="3840480"/>
            <a:ext cx="1805940" cy="365760"/>
          </a:xfrm>
          <a:prstGeom prst="roundRect">
            <a:avLst>
              <a:gd name="adj" fmla="val 12500"/>
            </a:avLst>
          </a:prstGeom>
          <a:solidFill>
            <a:srgbClr val="FFFFFF"/>
          </a:solidFill>
          <a:ln w="12700">
            <a:solidFill>
              <a:srgbClr val="FFFFFF"/>
            </a:solidFill>
            <a:prstDash val="solid"/>
          </a:ln>
        </p:spPr>
      </p:sp>
      <p:sp>
        <p:nvSpPr>
          <p:cNvPr id="27" name="Shape 25"/>
          <p:cNvSpPr/>
          <p:nvPr/>
        </p:nvSpPr>
        <p:spPr>
          <a:xfrm>
            <a:off x="603504" y="3931920"/>
            <a:ext cx="566928" cy="182880"/>
          </a:xfrm>
          <a:prstGeom prst="roundRect">
            <a:avLst>
              <a:gd name="adj" fmla="val 50000"/>
            </a:avLst>
          </a:prstGeom>
          <a:solidFill>
            <a:srgbClr val="0FA3B1"/>
          </a:solidFill>
          <a:ln w="9525">
            <a:solidFill>
              <a:srgbClr val="0FA3B1"/>
            </a:solidFill>
            <a:prstDash val="solid"/>
          </a:ln>
        </p:spPr>
      </p:sp>
      <p:sp>
        <p:nvSpPr>
          <p:cNvPr id="28" name="Text 26"/>
          <p:cNvSpPr txBox="1"/>
          <p:nvPr/>
        </p:nvSpPr>
        <p:spPr>
          <a:xfrm>
            <a:off x="603504" y="3931920"/>
            <a:ext cx="566928" cy="182880"/>
          </a:xfrm>
          <a:prstGeom prst="rect">
            <a:avLst/>
          </a:prstGeom>
          <a:noFill/>
          <a:ln/>
        </p:spPr>
        <p:txBody>
          <a:bodyPr wrap="square" lIns="0" tIns="0" rIns="0" bIns="0" rtlCol="0" anchor="ctr"/>
          <a:lstStyle/>
          <a:p>
            <a:pPr algn="ctr" indent="0" marL="0">
              <a:buNone/>
            </a:pPr>
            <a:r>
              <a:rPr lang="en-US" sz="550" b="1" dirty="0">
                <a:solidFill>
                  <a:srgbClr val="FFFFFF"/>
                </a:solidFill>
                <a:latin typeface="Arial" pitchFamily="34" charset="0"/>
                <a:ea typeface="Arial" pitchFamily="34" charset="-122"/>
                <a:cs typeface="Arial" pitchFamily="34" charset="-120"/>
              </a:rPr>
              <a:t>IN TFS</a:t>
            </a:r>
            <a:endParaRPr lang="en-US" sz="550" dirty="0"/>
          </a:p>
        </p:txBody>
      </p:sp>
      <p:sp>
        <p:nvSpPr>
          <p:cNvPr id="29" name="Text 27"/>
          <p:cNvSpPr txBox="1"/>
          <p:nvPr/>
        </p:nvSpPr>
        <p:spPr>
          <a:xfrm>
            <a:off x="1225296" y="3840480"/>
            <a:ext cx="1110996" cy="365760"/>
          </a:xfrm>
          <a:prstGeom prst="rect">
            <a:avLst/>
          </a:prstGeom>
          <a:noFill/>
          <a:ln/>
        </p:spPr>
        <p:txBody>
          <a:bodyPr wrap="square" lIns="0" tIns="0" rIns="0" bIns="0" rtlCol="0" anchor="ctr"/>
          <a:lstStyle/>
          <a:p>
            <a:pPr indent="0" marL="0">
              <a:buNone/>
            </a:pPr>
            <a:r>
              <a:rPr lang="en-US" sz="850" dirty="0">
                <a:solidFill>
                  <a:srgbClr val="1A2B3C"/>
                </a:solidFill>
                <a:latin typeface="Calibri" pitchFamily="34" charset="0"/>
                <a:ea typeface="Calibri" pitchFamily="34" charset="-122"/>
                <a:cs typeface="Calibri" pitchFamily="34" charset="-120"/>
              </a:rPr>
              <a:t>CAMARA QoD</a:t>
            </a:r>
            <a:endParaRPr lang="en-US" sz="850" dirty="0"/>
          </a:p>
        </p:txBody>
      </p:sp>
      <p:sp>
        <p:nvSpPr>
          <p:cNvPr id="30" name="Shape 28"/>
          <p:cNvSpPr/>
          <p:nvPr/>
        </p:nvSpPr>
        <p:spPr>
          <a:xfrm>
            <a:off x="548640" y="4270248"/>
            <a:ext cx="1805940" cy="365760"/>
          </a:xfrm>
          <a:prstGeom prst="roundRect">
            <a:avLst>
              <a:gd name="adj" fmla="val 12500"/>
            </a:avLst>
          </a:prstGeom>
          <a:solidFill>
            <a:srgbClr val="FFFFFF"/>
          </a:solidFill>
          <a:ln w="12700">
            <a:solidFill>
              <a:srgbClr val="FFFFFF"/>
            </a:solidFill>
            <a:prstDash val="solid"/>
          </a:ln>
        </p:spPr>
      </p:sp>
      <p:sp>
        <p:nvSpPr>
          <p:cNvPr id="31" name="Shape 29"/>
          <p:cNvSpPr/>
          <p:nvPr/>
        </p:nvSpPr>
        <p:spPr>
          <a:xfrm>
            <a:off x="603504" y="4361688"/>
            <a:ext cx="566928" cy="182880"/>
          </a:xfrm>
          <a:prstGeom prst="roundRect">
            <a:avLst>
              <a:gd name="adj" fmla="val 50000"/>
            </a:avLst>
          </a:prstGeom>
          <a:solidFill>
            <a:srgbClr val="FFFFFF"/>
          </a:solidFill>
          <a:ln w="9525">
            <a:solidFill>
              <a:srgbClr val="9AA7B4"/>
            </a:solidFill>
            <a:prstDash val="solid"/>
          </a:ln>
        </p:spPr>
      </p:sp>
      <p:sp>
        <p:nvSpPr>
          <p:cNvPr id="32" name="Text 30"/>
          <p:cNvSpPr txBox="1"/>
          <p:nvPr/>
        </p:nvSpPr>
        <p:spPr>
          <a:xfrm>
            <a:off x="603504" y="4361688"/>
            <a:ext cx="566928" cy="182880"/>
          </a:xfrm>
          <a:prstGeom prst="rect">
            <a:avLst/>
          </a:prstGeom>
          <a:noFill/>
          <a:ln/>
        </p:spPr>
        <p:txBody>
          <a:bodyPr wrap="square" lIns="0" tIns="0" rIns="0" bIns="0" rtlCol="0" anchor="ctr"/>
          <a:lstStyle/>
          <a:p>
            <a:pPr algn="ctr" indent="0" marL="0">
              <a:buNone/>
            </a:pPr>
            <a:r>
              <a:rPr lang="en-US" sz="550" b="1" dirty="0">
                <a:solidFill>
                  <a:srgbClr val="5A6B7D"/>
                </a:solidFill>
                <a:latin typeface="Arial" pitchFamily="34" charset="0"/>
                <a:ea typeface="Arial" pitchFamily="34" charset="-122"/>
                <a:cs typeface="Arial" pitchFamily="34" charset="-120"/>
              </a:rPr>
              <a:t>DE FACTO</a:t>
            </a:r>
            <a:endParaRPr lang="en-US" sz="550" dirty="0"/>
          </a:p>
        </p:txBody>
      </p:sp>
      <p:sp>
        <p:nvSpPr>
          <p:cNvPr id="33" name="Text 31"/>
          <p:cNvSpPr txBox="1"/>
          <p:nvPr/>
        </p:nvSpPr>
        <p:spPr>
          <a:xfrm>
            <a:off x="1225296" y="4270248"/>
            <a:ext cx="1110996" cy="365760"/>
          </a:xfrm>
          <a:prstGeom prst="rect">
            <a:avLst/>
          </a:prstGeom>
          <a:noFill/>
          <a:ln/>
        </p:spPr>
        <p:txBody>
          <a:bodyPr wrap="square" lIns="0" tIns="0" rIns="0" bIns="0" rtlCol="0" anchor="ctr"/>
          <a:lstStyle/>
          <a:p>
            <a:pPr indent="0" marL="0">
              <a:buNone/>
            </a:pPr>
            <a:r>
              <a:rPr lang="en-US" sz="850" dirty="0">
                <a:solidFill>
                  <a:srgbClr val="1A2B3C"/>
                </a:solidFill>
                <a:latin typeface="Calibri" pitchFamily="34" charset="0"/>
                <a:ea typeface="Calibri" pitchFamily="34" charset="-122"/>
                <a:cs typeface="Calibri" pitchFamily="34" charset="-120"/>
              </a:rPr>
              <a:t>MCP tools for agents</a:t>
            </a:r>
            <a:endParaRPr lang="en-US" sz="850" dirty="0"/>
          </a:p>
        </p:txBody>
      </p:sp>
      <p:sp>
        <p:nvSpPr>
          <p:cNvPr id="34" name="Shape 32"/>
          <p:cNvSpPr/>
          <p:nvPr/>
        </p:nvSpPr>
        <p:spPr>
          <a:xfrm>
            <a:off x="2537460" y="1188720"/>
            <a:ext cx="1988820" cy="3584448"/>
          </a:xfrm>
          <a:prstGeom prst="roundRect">
            <a:avLst>
              <a:gd name="adj" fmla="val 3678"/>
            </a:avLst>
          </a:prstGeom>
          <a:solidFill>
            <a:srgbClr val="F2F5F8"/>
          </a:solidFill>
          <a:ln w="12700">
            <a:solidFill>
              <a:srgbClr val="F2F5F8"/>
            </a:solidFill>
            <a:prstDash val="solid"/>
          </a:ln>
        </p:spPr>
      </p:sp>
      <p:sp>
        <p:nvSpPr>
          <p:cNvPr id="35" name="Text 33"/>
          <p:cNvSpPr txBox="1"/>
          <p:nvPr/>
        </p:nvSpPr>
        <p:spPr>
          <a:xfrm>
            <a:off x="2647188" y="1280160"/>
            <a:ext cx="1805940" cy="292608"/>
          </a:xfrm>
          <a:prstGeom prst="rect">
            <a:avLst/>
          </a:prstGeom>
          <a:noFill/>
          <a:ln/>
        </p:spPr>
        <p:txBody>
          <a:bodyPr wrap="square" lIns="0" tIns="0" rIns="0" bIns="0" rtlCol="0" anchor="ctr"/>
          <a:lstStyle/>
          <a:p>
            <a:pPr indent="0" marL="0">
              <a:buNone/>
            </a:pPr>
            <a:r>
              <a:rPr lang="en-US" sz="1200" b="1" dirty="0">
                <a:solidFill>
                  <a:srgbClr val="E8912D"/>
                </a:solidFill>
                <a:latin typeface="Arial" pitchFamily="34" charset="0"/>
                <a:ea typeface="Arial" pitchFamily="34" charset="-122"/>
                <a:cs typeface="Arial" pitchFamily="34" charset="-120"/>
              </a:rPr>
              <a:t>② </a:t>
            </a:r>
            <a:pPr indent="0" marL="0">
              <a:buNone/>
            </a:pPr>
            <a:r>
              <a:rPr lang="en-US" sz="1200" b="1" dirty="0">
                <a:solidFill>
                  <a:srgbClr val="0B1D33"/>
                </a:solidFill>
                <a:latin typeface="Arial" pitchFamily="34" charset="0"/>
                <a:ea typeface="Arial" pitchFamily="34" charset="-122"/>
                <a:cs typeface="Arial" pitchFamily="34" charset="-120"/>
              </a:rPr>
              <a:t>Agents → twin</a:t>
            </a:r>
            <a:endParaRPr lang="en-US" sz="1200" dirty="0"/>
          </a:p>
        </p:txBody>
      </p:sp>
      <p:sp>
        <p:nvSpPr>
          <p:cNvPr id="36" name="Shape 34"/>
          <p:cNvSpPr/>
          <p:nvPr/>
        </p:nvSpPr>
        <p:spPr>
          <a:xfrm>
            <a:off x="2628900" y="1691640"/>
            <a:ext cx="1805940" cy="365760"/>
          </a:xfrm>
          <a:prstGeom prst="roundRect">
            <a:avLst>
              <a:gd name="adj" fmla="val 12500"/>
            </a:avLst>
          </a:prstGeom>
          <a:solidFill>
            <a:srgbClr val="FFFFFF"/>
          </a:solidFill>
          <a:ln w="12700">
            <a:solidFill>
              <a:srgbClr val="FFFFFF"/>
            </a:solidFill>
            <a:prstDash val="solid"/>
          </a:ln>
        </p:spPr>
      </p:sp>
      <p:sp>
        <p:nvSpPr>
          <p:cNvPr id="37" name="Shape 35"/>
          <p:cNvSpPr/>
          <p:nvPr/>
        </p:nvSpPr>
        <p:spPr>
          <a:xfrm>
            <a:off x="2683764" y="1783080"/>
            <a:ext cx="566928" cy="182880"/>
          </a:xfrm>
          <a:prstGeom prst="roundRect">
            <a:avLst>
              <a:gd name="adj" fmla="val 50000"/>
            </a:avLst>
          </a:prstGeom>
          <a:solidFill>
            <a:srgbClr val="22A06B"/>
          </a:solidFill>
          <a:ln w="9525">
            <a:solidFill>
              <a:srgbClr val="22A06B"/>
            </a:solidFill>
            <a:prstDash val="solid"/>
          </a:ln>
        </p:spPr>
      </p:sp>
      <p:sp>
        <p:nvSpPr>
          <p:cNvPr id="38" name="Text 36"/>
          <p:cNvSpPr txBox="1"/>
          <p:nvPr/>
        </p:nvSpPr>
        <p:spPr>
          <a:xfrm>
            <a:off x="2683764" y="1783080"/>
            <a:ext cx="566928" cy="182880"/>
          </a:xfrm>
          <a:prstGeom prst="rect">
            <a:avLst/>
          </a:prstGeom>
          <a:noFill/>
          <a:ln/>
        </p:spPr>
        <p:txBody>
          <a:bodyPr wrap="square" lIns="0" tIns="0" rIns="0" bIns="0" rtlCol="0" anchor="ctr"/>
          <a:lstStyle/>
          <a:p>
            <a:pPr algn="ctr" indent="0" marL="0">
              <a:buNone/>
            </a:pPr>
            <a:r>
              <a:rPr lang="en-US" sz="550" b="1" dirty="0">
                <a:solidFill>
                  <a:srgbClr val="FFFFFF"/>
                </a:solidFill>
                <a:latin typeface="Arial" pitchFamily="34" charset="0"/>
                <a:ea typeface="Arial" pitchFamily="34" charset="-122"/>
                <a:cs typeface="Arial" pitchFamily="34" charset="-120"/>
              </a:rPr>
              <a:t>IN USE</a:t>
            </a:r>
            <a:endParaRPr lang="en-US" sz="550" dirty="0"/>
          </a:p>
        </p:txBody>
      </p:sp>
      <p:sp>
        <p:nvSpPr>
          <p:cNvPr id="39" name="Text 37"/>
          <p:cNvSpPr txBox="1"/>
          <p:nvPr/>
        </p:nvSpPr>
        <p:spPr>
          <a:xfrm>
            <a:off x="3305556" y="1691640"/>
            <a:ext cx="1110996" cy="365760"/>
          </a:xfrm>
          <a:prstGeom prst="rect">
            <a:avLst/>
          </a:prstGeom>
          <a:noFill/>
          <a:ln/>
        </p:spPr>
        <p:txBody>
          <a:bodyPr wrap="square" lIns="0" tIns="0" rIns="0" bIns="0" rtlCol="0" anchor="ctr"/>
          <a:lstStyle/>
          <a:p>
            <a:pPr indent="0" marL="0">
              <a:buNone/>
            </a:pPr>
            <a:r>
              <a:rPr lang="en-US" sz="850" dirty="0">
                <a:solidFill>
                  <a:srgbClr val="1A2B3C"/>
                </a:solidFill>
                <a:latin typeface="Calibri" pitchFamily="34" charset="0"/>
                <a:ea typeface="Calibri" pitchFamily="34" charset="-122"/>
                <a:cs typeface="Calibri" pitchFamily="34" charset="-120"/>
              </a:rPr>
              <a:t>SSH + JSON · OpenAPI</a:t>
            </a:r>
            <a:endParaRPr lang="en-US" sz="850" dirty="0"/>
          </a:p>
        </p:txBody>
      </p:sp>
      <p:sp>
        <p:nvSpPr>
          <p:cNvPr id="40" name="Shape 38"/>
          <p:cNvSpPr/>
          <p:nvPr/>
        </p:nvSpPr>
        <p:spPr>
          <a:xfrm>
            <a:off x="2628900" y="2121408"/>
            <a:ext cx="1805940" cy="365760"/>
          </a:xfrm>
          <a:prstGeom prst="roundRect">
            <a:avLst>
              <a:gd name="adj" fmla="val 12500"/>
            </a:avLst>
          </a:prstGeom>
          <a:solidFill>
            <a:srgbClr val="FFFFFF"/>
          </a:solidFill>
          <a:ln w="12700">
            <a:solidFill>
              <a:srgbClr val="FFFFFF"/>
            </a:solidFill>
            <a:prstDash val="solid"/>
          </a:ln>
        </p:spPr>
      </p:sp>
      <p:sp>
        <p:nvSpPr>
          <p:cNvPr id="41" name="Shape 39"/>
          <p:cNvSpPr/>
          <p:nvPr/>
        </p:nvSpPr>
        <p:spPr>
          <a:xfrm>
            <a:off x="2683764" y="2212848"/>
            <a:ext cx="566928" cy="182880"/>
          </a:xfrm>
          <a:prstGeom prst="roundRect">
            <a:avLst>
              <a:gd name="adj" fmla="val 50000"/>
            </a:avLst>
          </a:prstGeom>
          <a:solidFill>
            <a:srgbClr val="0B1D33"/>
          </a:solidFill>
          <a:ln w="9525">
            <a:solidFill>
              <a:srgbClr val="0B1D33"/>
            </a:solidFill>
            <a:prstDash val="solid"/>
          </a:ln>
        </p:spPr>
      </p:sp>
      <p:sp>
        <p:nvSpPr>
          <p:cNvPr id="42" name="Text 40"/>
          <p:cNvSpPr txBox="1"/>
          <p:nvPr/>
        </p:nvSpPr>
        <p:spPr>
          <a:xfrm>
            <a:off x="2683764" y="2212848"/>
            <a:ext cx="566928" cy="182880"/>
          </a:xfrm>
          <a:prstGeom prst="rect">
            <a:avLst/>
          </a:prstGeom>
          <a:noFill/>
          <a:ln/>
        </p:spPr>
        <p:txBody>
          <a:bodyPr wrap="square" lIns="0" tIns="0" rIns="0" bIns="0" rtlCol="0" anchor="ctr"/>
          <a:lstStyle/>
          <a:p>
            <a:pPr algn="ctr" indent="0" marL="0">
              <a:buNone/>
            </a:pPr>
            <a:r>
              <a:rPr lang="en-US" sz="550" b="1" dirty="0">
                <a:solidFill>
                  <a:srgbClr val="FFFFFF"/>
                </a:solidFill>
                <a:latin typeface="Arial" pitchFamily="34" charset="0"/>
                <a:ea typeface="Arial" pitchFamily="34" charset="-122"/>
                <a:cs typeface="Arial" pitchFamily="34" charset="-120"/>
              </a:rPr>
              <a:t>ADOPT</a:t>
            </a:r>
            <a:endParaRPr lang="en-US" sz="550" dirty="0"/>
          </a:p>
        </p:txBody>
      </p:sp>
      <p:sp>
        <p:nvSpPr>
          <p:cNvPr id="43" name="Text 41"/>
          <p:cNvSpPr txBox="1"/>
          <p:nvPr/>
        </p:nvSpPr>
        <p:spPr>
          <a:xfrm>
            <a:off x="3305556" y="2121408"/>
            <a:ext cx="1110996" cy="365760"/>
          </a:xfrm>
          <a:prstGeom prst="rect">
            <a:avLst/>
          </a:prstGeom>
          <a:noFill/>
          <a:ln/>
        </p:spPr>
        <p:txBody>
          <a:bodyPr wrap="square" lIns="0" tIns="0" rIns="0" bIns="0" rtlCol="0" anchor="ctr"/>
          <a:lstStyle/>
          <a:p>
            <a:pPr indent="0" marL="0">
              <a:buNone/>
            </a:pPr>
            <a:r>
              <a:rPr lang="en-US" sz="850" dirty="0">
                <a:solidFill>
                  <a:srgbClr val="1A2B3C"/>
                </a:solidFill>
                <a:latin typeface="Calibri" pitchFamily="34" charset="0"/>
                <a:ea typeface="Calibri" pitchFamily="34" charset="-122"/>
                <a:cs typeface="Calibri" pitchFamily="34" charset="-120"/>
              </a:rPr>
              <a:t>TS 28.561 NDTJob</a:t>
            </a:r>
            <a:endParaRPr lang="en-US" sz="850" dirty="0"/>
          </a:p>
        </p:txBody>
      </p:sp>
      <p:sp>
        <p:nvSpPr>
          <p:cNvPr id="44" name="Shape 42"/>
          <p:cNvSpPr/>
          <p:nvPr/>
        </p:nvSpPr>
        <p:spPr>
          <a:xfrm>
            <a:off x="2628900" y="2551176"/>
            <a:ext cx="1805940" cy="365760"/>
          </a:xfrm>
          <a:prstGeom prst="roundRect">
            <a:avLst>
              <a:gd name="adj" fmla="val 12500"/>
            </a:avLst>
          </a:prstGeom>
          <a:solidFill>
            <a:srgbClr val="FFFFFF"/>
          </a:solidFill>
          <a:ln w="12700">
            <a:solidFill>
              <a:srgbClr val="FFFFFF"/>
            </a:solidFill>
            <a:prstDash val="solid"/>
          </a:ln>
        </p:spPr>
      </p:sp>
      <p:sp>
        <p:nvSpPr>
          <p:cNvPr id="45" name="Shape 43"/>
          <p:cNvSpPr/>
          <p:nvPr/>
        </p:nvSpPr>
        <p:spPr>
          <a:xfrm>
            <a:off x="2683764" y="2642616"/>
            <a:ext cx="566928" cy="182880"/>
          </a:xfrm>
          <a:prstGeom prst="roundRect">
            <a:avLst>
              <a:gd name="adj" fmla="val 50000"/>
            </a:avLst>
          </a:prstGeom>
          <a:solidFill>
            <a:srgbClr val="0B1D33"/>
          </a:solidFill>
          <a:ln w="9525">
            <a:solidFill>
              <a:srgbClr val="0B1D33"/>
            </a:solidFill>
            <a:prstDash val="solid"/>
          </a:ln>
        </p:spPr>
      </p:sp>
      <p:sp>
        <p:nvSpPr>
          <p:cNvPr id="46" name="Text 44"/>
          <p:cNvSpPr txBox="1"/>
          <p:nvPr/>
        </p:nvSpPr>
        <p:spPr>
          <a:xfrm>
            <a:off x="2683764" y="2642616"/>
            <a:ext cx="566928" cy="182880"/>
          </a:xfrm>
          <a:prstGeom prst="rect">
            <a:avLst/>
          </a:prstGeom>
          <a:noFill/>
          <a:ln/>
        </p:spPr>
        <p:txBody>
          <a:bodyPr wrap="square" lIns="0" tIns="0" rIns="0" bIns="0" rtlCol="0" anchor="ctr"/>
          <a:lstStyle/>
          <a:p>
            <a:pPr algn="ctr" indent="0" marL="0">
              <a:buNone/>
            </a:pPr>
            <a:r>
              <a:rPr lang="en-US" sz="550" b="1" dirty="0">
                <a:solidFill>
                  <a:srgbClr val="FFFFFF"/>
                </a:solidFill>
                <a:latin typeface="Arial" pitchFamily="34" charset="0"/>
                <a:ea typeface="Arial" pitchFamily="34" charset="-122"/>
                <a:cs typeface="Arial" pitchFamily="34" charset="-120"/>
              </a:rPr>
              <a:t>ADOPT</a:t>
            </a:r>
            <a:endParaRPr lang="en-US" sz="550" dirty="0"/>
          </a:p>
        </p:txBody>
      </p:sp>
      <p:sp>
        <p:nvSpPr>
          <p:cNvPr id="47" name="Text 45"/>
          <p:cNvSpPr txBox="1"/>
          <p:nvPr/>
        </p:nvSpPr>
        <p:spPr>
          <a:xfrm>
            <a:off x="3305556" y="2551176"/>
            <a:ext cx="1110996" cy="365760"/>
          </a:xfrm>
          <a:prstGeom prst="rect">
            <a:avLst/>
          </a:prstGeom>
          <a:noFill/>
          <a:ln/>
        </p:spPr>
        <p:txBody>
          <a:bodyPr wrap="square" lIns="0" tIns="0" rIns="0" bIns="0" rtlCol="0" anchor="ctr"/>
          <a:lstStyle/>
          <a:p>
            <a:pPr indent="0" marL="0">
              <a:buNone/>
            </a:pPr>
            <a:r>
              <a:rPr lang="en-US" sz="850" dirty="0">
                <a:solidFill>
                  <a:srgbClr val="1A2B3C"/>
                </a:solidFill>
                <a:latin typeface="Calibri" pitchFamily="34" charset="0"/>
                <a:ea typeface="Calibri" pitchFamily="34" charset="-122"/>
                <a:cs typeface="Calibri" pitchFamily="34" charset="-120"/>
              </a:rPr>
              <a:t>Y.3092 NDT-m</a:t>
            </a:r>
            <a:endParaRPr lang="en-US" sz="850" dirty="0"/>
          </a:p>
        </p:txBody>
      </p:sp>
      <p:sp>
        <p:nvSpPr>
          <p:cNvPr id="48" name="Shape 46"/>
          <p:cNvSpPr/>
          <p:nvPr/>
        </p:nvSpPr>
        <p:spPr>
          <a:xfrm>
            <a:off x="2628900" y="2980944"/>
            <a:ext cx="1805940" cy="365760"/>
          </a:xfrm>
          <a:prstGeom prst="roundRect">
            <a:avLst>
              <a:gd name="adj" fmla="val 12500"/>
            </a:avLst>
          </a:prstGeom>
          <a:solidFill>
            <a:srgbClr val="FFFFFF"/>
          </a:solidFill>
          <a:ln w="12700">
            <a:solidFill>
              <a:srgbClr val="FFFFFF"/>
            </a:solidFill>
            <a:prstDash val="solid"/>
          </a:ln>
        </p:spPr>
      </p:sp>
      <p:sp>
        <p:nvSpPr>
          <p:cNvPr id="49" name="Shape 47"/>
          <p:cNvSpPr/>
          <p:nvPr/>
        </p:nvSpPr>
        <p:spPr>
          <a:xfrm>
            <a:off x="2683764" y="3072384"/>
            <a:ext cx="566928" cy="182880"/>
          </a:xfrm>
          <a:prstGeom prst="roundRect">
            <a:avLst>
              <a:gd name="adj" fmla="val 50000"/>
            </a:avLst>
          </a:prstGeom>
          <a:solidFill>
            <a:srgbClr val="0B1D33"/>
          </a:solidFill>
          <a:ln w="9525">
            <a:solidFill>
              <a:srgbClr val="0B1D33"/>
            </a:solidFill>
            <a:prstDash val="solid"/>
          </a:ln>
        </p:spPr>
      </p:sp>
      <p:sp>
        <p:nvSpPr>
          <p:cNvPr id="50" name="Text 48"/>
          <p:cNvSpPr txBox="1"/>
          <p:nvPr/>
        </p:nvSpPr>
        <p:spPr>
          <a:xfrm>
            <a:off x="2683764" y="3072384"/>
            <a:ext cx="566928" cy="182880"/>
          </a:xfrm>
          <a:prstGeom prst="rect">
            <a:avLst/>
          </a:prstGeom>
          <a:noFill/>
          <a:ln/>
        </p:spPr>
        <p:txBody>
          <a:bodyPr wrap="square" lIns="0" tIns="0" rIns="0" bIns="0" rtlCol="0" anchor="ctr"/>
          <a:lstStyle/>
          <a:p>
            <a:pPr algn="ctr" indent="0" marL="0">
              <a:buNone/>
            </a:pPr>
            <a:r>
              <a:rPr lang="en-US" sz="550" b="1" dirty="0">
                <a:solidFill>
                  <a:srgbClr val="FFFFFF"/>
                </a:solidFill>
                <a:latin typeface="Arial" pitchFamily="34" charset="0"/>
                <a:ea typeface="Arial" pitchFamily="34" charset="-122"/>
                <a:cs typeface="Arial" pitchFamily="34" charset="-120"/>
              </a:rPr>
              <a:t>ADOPT</a:t>
            </a:r>
            <a:endParaRPr lang="en-US" sz="550" dirty="0"/>
          </a:p>
        </p:txBody>
      </p:sp>
      <p:sp>
        <p:nvSpPr>
          <p:cNvPr id="51" name="Text 49"/>
          <p:cNvSpPr txBox="1"/>
          <p:nvPr/>
        </p:nvSpPr>
        <p:spPr>
          <a:xfrm>
            <a:off x="3305556" y="2980944"/>
            <a:ext cx="1110996" cy="365760"/>
          </a:xfrm>
          <a:prstGeom prst="rect">
            <a:avLst/>
          </a:prstGeom>
          <a:noFill/>
          <a:ln/>
        </p:spPr>
        <p:txBody>
          <a:bodyPr wrap="square" lIns="0" tIns="0" rIns="0" bIns="0" rtlCol="0" anchor="ctr"/>
          <a:lstStyle/>
          <a:p>
            <a:pPr indent="0" marL="0">
              <a:buNone/>
            </a:pPr>
            <a:r>
              <a:rPr lang="en-US" sz="850" dirty="0">
                <a:solidFill>
                  <a:srgbClr val="1A2B3C"/>
                </a:solidFill>
                <a:latin typeface="Calibri" pitchFamily="34" charset="0"/>
                <a:ea typeface="Calibri" pitchFamily="34" charset="-122"/>
                <a:cs typeface="Calibri" pitchFamily="34" charset="-120"/>
              </a:rPr>
              <a:t>CAPIF TS 29.222</a:t>
            </a:r>
            <a:endParaRPr lang="en-US" sz="850" dirty="0"/>
          </a:p>
        </p:txBody>
      </p:sp>
      <p:sp>
        <p:nvSpPr>
          <p:cNvPr id="52" name="Shape 50"/>
          <p:cNvSpPr/>
          <p:nvPr/>
        </p:nvSpPr>
        <p:spPr>
          <a:xfrm>
            <a:off x="2628900" y="3410712"/>
            <a:ext cx="1805940" cy="365760"/>
          </a:xfrm>
          <a:prstGeom prst="roundRect">
            <a:avLst>
              <a:gd name="adj" fmla="val 12500"/>
            </a:avLst>
          </a:prstGeom>
          <a:solidFill>
            <a:srgbClr val="FFFFFF"/>
          </a:solidFill>
          <a:ln w="12700">
            <a:solidFill>
              <a:srgbClr val="FFFFFF"/>
            </a:solidFill>
            <a:prstDash val="solid"/>
          </a:ln>
        </p:spPr>
      </p:sp>
      <p:sp>
        <p:nvSpPr>
          <p:cNvPr id="53" name="Shape 51"/>
          <p:cNvSpPr/>
          <p:nvPr/>
        </p:nvSpPr>
        <p:spPr>
          <a:xfrm>
            <a:off x="2683764" y="3502152"/>
            <a:ext cx="566928" cy="182880"/>
          </a:xfrm>
          <a:prstGeom prst="roundRect">
            <a:avLst>
              <a:gd name="adj" fmla="val 50000"/>
            </a:avLst>
          </a:prstGeom>
          <a:solidFill>
            <a:srgbClr val="0B1D33"/>
          </a:solidFill>
          <a:ln w="9525">
            <a:solidFill>
              <a:srgbClr val="0B1D33"/>
            </a:solidFill>
            <a:prstDash val="solid"/>
          </a:ln>
        </p:spPr>
      </p:sp>
      <p:sp>
        <p:nvSpPr>
          <p:cNvPr id="54" name="Text 52"/>
          <p:cNvSpPr txBox="1"/>
          <p:nvPr/>
        </p:nvSpPr>
        <p:spPr>
          <a:xfrm>
            <a:off x="2683764" y="3502152"/>
            <a:ext cx="566928" cy="182880"/>
          </a:xfrm>
          <a:prstGeom prst="rect">
            <a:avLst/>
          </a:prstGeom>
          <a:noFill/>
          <a:ln/>
        </p:spPr>
        <p:txBody>
          <a:bodyPr wrap="square" lIns="0" tIns="0" rIns="0" bIns="0" rtlCol="0" anchor="ctr"/>
          <a:lstStyle/>
          <a:p>
            <a:pPr algn="ctr" indent="0" marL="0">
              <a:buNone/>
            </a:pPr>
            <a:r>
              <a:rPr lang="en-US" sz="550" b="1" dirty="0">
                <a:solidFill>
                  <a:srgbClr val="FFFFFF"/>
                </a:solidFill>
                <a:latin typeface="Arial" pitchFamily="34" charset="0"/>
                <a:ea typeface="Arial" pitchFamily="34" charset="-122"/>
                <a:cs typeface="Arial" pitchFamily="34" charset="-120"/>
              </a:rPr>
              <a:t>ADOPT</a:t>
            </a:r>
            <a:endParaRPr lang="en-US" sz="550" dirty="0"/>
          </a:p>
        </p:txBody>
      </p:sp>
      <p:sp>
        <p:nvSpPr>
          <p:cNvPr id="55" name="Text 53"/>
          <p:cNvSpPr txBox="1"/>
          <p:nvPr/>
        </p:nvSpPr>
        <p:spPr>
          <a:xfrm>
            <a:off x="3305556" y="3410712"/>
            <a:ext cx="1110996" cy="365760"/>
          </a:xfrm>
          <a:prstGeom prst="rect">
            <a:avLst/>
          </a:prstGeom>
          <a:noFill/>
          <a:ln/>
        </p:spPr>
        <p:txBody>
          <a:bodyPr wrap="square" lIns="0" tIns="0" rIns="0" bIns="0" rtlCol="0" anchor="ctr"/>
          <a:lstStyle/>
          <a:p>
            <a:pPr indent="0" marL="0">
              <a:buNone/>
            </a:pPr>
            <a:r>
              <a:rPr lang="en-US" sz="850" dirty="0">
                <a:solidFill>
                  <a:srgbClr val="1A2B3C"/>
                </a:solidFill>
                <a:latin typeface="Calibri" pitchFamily="34" charset="0"/>
                <a:ea typeface="Calibri" pitchFamily="34" charset="-122"/>
                <a:cs typeface="Calibri" pitchFamily="34" charset="-120"/>
              </a:rPr>
              <a:t>TS 28.105 · Y.3181</a:t>
            </a:r>
            <a:endParaRPr lang="en-US" sz="850" dirty="0"/>
          </a:p>
        </p:txBody>
      </p:sp>
      <p:sp>
        <p:nvSpPr>
          <p:cNvPr id="56" name="Shape 54"/>
          <p:cNvSpPr/>
          <p:nvPr/>
        </p:nvSpPr>
        <p:spPr>
          <a:xfrm>
            <a:off x="2628900" y="3840480"/>
            <a:ext cx="1805940" cy="365760"/>
          </a:xfrm>
          <a:prstGeom prst="roundRect">
            <a:avLst>
              <a:gd name="adj" fmla="val 12500"/>
            </a:avLst>
          </a:prstGeom>
          <a:solidFill>
            <a:srgbClr val="FFFFFF"/>
          </a:solidFill>
          <a:ln w="12700">
            <a:solidFill>
              <a:srgbClr val="FFFFFF"/>
            </a:solidFill>
            <a:prstDash val="solid"/>
          </a:ln>
        </p:spPr>
      </p:sp>
      <p:sp>
        <p:nvSpPr>
          <p:cNvPr id="57" name="Shape 55"/>
          <p:cNvSpPr/>
          <p:nvPr/>
        </p:nvSpPr>
        <p:spPr>
          <a:xfrm>
            <a:off x="2683764" y="3931920"/>
            <a:ext cx="566928" cy="182880"/>
          </a:xfrm>
          <a:prstGeom prst="roundRect">
            <a:avLst>
              <a:gd name="adj" fmla="val 50000"/>
            </a:avLst>
          </a:prstGeom>
          <a:solidFill>
            <a:srgbClr val="FFFFFF"/>
          </a:solidFill>
          <a:ln w="9525">
            <a:solidFill>
              <a:srgbClr val="9AA7B4"/>
            </a:solidFill>
            <a:prstDash val="solid"/>
          </a:ln>
        </p:spPr>
      </p:sp>
      <p:sp>
        <p:nvSpPr>
          <p:cNvPr id="58" name="Text 56"/>
          <p:cNvSpPr txBox="1"/>
          <p:nvPr/>
        </p:nvSpPr>
        <p:spPr>
          <a:xfrm>
            <a:off x="2683764" y="3931920"/>
            <a:ext cx="566928" cy="182880"/>
          </a:xfrm>
          <a:prstGeom prst="rect">
            <a:avLst/>
          </a:prstGeom>
          <a:noFill/>
          <a:ln/>
        </p:spPr>
        <p:txBody>
          <a:bodyPr wrap="square" lIns="0" tIns="0" rIns="0" bIns="0" rtlCol="0" anchor="ctr"/>
          <a:lstStyle/>
          <a:p>
            <a:pPr algn="ctr" indent="0" marL="0">
              <a:buNone/>
            </a:pPr>
            <a:r>
              <a:rPr lang="en-US" sz="550" b="1" dirty="0">
                <a:solidFill>
                  <a:srgbClr val="5A6B7D"/>
                </a:solidFill>
                <a:latin typeface="Arial" pitchFamily="34" charset="0"/>
                <a:ea typeface="Arial" pitchFamily="34" charset="-122"/>
                <a:cs typeface="Arial" pitchFamily="34" charset="-120"/>
              </a:rPr>
              <a:t>DE FACTO</a:t>
            </a:r>
            <a:endParaRPr lang="en-US" sz="550" dirty="0"/>
          </a:p>
        </p:txBody>
      </p:sp>
      <p:sp>
        <p:nvSpPr>
          <p:cNvPr id="59" name="Text 57"/>
          <p:cNvSpPr txBox="1"/>
          <p:nvPr/>
        </p:nvSpPr>
        <p:spPr>
          <a:xfrm>
            <a:off x="3305556" y="3840480"/>
            <a:ext cx="1110996" cy="365760"/>
          </a:xfrm>
          <a:prstGeom prst="rect">
            <a:avLst/>
          </a:prstGeom>
          <a:noFill/>
          <a:ln/>
        </p:spPr>
        <p:txBody>
          <a:bodyPr wrap="square" lIns="0" tIns="0" rIns="0" bIns="0" rtlCol="0" anchor="ctr"/>
          <a:lstStyle/>
          <a:p>
            <a:pPr indent="0" marL="0">
              <a:buNone/>
            </a:pPr>
            <a:r>
              <a:rPr lang="en-US" sz="850" dirty="0">
                <a:solidFill>
                  <a:srgbClr val="1A2B3C"/>
                </a:solidFill>
                <a:latin typeface="Calibri" pitchFamily="34" charset="0"/>
                <a:ea typeface="Calibri" pitchFamily="34" charset="-122"/>
                <a:cs typeface="Calibri" pitchFamily="34" charset="-120"/>
              </a:rPr>
              <a:t>Gymnasium · ns3-ai</a:t>
            </a:r>
            <a:endParaRPr lang="en-US" sz="850" dirty="0"/>
          </a:p>
        </p:txBody>
      </p:sp>
      <p:sp>
        <p:nvSpPr>
          <p:cNvPr id="60" name="Shape 58"/>
          <p:cNvSpPr/>
          <p:nvPr/>
        </p:nvSpPr>
        <p:spPr>
          <a:xfrm>
            <a:off x="2628900" y="4270248"/>
            <a:ext cx="1805940" cy="365760"/>
          </a:xfrm>
          <a:prstGeom prst="roundRect">
            <a:avLst>
              <a:gd name="adj" fmla="val 12500"/>
            </a:avLst>
          </a:prstGeom>
          <a:solidFill>
            <a:srgbClr val="FFFFFF"/>
          </a:solidFill>
          <a:ln w="12700">
            <a:solidFill>
              <a:srgbClr val="FFFFFF"/>
            </a:solidFill>
            <a:prstDash val="solid"/>
          </a:ln>
        </p:spPr>
      </p:sp>
      <p:sp>
        <p:nvSpPr>
          <p:cNvPr id="61" name="Shape 59"/>
          <p:cNvSpPr/>
          <p:nvPr/>
        </p:nvSpPr>
        <p:spPr>
          <a:xfrm>
            <a:off x="2683764" y="4361688"/>
            <a:ext cx="566928" cy="182880"/>
          </a:xfrm>
          <a:prstGeom prst="roundRect">
            <a:avLst>
              <a:gd name="adj" fmla="val 50000"/>
            </a:avLst>
          </a:prstGeom>
          <a:solidFill>
            <a:srgbClr val="FFFFFF"/>
          </a:solidFill>
          <a:ln w="9525">
            <a:solidFill>
              <a:srgbClr val="E8912D"/>
            </a:solidFill>
            <a:prstDash val="dash"/>
          </a:ln>
        </p:spPr>
      </p:sp>
      <p:sp>
        <p:nvSpPr>
          <p:cNvPr id="62" name="Text 60"/>
          <p:cNvSpPr txBox="1"/>
          <p:nvPr/>
        </p:nvSpPr>
        <p:spPr>
          <a:xfrm>
            <a:off x="2683764" y="4361688"/>
            <a:ext cx="566928" cy="182880"/>
          </a:xfrm>
          <a:prstGeom prst="rect">
            <a:avLst/>
          </a:prstGeom>
          <a:noFill/>
          <a:ln/>
        </p:spPr>
        <p:txBody>
          <a:bodyPr wrap="square" lIns="0" tIns="0" rIns="0" bIns="0" rtlCol="0" anchor="ctr"/>
          <a:lstStyle/>
          <a:p>
            <a:pPr algn="ctr" indent="0" marL="0">
              <a:buNone/>
            </a:pPr>
            <a:r>
              <a:rPr lang="en-US" sz="550" b="1" dirty="0">
                <a:solidFill>
                  <a:srgbClr val="E8912D"/>
                </a:solidFill>
                <a:latin typeface="Arial" pitchFamily="34" charset="0"/>
                <a:ea typeface="Arial" pitchFamily="34" charset="-122"/>
                <a:cs typeface="Arial" pitchFamily="34" charset="-120"/>
              </a:rPr>
              <a:t>EMERGING</a:t>
            </a:r>
            <a:endParaRPr lang="en-US" sz="550" dirty="0"/>
          </a:p>
        </p:txBody>
      </p:sp>
      <p:sp>
        <p:nvSpPr>
          <p:cNvPr id="63" name="Text 61"/>
          <p:cNvSpPr txBox="1"/>
          <p:nvPr/>
        </p:nvSpPr>
        <p:spPr>
          <a:xfrm>
            <a:off x="3305556" y="4270248"/>
            <a:ext cx="1110996" cy="365760"/>
          </a:xfrm>
          <a:prstGeom prst="rect">
            <a:avLst/>
          </a:prstGeom>
          <a:noFill/>
          <a:ln/>
        </p:spPr>
        <p:txBody>
          <a:bodyPr wrap="square" lIns="0" tIns="0" rIns="0" bIns="0" rtlCol="0" anchor="ctr"/>
          <a:lstStyle/>
          <a:p>
            <a:pPr indent="0" marL="0">
              <a:buNone/>
            </a:pPr>
            <a:r>
              <a:rPr lang="en-US" sz="850" dirty="0">
                <a:solidFill>
                  <a:srgbClr val="1A2B3C"/>
                </a:solidFill>
                <a:latin typeface="Calibri" pitchFamily="34" charset="0"/>
                <a:ea typeface="Calibri" pitchFamily="34" charset="-122"/>
                <a:cs typeface="Calibri" pitchFamily="34" charset="-120"/>
              </a:rPr>
              <a:t>Rel-20 NDT · Q.SDTN</a:t>
            </a:r>
            <a:endParaRPr lang="en-US" sz="850" dirty="0"/>
          </a:p>
        </p:txBody>
      </p:sp>
      <p:sp>
        <p:nvSpPr>
          <p:cNvPr id="64" name="Shape 62"/>
          <p:cNvSpPr/>
          <p:nvPr/>
        </p:nvSpPr>
        <p:spPr>
          <a:xfrm>
            <a:off x="4617720" y="1188720"/>
            <a:ext cx="1988820" cy="3584448"/>
          </a:xfrm>
          <a:prstGeom prst="roundRect">
            <a:avLst>
              <a:gd name="adj" fmla="val 3678"/>
            </a:avLst>
          </a:prstGeom>
          <a:solidFill>
            <a:srgbClr val="F2F5F8"/>
          </a:solidFill>
          <a:ln w="12700">
            <a:solidFill>
              <a:srgbClr val="F2F5F8"/>
            </a:solidFill>
            <a:prstDash val="solid"/>
          </a:ln>
        </p:spPr>
      </p:sp>
      <p:sp>
        <p:nvSpPr>
          <p:cNvPr id="65" name="Text 63"/>
          <p:cNvSpPr txBox="1"/>
          <p:nvPr/>
        </p:nvSpPr>
        <p:spPr>
          <a:xfrm>
            <a:off x="4727448" y="1280160"/>
            <a:ext cx="1805940" cy="292608"/>
          </a:xfrm>
          <a:prstGeom prst="rect">
            <a:avLst/>
          </a:prstGeom>
          <a:noFill/>
          <a:ln/>
        </p:spPr>
        <p:txBody>
          <a:bodyPr wrap="square" lIns="0" tIns="0" rIns="0" bIns="0" rtlCol="0" anchor="ctr"/>
          <a:lstStyle/>
          <a:p>
            <a:pPr indent="0" marL="0">
              <a:buNone/>
            </a:pPr>
            <a:r>
              <a:rPr lang="en-US" sz="1200" b="1" dirty="0">
                <a:solidFill>
                  <a:srgbClr val="0FA3B1"/>
                </a:solidFill>
                <a:latin typeface="Arial" pitchFamily="34" charset="0"/>
                <a:ea typeface="Arial" pitchFamily="34" charset="-122"/>
                <a:cs typeface="Arial" pitchFamily="34" charset="-120"/>
              </a:rPr>
              <a:t>③ </a:t>
            </a:r>
            <a:pPr indent="0" marL="0">
              <a:buNone/>
            </a:pPr>
            <a:r>
              <a:rPr lang="en-US" sz="1200" b="1" dirty="0">
                <a:solidFill>
                  <a:srgbClr val="0B1D33"/>
                </a:solidFill>
                <a:latin typeface="Arial" pitchFamily="34" charset="0"/>
                <a:ea typeface="Arial" pitchFamily="34" charset="-122"/>
                <a:cs typeface="Arial" pitchFamily="34" charset="-120"/>
              </a:rPr>
              <a:t>TFS ↔ twin</a:t>
            </a:r>
            <a:endParaRPr lang="en-US" sz="1200" dirty="0"/>
          </a:p>
        </p:txBody>
      </p:sp>
      <p:sp>
        <p:nvSpPr>
          <p:cNvPr id="66" name="Shape 64"/>
          <p:cNvSpPr/>
          <p:nvPr/>
        </p:nvSpPr>
        <p:spPr>
          <a:xfrm>
            <a:off x="4709160" y="1691640"/>
            <a:ext cx="1805940" cy="365760"/>
          </a:xfrm>
          <a:prstGeom prst="roundRect">
            <a:avLst>
              <a:gd name="adj" fmla="val 12500"/>
            </a:avLst>
          </a:prstGeom>
          <a:solidFill>
            <a:srgbClr val="FFFFFF"/>
          </a:solidFill>
          <a:ln w="12700">
            <a:solidFill>
              <a:srgbClr val="FFFFFF"/>
            </a:solidFill>
            <a:prstDash val="solid"/>
          </a:ln>
        </p:spPr>
      </p:sp>
      <p:sp>
        <p:nvSpPr>
          <p:cNvPr id="67" name="Shape 65"/>
          <p:cNvSpPr/>
          <p:nvPr/>
        </p:nvSpPr>
        <p:spPr>
          <a:xfrm>
            <a:off x="4764024" y="1783080"/>
            <a:ext cx="566928" cy="182880"/>
          </a:xfrm>
          <a:prstGeom prst="roundRect">
            <a:avLst>
              <a:gd name="adj" fmla="val 50000"/>
            </a:avLst>
          </a:prstGeom>
          <a:solidFill>
            <a:srgbClr val="22A06B"/>
          </a:solidFill>
          <a:ln w="9525">
            <a:solidFill>
              <a:srgbClr val="22A06B"/>
            </a:solidFill>
            <a:prstDash val="solid"/>
          </a:ln>
        </p:spPr>
      </p:sp>
      <p:sp>
        <p:nvSpPr>
          <p:cNvPr id="68" name="Text 66"/>
          <p:cNvSpPr txBox="1"/>
          <p:nvPr/>
        </p:nvSpPr>
        <p:spPr>
          <a:xfrm>
            <a:off x="4764024" y="1783080"/>
            <a:ext cx="566928" cy="182880"/>
          </a:xfrm>
          <a:prstGeom prst="rect">
            <a:avLst/>
          </a:prstGeom>
          <a:noFill/>
          <a:ln/>
        </p:spPr>
        <p:txBody>
          <a:bodyPr wrap="square" lIns="0" tIns="0" rIns="0" bIns="0" rtlCol="0" anchor="ctr"/>
          <a:lstStyle/>
          <a:p>
            <a:pPr algn="ctr" indent="0" marL="0">
              <a:buNone/>
            </a:pPr>
            <a:r>
              <a:rPr lang="en-US" sz="550" b="1" dirty="0">
                <a:solidFill>
                  <a:srgbClr val="FFFFFF"/>
                </a:solidFill>
                <a:latin typeface="Arial" pitchFamily="34" charset="0"/>
                <a:ea typeface="Arial" pitchFamily="34" charset="-122"/>
                <a:cs typeface="Arial" pitchFamily="34" charset="-120"/>
              </a:rPr>
              <a:t>IN USE</a:t>
            </a:r>
            <a:endParaRPr lang="en-US" sz="550" dirty="0"/>
          </a:p>
        </p:txBody>
      </p:sp>
      <p:sp>
        <p:nvSpPr>
          <p:cNvPr id="69" name="Text 67"/>
          <p:cNvSpPr txBox="1"/>
          <p:nvPr/>
        </p:nvSpPr>
        <p:spPr>
          <a:xfrm>
            <a:off x="5385816" y="1691640"/>
            <a:ext cx="1110996" cy="365760"/>
          </a:xfrm>
          <a:prstGeom prst="rect">
            <a:avLst/>
          </a:prstGeom>
          <a:noFill/>
          <a:ln/>
        </p:spPr>
        <p:txBody>
          <a:bodyPr wrap="square" lIns="0" tIns="0" rIns="0" bIns="0" rtlCol="0" anchor="ctr"/>
          <a:lstStyle/>
          <a:p>
            <a:pPr indent="0" marL="0">
              <a:buNone/>
            </a:pPr>
            <a:r>
              <a:rPr lang="en-US" sz="850" dirty="0">
                <a:solidFill>
                  <a:srgbClr val="1A2B3C"/>
                </a:solidFill>
                <a:latin typeface="Calibri" pitchFamily="34" charset="0"/>
                <a:ea typeface="Calibri" pitchFamily="34" charset="-122"/>
                <a:cs typeface="Calibri" pitchFamily="34" charset="-120"/>
              </a:rPr>
              <a:t>TFS REST polling</a:t>
            </a:r>
            <a:endParaRPr lang="en-US" sz="850" dirty="0"/>
          </a:p>
        </p:txBody>
      </p:sp>
      <p:sp>
        <p:nvSpPr>
          <p:cNvPr id="70" name="Shape 68"/>
          <p:cNvSpPr/>
          <p:nvPr/>
        </p:nvSpPr>
        <p:spPr>
          <a:xfrm>
            <a:off x="4709160" y="2121408"/>
            <a:ext cx="1805940" cy="365760"/>
          </a:xfrm>
          <a:prstGeom prst="roundRect">
            <a:avLst>
              <a:gd name="adj" fmla="val 12500"/>
            </a:avLst>
          </a:prstGeom>
          <a:solidFill>
            <a:srgbClr val="FFFFFF"/>
          </a:solidFill>
          <a:ln w="12700">
            <a:solidFill>
              <a:srgbClr val="FFFFFF"/>
            </a:solidFill>
            <a:prstDash val="solid"/>
          </a:ln>
        </p:spPr>
      </p:sp>
      <p:sp>
        <p:nvSpPr>
          <p:cNvPr id="71" name="Shape 69"/>
          <p:cNvSpPr/>
          <p:nvPr/>
        </p:nvSpPr>
        <p:spPr>
          <a:xfrm>
            <a:off x="4764024" y="2212848"/>
            <a:ext cx="566928" cy="182880"/>
          </a:xfrm>
          <a:prstGeom prst="roundRect">
            <a:avLst>
              <a:gd name="adj" fmla="val 50000"/>
            </a:avLst>
          </a:prstGeom>
          <a:solidFill>
            <a:srgbClr val="0FA3B1"/>
          </a:solidFill>
          <a:ln w="9525">
            <a:solidFill>
              <a:srgbClr val="0FA3B1"/>
            </a:solidFill>
            <a:prstDash val="solid"/>
          </a:ln>
        </p:spPr>
      </p:sp>
      <p:sp>
        <p:nvSpPr>
          <p:cNvPr id="72" name="Text 70"/>
          <p:cNvSpPr txBox="1"/>
          <p:nvPr/>
        </p:nvSpPr>
        <p:spPr>
          <a:xfrm>
            <a:off x="4764024" y="2212848"/>
            <a:ext cx="566928" cy="182880"/>
          </a:xfrm>
          <a:prstGeom prst="rect">
            <a:avLst/>
          </a:prstGeom>
          <a:noFill/>
          <a:ln/>
        </p:spPr>
        <p:txBody>
          <a:bodyPr wrap="square" lIns="0" tIns="0" rIns="0" bIns="0" rtlCol="0" anchor="ctr"/>
          <a:lstStyle/>
          <a:p>
            <a:pPr algn="ctr" indent="0" marL="0">
              <a:buNone/>
            </a:pPr>
            <a:r>
              <a:rPr lang="en-US" sz="550" b="1" dirty="0">
                <a:solidFill>
                  <a:srgbClr val="FFFFFF"/>
                </a:solidFill>
                <a:latin typeface="Arial" pitchFamily="34" charset="0"/>
                <a:ea typeface="Arial" pitchFamily="34" charset="-122"/>
                <a:cs typeface="Arial" pitchFamily="34" charset="-120"/>
              </a:rPr>
              <a:t>IN TFS</a:t>
            </a:r>
            <a:endParaRPr lang="en-US" sz="550" dirty="0"/>
          </a:p>
        </p:txBody>
      </p:sp>
      <p:sp>
        <p:nvSpPr>
          <p:cNvPr id="73" name="Text 71"/>
          <p:cNvSpPr txBox="1"/>
          <p:nvPr/>
        </p:nvSpPr>
        <p:spPr>
          <a:xfrm>
            <a:off x="5385816" y="2121408"/>
            <a:ext cx="1110996" cy="365760"/>
          </a:xfrm>
          <a:prstGeom prst="rect">
            <a:avLst/>
          </a:prstGeom>
          <a:noFill/>
          <a:ln/>
        </p:spPr>
        <p:txBody>
          <a:bodyPr wrap="square" lIns="0" tIns="0" rIns="0" bIns="0" rtlCol="0" anchor="ctr"/>
          <a:lstStyle/>
          <a:p>
            <a:pPr indent="0" marL="0">
              <a:buNone/>
            </a:pPr>
            <a:r>
              <a:rPr lang="en-US" sz="850" dirty="0">
                <a:solidFill>
                  <a:srgbClr val="1A2B3C"/>
                </a:solidFill>
                <a:latin typeface="Calibri" pitchFamily="34" charset="0"/>
                <a:ea typeface="Calibri" pitchFamily="34" charset="-122"/>
                <a:cs typeface="Calibri" pitchFamily="34" charset="-120"/>
              </a:rPr>
              <a:t>RFC 8345 topology</a:t>
            </a:r>
            <a:endParaRPr lang="en-US" sz="850" dirty="0"/>
          </a:p>
        </p:txBody>
      </p:sp>
      <p:sp>
        <p:nvSpPr>
          <p:cNvPr id="74" name="Shape 72"/>
          <p:cNvSpPr/>
          <p:nvPr/>
        </p:nvSpPr>
        <p:spPr>
          <a:xfrm>
            <a:off x="4709160" y="2551176"/>
            <a:ext cx="1805940" cy="365760"/>
          </a:xfrm>
          <a:prstGeom prst="roundRect">
            <a:avLst>
              <a:gd name="adj" fmla="val 12500"/>
            </a:avLst>
          </a:prstGeom>
          <a:solidFill>
            <a:srgbClr val="FFFFFF"/>
          </a:solidFill>
          <a:ln w="12700">
            <a:solidFill>
              <a:srgbClr val="FFFFFF"/>
            </a:solidFill>
            <a:prstDash val="solid"/>
          </a:ln>
        </p:spPr>
      </p:sp>
      <p:sp>
        <p:nvSpPr>
          <p:cNvPr id="75" name="Shape 73"/>
          <p:cNvSpPr/>
          <p:nvPr/>
        </p:nvSpPr>
        <p:spPr>
          <a:xfrm>
            <a:off x="4764024" y="2642616"/>
            <a:ext cx="566928" cy="182880"/>
          </a:xfrm>
          <a:prstGeom prst="roundRect">
            <a:avLst>
              <a:gd name="adj" fmla="val 50000"/>
            </a:avLst>
          </a:prstGeom>
          <a:solidFill>
            <a:srgbClr val="0B1D33"/>
          </a:solidFill>
          <a:ln w="9525">
            <a:solidFill>
              <a:srgbClr val="0B1D33"/>
            </a:solidFill>
            <a:prstDash val="solid"/>
          </a:ln>
        </p:spPr>
      </p:sp>
      <p:sp>
        <p:nvSpPr>
          <p:cNvPr id="76" name="Text 74"/>
          <p:cNvSpPr txBox="1"/>
          <p:nvPr/>
        </p:nvSpPr>
        <p:spPr>
          <a:xfrm>
            <a:off x="4764024" y="2642616"/>
            <a:ext cx="566928" cy="182880"/>
          </a:xfrm>
          <a:prstGeom prst="rect">
            <a:avLst/>
          </a:prstGeom>
          <a:noFill/>
          <a:ln/>
        </p:spPr>
        <p:txBody>
          <a:bodyPr wrap="square" lIns="0" tIns="0" rIns="0" bIns="0" rtlCol="0" anchor="ctr"/>
          <a:lstStyle/>
          <a:p>
            <a:pPr algn="ctr" indent="0" marL="0">
              <a:buNone/>
            </a:pPr>
            <a:r>
              <a:rPr lang="en-US" sz="550" b="1" dirty="0">
                <a:solidFill>
                  <a:srgbClr val="FFFFFF"/>
                </a:solidFill>
                <a:latin typeface="Arial" pitchFamily="34" charset="0"/>
                <a:ea typeface="Arial" pitchFamily="34" charset="-122"/>
                <a:cs typeface="Arial" pitchFamily="34" charset="-120"/>
              </a:rPr>
              <a:t>ADOPT</a:t>
            </a:r>
            <a:endParaRPr lang="en-US" sz="550" dirty="0"/>
          </a:p>
        </p:txBody>
      </p:sp>
      <p:sp>
        <p:nvSpPr>
          <p:cNvPr id="77" name="Text 75"/>
          <p:cNvSpPr txBox="1"/>
          <p:nvPr/>
        </p:nvSpPr>
        <p:spPr>
          <a:xfrm>
            <a:off x="5385816" y="2551176"/>
            <a:ext cx="1110996" cy="365760"/>
          </a:xfrm>
          <a:prstGeom prst="rect">
            <a:avLst/>
          </a:prstGeom>
          <a:noFill/>
          <a:ln/>
        </p:spPr>
        <p:txBody>
          <a:bodyPr wrap="square" lIns="0" tIns="0" rIns="0" bIns="0" rtlCol="0" anchor="ctr"/>
          <a:lstStyle/>
          <a:p>
            <a:pPr indent="0" marL="0">
              <a:buNone/>
            </a:pPr>
            <a:r>
              <a:rPr lang="en-US" sz="850" dirty="0">
                <a:solidFill>
                  <a:srgbClr val="1A2B3C"/>
                </a:solidFill>
                <a:latin typeface="Calibri" pitchFamily="34" charset="0"/>
                <a:ea typeface="Calibri" pitchFamily="34" charset="-122"/>
                <a:cs typeface="Calibri" pitchFamily="34" charset="-120"/>
              </a:rPr>
              <a:t>RFC 8561 microwave YANG</a:t>
            </a:r>
            <a:endParaRPr lang="en-US" sz="850" dirty="0"/>
          </a:p>
        </p:txBody>
      </p:sp>
      <p:sp>
        <p:nvSpPr>
          <p:cNvPr id="78" name="Shape 76"/>
          <p:cNvSpPr/>
          <p:nvPr/>
        </p:nvSpPr>
        <p:spPr>
          <a:xfrm>
            <a:off x="4709160" y="2980944"/>
            <a:ext cx="1805940" cy="365760"/>
          </a:xfrm>
          <a:prstGeom prst="roundRect">
            <a:avLst>
              <a:gd name="adj" fmla="val 12500"/>
            </a:avLst>
          </a:prstGeom>
          <a:solidFill>
            <a:srgbClr val="FFFFFF"/>
          </a:solidFill>
          <a:ln w="12700">
            <a:solidFill>
              <a:srgbClr val="FFFFFF"/>
            </a:solidFill>
            <a:prstDash val="solid"/>
          </a:ln>
        </p:spPr>
      </p:sp>
      <p:sp>
        <p:nvSpPr>
          <p:cNvPr id="79" name="Shape 77"/>
          <p:cNvSpPr/>
          <p:nvPr/>
        </p:nvSpPr>
        <p:spPr>
          <a:xfrm>
            <a:off x="4764024" y="3072384"/>
            <a:ext cx="566928" cy="182880"/>
          </a:xfrm>
          <a:prstGeom prst="roundRect">
            <a:avLst>
              <a:gd name="adj" fmla="val 50000"/>
            </a:avLst>
          </a:prstGeom>
          <a:solidFill>
            <a:srgbClr val="0B1D33"/>
          </a:solidFill>
          <a:ln w="9525">
            <a:solidFill>
              <a:srgbClr val="0B1D33"/>
            </a:solidFill>
            <a:prstDash val="solid"/>
          </a:ln>
        </p:spPr>
      </p:sp>
      <p:sp>
        <p:nvSpPr>
          <p:cNvPr id="80" name="Text 78"/>
          <p:cNvSpPr txBox="1"/>
          <p:nvPr/>
        </p:nvSpPr>
        <p:spPr>
          <a:xfrm>
            <a:off x="4764024" y="3072384"/>
            <a:ext cx="566928" cy="182880"/>
          </a:xfrm>
          <a:prstGeom prst="rect">
            <a:avLst/>
          </a:prstGeom>
          <a:noFill/>
          <a:ln/>
        </p:spPr>
        <p:txBody>
          <a:bodyPr wrap="square" lIns="0" tIns="0" rIns="0" bIns="0" rtlCol="0" anchor="ctr"/>
          <a:lstStyle/>
          <a:p>
            <a:pPr algn="ctr" indent="0" marL="0">
              <a:buNone/>
            </a:pPr>
            <a:r>
              <a:rPr lang="en-US" sz="550" b="1" dirty="0">
                <a:solidFill>
                  <a:srgbClr val="FFFFFF"/>
                </a:solidFill>
                <a:latin typeface="Arial" pitchFamily="34" charset="0"/>
                <a:ea typeface="Arial" pitchFamily="34" charset="-122"/>
                <a:cs typeface="Arial" pitchFamily="34" charset="-120"/>
              </a:rPr>
              <a:t>ADOPT</a:t>
            </a:r>
            <a:endParaRPr lang="en-US" sz="550" dirty="0"/>
          </a:p>
        </p:txBody>
      </p:sp>
      <p:sp>
        <p:nvSpPr>
          <p:cNvPr id="81" name="Text 79"/>
          <p:cNvSpPr txBox="1"/>
          <p:nvPr/>
        </p:nvSpPr>
        <p:spPr>
          <a:xfrm>
            <a:off x="5385816" y="2980944"/>
            <a:ext cx="1110996" cy="365760"/>
          </a:xfrm>
          <a:prstGeom prst="rect">
            <a:avLst/>
          </a:prstGeom>
          <a:noFill/>
          <a:ln/>
        </p:spPr>
        <p:txBody>
          <a:bodyPr wrap="square" lIns="0" tIns="0" rIns="0" bIns="0" rtlCol="0" anchor="ctr"/>
          <a:lstStyle/>
          <a:p>
            <a:pPr indent="0" marL="0">
              <a:buNone/>
            </a:pPr>
            <a:r>
              <a:rPr lang="en-US" sz="850" dirty="0">
                <a:solidFill>
                  <a:srgbClr val="1A2B3C"/>
                </a:solidFill>
                <a:latin typeface="Calibri" pitchFamily="34" charset="0"/>
                <a:ea typeface="Calibri" pitchFamily="34" charset="-122"/>
                <a:cs typeface="Calibri" pitchFamily="34" charset="-120"/>
              </a:rPr>
              <a:t>YANG-Push · gNMI</a:t>
            </a:r>
            <a:endParaRPr lang="en-US" sz="850" dirty="0"/>
          </a:p>
        </p:txBody>
      </p:sp>
      <p:sp>
        <p:nvSpPr>
          <p:cNvPr id="82" name="Shape 80"/>
          <p:cNvSpPr/>
          <p:nvPr/>
        </p:nvSpPr>
        <p:spPr>
          <a:xfrm>
            <a:off x="4709160" y="3410712"/>
            <a:ext cx="1805940" cy="365760"/>
          </a:xfrm>
          <a:prstGeom prst="roundRect">
            <a:avLst>
              <a:gd name="adj" fmla="val 12500"/>
            </a:avLst>
          </a:prstGeom>
          <a:solidFill>
            <a:srgbClr val="FFFFFF"/>
          </a:solidFill>
          <a:ln w="12700">
            <a:solidFill>
              <a:srgbClr val="FFFFFF"/>
            </a:solidFill>
            <a:prstDash val="solid"/>
          </a:ln>
        </p:spPr>
      </p:sp>
      <p:sp>
        <p:nvSpPr>
          <p:cNvPr id="83" name="Shape 81"/>
          <p:cNvSpPr/>
          <p:nvPr/>
        </p:nvSpPr>
        <p:spPr>
          <a:xfrm>
            <a:off x="4764024" y="3502152"/>
            <a:ext cx="566928" cy="182880"/>
          </a:xfrm>
          <a:prstGeom prst="roundRect">
            <a:avLst>
              <a:gd name="adj" fmla="val 50000"/>
            </a:avLst>
          </a:prstGeom>
          <a:solidFill>
            <a:srgbClr val="0FA3B1"/>
          </a:solidFill>
          <a:ln w="9525">
            <a:solidFill>
              <a:srgbClr val="0FA3B1"/>
            </a:solidFill>
            <a:prstDash val="solid"/>
          </a:ln>
        </p:spPr>
      </p:sp>
      <p:sp>
        <p:nvSpPr>
          <p:cNvPr id="84" name="Text 82"/>
          <p:cNvSpPr txBox="1"/>
          <p:nvPr/>
        </p:nvSpPr>
        <p:spPr>
          <a:xfrm>
            <a:off x="4764024" y="3502152"/>
            <a:ext cx="566928" cy="182880"/>
          </a:xfrm>
          <a:prstGeom prst="rect">
            <a:avLst/>
          </a:prstGeom>
          <a:noFill/>
          <a:ln/>
        </p:spPr>
        <p:txBody>
          <a:bodyPr wrap="square" lIns="0" tIns="0" rIns="0" bIns="0" rtlCol="0" anchor="ctr"/>
          <a:lstStyle/>
          <a:p>
            <a:pPr algn="ctr" indent="0" marL="0">
              <a:buNone/>
            </a:pPr>
            <a:r>
              <a:rPr lang="en-US" sz="550" b="1" dirty="0">
                <a:solidFill>
                  <a:srgbClr val="FFFFFF"/>
                </a:solidFill>
                <a:latin typeface="Arial" pitchFamily="34" charset="0"/>
                <a:ea typeface="Arial" pitchFamily="34" charset="-122"/>
                <a:cs typeface="Arial" pitchFamily="34" charset="-120"/>
              </a:rPr>
              <a:t>IN TFS</a:t>
            </a:r>
            <a:endParaRPr lang="en-US" sz="550" dirty="0"/>
          </a:p>
        </p:txBody>
      </p:sp>
      <p:sp>
        <p:nvSpPr>
          <p:cNvPr id="85" name="Text 83"/>
          <p:cNvSpPr txBox="1"/>
          <p:nvPr/>
        </p:nvSpPr>
        <p:spPr>
          <a:xfrm>
            <a:off x="5385816" y="3410712"/>
            <a:ext cx="1110996" cy="365760"/>
          </a:xfrm>
          <a:prstGeom prst="rect">
            <a:avLst/>
          </a:prstGeom>
          <a:noFill/>
          <a:ln/>
        </p:spPr>
        <p:txBody>
          <a:bodyPr wrap="square" lIns="0" tIns="0" rIns="0" bIns="0" rtlCol="0" anchor="ctr"/>
          <a:lstStyle/>
          <a:p>
            <a:pPr indent="0" marL="0">
              <a:buNone/>
            </a:pPr>
            <a:r>
              <a:rPr lang="en-US" sz="850" dirty="0">
                <a:solidFill>
                  <a:srgbClr val="1A2B3C"/>
                </a:solidFill>
                <a:latin typeface="Calibri" pitchFamily="34" charset="0"/>
                <a:ea typeface="Calibri" pitchFamily="34" charset="-122"/>
                <a:cs typeface="Calibri" pitchFamily="34" charset="-120"/>
              </a:rPr>
              <a:t>KPI · telemetry · Kafka</a:t>
            </a:r>
            <a:endParaRPr lang="en-US" sz="850" dirty="0"/>
          </a:p>
        </p:txBody>
      </p:sp>
      <p:sp>
        <p:nvSpPr>
          <p:cNvPr id="86" name="Shape 84"/>
          <p:cNvSpPr/>
          <p:nvPr/>
        </p:nvSpPr>
        <p:spPr>
          <a:xfrm>
            <a:off x="4709160" y="3840480"/>
            <a:ext cx="1805940" cy="365760"/>
          </a:xfrm>
          <a:prstGeom prst="roundRect">
            <a:avLst>
              <a:gd name="adj" fmla="val 12500"/>
            </a:avLst>
          </a:prstGeom>
          <a:solidFill>
            <a:srgbClr val="FFFFFF"/>
          </a:solidFill>
          <a:ln w="12700">
            <a:solidFill>
              <a:srgbClr val="FFFFFF"/>
            </a:solidFill>
            <a:prstDash val="solid"/>
          </a:ln>
        </p:spPr>
      </p:sp>
      <p:sp>
        <p:nvSpPr>
          <p:cNvPr id="87" name="Shape 85"/>
          <p:cNvSpPr/>
          <p:nvPr/>
        </p:nvSpPr>
        <p:spPr>
          <a:xfrm>
            <a:off x="4764024" y="3931920"/>
            <a:ext cx="566928" cy="182880"/>
          </a:xfrm>
          <a:prstGeom prst="roundRect">
            <a:avLst>
              <a:gd name="adj" fmla="val 50000"/>
            </a:avLst>
          </a:prstGeom>
          <a:solidFill>
            <a:srgbClr val="0B1D33"/>
          </a:solidFill>
          <a:ln w="9525">
            <a:solidFill>
              <a:srgbClr val="0B1D33"/>
            </a:solidFill>
            <a:prstDash val="solid"/>
          </a:ln>
        </p:spPr>
      </p:sp>
      <p:sp>
        <p:nvSpPr>
          <p:cNvPr id="88" name="Text 86"/>
          <p:cNvSpPr txBox="1"/>
          <p:nvPr/>
        </p:nvSpPr>
        <p:spPr>
          <a:xfrm>
            <a:off x="4764024" y="3931920"/>
            <a:ext cx="566928" cy="182880"/>
          </a:xfrm>
          <a:prstGeom prst="rect">
            <a:avLst/>
          </a:prstGeom>
          <a:noFill/>
          <a:ln/>
        </p:spPr>
        <p:txBody>
          <a:bodyPr wrap="square" lIns="0" tIns="0" rIns="0" bIns="0" rtlCol="0" anchor="ctr"/>
          <a:lstStyle/>
          <a:p>
            <a:pPr algn="ctr" indent="0" marL="0">
              <a:buNone/>
            </a:pPr>
            <a:r>
              <a:rPr lang="en-US" sz="550" b="1" dirty="0">
                <a:solidFill>
                  <a:srgbClr val="FFFFFF"/>
                </a:solidFill>
                <a:latin typeface="Arial" pitchFamily="34" charset="0"/>
                <a:ea typeface="Arial" pitchFamily="34" charset="-122"/>
                <a:cs typeface="Arial" pitchFamily="34" charset="-120"/>
              </a:rPr>
              <a:t>ADOPT</a:t>
            </a:r>
            <a:endParaRPr lang="en-US" sz="550" dirty="0"/>
          </a:p>
        </p:txBody>
      </p:sp>
      <p:sp>
        <p:nvSpPr>
          <p:cNvPr id="89" name="Text 87"/>
          <p:cNvSpPr txBox="1"/>
          <p:nvPr/>
        </p:nvSpPr>
        <p:spPr>
          <a:xfrm>
            <a:off x="5385816" y="3840480"/>
            <a:ext cx="1110996" cy="365760"/>
          </a:xfrm>
          <a:prstGeom prst="rect">
            <a:avLst/>
          </a:prstGeom>
          <a:noFill/>
          <a:ln/>
        </p:spPr>
        <p:txBody>
          <a:bodyPr wrap="square" lIns="0" tIns="0" rIns="0" bIns="0" rtlCol="0" anchor="ctr"/>
          <a:lstStyle/>
          <a:p>
            <a:pPr indent="0" marL="0">
              <a:buNone/>
            </a:pPr>
            <a:r>
              <a:rPr lang="en-US" sz="850" dirty="0">
                <a:solidFill>
                  <a:srgbClr val="1A2B3C"/>
                </a:solidFill>
                <a:latin typeface="Calibri" pitchFamily="34" charset="0"/>
                <a:ea typeface="Calibri" pitchFamily="34" charset="-122"/>
                <a:cs typeface="Calibri" pitchFamily="34" charset="-120"/>
              </a:rPr>
              <a:t>ITU-R P.838 · P.676 · P.530</a:t>
            </a:r>
            <a:endParaRPr lang="en-US" sz="850" dirty="0"/>
          </a:p>
        </p:txBody>
      </p:sp>
      <p:sp>
        <p:nvSpPr>
          <p:cNvPr id="90" name="Shape 88"/>
          <p:cNvSpPr/>
          <p:nvPr/>
        </p:nvSpPr>
        <p:spPr>
          <a:xfrm>
            <a:off x="4709160" y="4270248"/>
            <a:ext cx="1805940" cy="365760"/>
          </a:xfrm>
          <a:prstGeom prst="roundRect">
            <a:avLst>
              <a:gd name="adj" fmla="val 12500"/>
            </a:avLst>
          </a:prstGeom>
          <a:solidFill>
            <a:srgbClr val="FFFFFF"/>
          </a:solidFill>
          <a:ln w="12700">
            <a:solidFill>
              <a:srgbClr val="FFFFFF"/>
            </a:solidFill>
            <a:prstDash val="solid"/>
          </a:ln>
        </p:spPr>
      </p:sp>
      <p:sp>
        <p:nvSpPr>
          <p:cNvPr id="91" name="Shape 89"/>
          <p:cNvSpPr/>
          <p:nvPr/>
        </p:nvSpPr>
        <p:spPr>
          <a:xfrm>
            <a:off x="4764024" y="4361688"/>
            <a:ext cx="566928" cy="182880"/>
          </a:xfrm>
          <a:prstGeom prst="roundRect">
            <a:avLst>
              <a:gd name="adj" fmla="val 50000"/>
            </a:avLst>
          </a:prstGeom>
          <a:solidFill>
            <a:srgbClr val="0B1D33"/>
          </a:solidFill>
          <a:ln w="9525">
            <a:solidFill>
              <a:srgbClr val="0B1D33"/>
            </a:solidFill>
            <a:prstDash val="solid"/>
          </a:ln>
        </p:spPr>
      </p:sp>
      <p:sp>
        <p:nvSpPr>
          <p:cNvPr id="92" name="Text 90"/>
          <p:cNvSpPr txBox="1"/>
          <p:nvPr/>
        </p:nvSpPr>
        <p:spPr>
          <a:xfrm>
            <a:off x="4764024" y="4361688"/>
            <a:ext cx="566928" cy="182880"/>
          </a:xfrm>
          <a:prstGeom prst="rect">
            <a:avLst/>
          </a:prstGeom>
          <a:noFill/>
          <a:ln/>
        </p:spPr>
        <p:txBody>
          <a:bodyPr wrap="square" lIns="0" tIns="0" rIns="0" bIns="0" rtlCol="0" anchor="ctr"/>
          <a:lstStyle/>
          <a:p>
            <a:pPr algn="ctr" indent="0" marL="0">
              <a:buNone/>
            </a:pPr>
            <a:r>
              <a:rPr lang="en-US" sz="550" b="1" dirty="0">
                <a:solidFill>
                  <a:srgbClr val="FFFFFF"/>
                </a:solidFill>
                <a:latin typeface="Arial" pitchFamily="34" charset="0"/>
                <a:ea typeface="Arial" pitchFamily="34" charset="-122"/>
                <a:cs typeface="Arial" pitchFamily="34" charset="-120"/>
              </a:rPr>
              <a:t>ADOPT</a:t>
            </a:r>
            <a:endParaRPr lang="en-US" sz="550" dirty="0"/>
          </a:p>
        </p:txBody>
      </p:sp>
      <p:sp>
        <p:nvSpPr>
          <p:cNvPr id="93" name="Text 91"/>
          <p:cNvSpPr txBox="1"/>
          <p:nvPr/>
        </p:nvSpPr>
        <p:spPr>
          <a:xfrm>
            <a:off x="5385816" y="4270248"/>
            <a:ext cx="1110996" cy="365760"/>
          </a:xfrm>
          <a:prstGeom prst="rect">
            <a:avLst/>
          </a:prstGeom>
          <a:noFill/>
          <a:ln/>
        </p:spPr>
        <p:txBody>
          <a:bodyPr wrap="square" lIns="0" tIns="0" rIns="0" bIns="0" rtlCol="0" anchor="ctr"/>
          <a:lstStyle/>
          <a:p>
            <a:pPr indent="0" marL="0">
              <a:buNone/>
            </a:pPr>
            <a:r>
              <a:rPr lang="en-US" sz="850" dirty="0">
                <a:solidFill>
                  <a:srgbClr val="1A2B3C"/>
                </a:solidFill>
                <a:latin typeface="Calibri" pitchFamily="34" charset="0"/>
                <a:ea typeface="Calibri" pitchFamily="34" charset="-122"/>
                <a:cs typeface="Calibri" pitchFamily="34" charset="-120"/>
              </a:rPr>
              <a:t>Y.3092 NDT-p · Y.3093</a:t>
            </a:r>
            <a:endParaRPr lang="en-US" sz="850" dirty="0"/>
          </a:p>
        </p:txBody>
      </p:sp>
      <p:sp>
        <p:nvSpPr>
          <p:cNvPr id="94" name="Shape 92"/>
          <p:cNvSpPr/>
          <p:nvPr/>
        </p:nvSpPr>
        <p:spPr>
          <a:xfrm>
            <a:off x="6697980" y="1188720"/>
            <a:ext cx="1988820" cy="3584448"/>
          </a:xfrm>
          <a:prstGeom prst="roundRect">
            <a:avLst>
              <a:gd name="adj" fmla="val 3678"/>
            </a:avLst>
          </a:prstGeom>
          <a:solidFill>
            <a:srgbClr val="F2F5F8"/>
          </a:solidFill>
          <a:ln w="12700">
            <a:solidFill>
              <a:srgbClr val="F2F5F8"/>
            </a:solidFill>
            <a:prstDash val="solid"/>
          </a:ln>
        </p:spPr>
      </p:sp>
      <p:sp>
        <p:nvSpPr>
          <p:cNvPr id="95" name="Text 93"/>
          <p:cNvSpPr txBox="1"/>
          <p:nvPr/>
        </p:nvSpPr>
        <p:spPr>
          <a:xfrm>
            <a:off x="6807708" y="1280160"/>
            <a:ext cx="1805940" cy="292608"/>
          </a:xfrm>
          <a:prstGeom prst="rect">
            <a:avLst/>
          </a:prstGeom>
          <a:noFill/>
          <a:ln/>
        </p:spPr>
        <p:txBody>
          <a:bodyPr wrap="square" lIns="0" tIns="0" rIns="0" bIns="0" rtlCol="0" anchor="ctr"/>
          <a:lstStyle/>
          <a:p>
            <a:pPr indent="0" marL="0">
              <a:buNone/>
            </a:pPr>
            <a:r>
              <a:rPr lang="en-US" sz="1200" b="1" dirty="0">
                <a:solidFill>
                  <a:srgbClr val="22A06B"/>
                </a:solidFill>
                <a:latin typeface="Arial" pitchFamily="34" charset="0"/>
                <a:ea typeface="Arial" pitchFamily="34" charset="-122"/>
                <a:cs typeface="Arial" pitchFamily="34" charset="-120"/>
              </a:rPr>
              <a:t>④ </a:t>
            </a:r>
            <a:pPr indent="0" marL="0">
              <a:buNone/>
            </a:pPr>
            <a:r>
              <a:rPr lang="en-US" sz="1200" b="1" dirty="0">
                <a:solidFill>
                  <a:srgbClr val="0B1D33"/>
                </a:solidFill>
                <a:latin typeface="Arial" pitchFamily="34" charset="0"/>
                <a:ea typeface="Arial" pitchFamily="34" charset="-122"/>
                <a:cs typeface="Arial" pitchFamily="34" charset="-120"/>
              </a:rPr>
              <a:t>TFS → radio</a:t>
            </a:r>
            <a:endParaRPr lang="en-US" sz="1200" dirty="0"/>
          </a:p>
        </p:txBody>
      </p:sp>
      <p:sp>
        <p:nvSpPr>
          <p:cNvPr id="96" name="Shape 94"/>
          <p:cNvSpPr/>
          <p:nvPr/>
        </p:nvSpPr>
        <p:spPr>
          <a:xfrm>
            <a:off x="6789420" y="1691640"/>
            <a:ext cx="1805940" cy="365760"/>
          </a:xfrm>
          <a:prstGeom prst="roundRect">
            <a:avLst>
              <a:gd name="adj" fmla="val 12500"/>
            </a:avLst>
          </a:prstGeom>
          <a:solidFill>
            <a:srgbClr val="FFFFFF"/>
          </a:solidFill>
          <a:ln w="12700">
            <a:solidFill>
              <a:srgbClr val="FFFFFF"/>
            </a:solidFill>
            <a:prstDash val="solid"/>
          </a:ln>
        </p:spPr>
      </p:sp>
      <p:sp>
        <p:nvSpPr>
          <p:cNvPr id="97" name="Shape 95"/>
          <p:cNvSpPr/>
          <p:nvPr/>
        </p:nvSpPr>
        <p:spPr>
          <a:xfrm>
            <a:off x="6844284" y="1783080"/>
            <a:ext cx="566928" cy="182880"/>
          </a:xfrm>
          <a:prstGeom prst="roundRect">
            <a:avLst>
              <a:gd name="adj" fmla="val 50000"/>
            </a:avLst>
          </a:prstGeom>
          <a:solidFill>
            <a:srgbClr val="22A06B"/>
          </a:solidFill>
          <a:ln w="9525">
            <a:solidFill>
              <a:srgbClr val="22A06B"/>
            </a:solidFill>
            <a:prstDash val="solid"/>
          </a:ln>
        </p:spPr>
      </p:sp>
      <p:sp>
        <p:nvSpPr>
          <p:cNvPr id="98" name="Text 96"/>
          <p:cNvSpPr txBox="1"/>
          <p:nvPr/>
        </p:nvSpPr>
        <p:spPr>
          <a:xfrm>
            <a:off x="6844284" y="1783080"/>
            <a:ext cx="566928" cy="182880"/>
          </a:xfrm>
          <a:prstGeom prst="rect">
            <a:avLst/>
          </a:prstGeom>
          <a:noFill/>
          <a:ln/>
        </p:spPr>
        <p:txBody>
          <a:bodyPr wrap="square" lIns="0" tIns="0" rIns="0" bIns="0" rtlCol="0" anchor="ctr"/>
          <a:lstStyle/>
          <a:p>
            <a:pPr algn="ctr" indent="0" marL="0">
              <a:buNone/>
            </a:pPr>
            <a:r>
              <a:rPr lang="en-US" sz="550" b="1" dirty="0">
                <a:solidFill>
                  <a:srgbClr val="FFFFFF"/>
                </a:solidFill>
                <a:latin typeface="Arial" pitchFamily="34" charset="0"/>
                <a:ea typeface="Arial" pitchFamily="34" charset="-122"/>
                <a:cs typeface="Arial" pitchFamily="34" charset="-120"/>
              </a:rPr>
              <a:t>IN USE</a:t>
            </a:r>
            <a:endParaRPr lang="en-US" sz="550" dirty="0"/>
          </a:p>
        </p:txBody>
      </p:sp>
      <p:sp>
        <p:nvSpPr>
          <p:cNvPr id="99" name="Text 97"/>
          <p:cNvSpPr txBox="1"/>
          <p:nvPr/>
        </p:nvSpPr>
        <p:spPr>
          <a:xfrm>
            <a:off x="7466076" y="1691640"/>
            <a:ext cx="1110996" cy="365760"/>
          </a:xfrm>
          <a:prstGeom prst="rect">
            <a:avLst/>
          </a:prstGeom>
          <a:noFill/>
          <a:ln/>
        </p:spPr>
        <p:txBody>
          <a:bodyPr wrap="square" lIns="0" tIns="0" rIns="0" bIns="0" rtlCol="0" anchor="ctr"/>
          <a:lstStyle/>
          <a:p>
            <a:pPr indent="0" marL="0">
              <a:buNone/>
            </a:pPr>
            <a:r>
              <a:rPr lang="en-US" sz="850" dirty="0">
                <a:solidFill>
                  <a:srgbClr val="1A2B3C"/>
                </a:solidFill>
                <a:latin typeface="Calibri" pitchFamily="34" charset="0"/>
                <a:ea typeface="Calibri" pitchFamily="34" charset="-122"/>
                <a:cs typeface="Calibri" pitchFamily="34" charset="-120"/>
              </a:rPr>
              <a:t>RESTCONF RFC 8040</a:t>
            </a:r>
            <a:endParaRPr lang="en-US" sz="850" dirty="0"/>
          </a:p>
        </p:txBody>
      </p:sp>
      <p:sp>
        <p:nvSpPr>
          <p:cNvPr id="100" name="Shape 98"/>
          <p:cNvSpPr/>
          <p:nvPr/>
        </p:nvSpPr>
        <p:spPr>
          <a:xfrm>
            <a:off x="6789420" y="2121408"/>
            <a:ext cx="1805940" cy="365760"/>
          </a:xfrm>
          <a:prstGeom prst="roundRect">
            <a:avLst>
              <a:gd name="adj" fmla="val 12500"/>
            </a:avLst>
          </a:prstGeom>
          <a:solidFill>
            <a:srgbClr val="FFFFFF"/>
          </a:solidFill>
          <a:ln w="12700">
            <a:solidFill>
              <a:srgbClr val="FFFFFF"/>
            </a:solidFill>
            <a:prstDash val="solid"/>
          </a:ln>
        </p:spPr>
      </p:sp>
      <p:sp>
        <p:nvSpPr>
          <p:cNvPr id="101" name="Shape 99"/>
          <p:cNvSpPr/>
          <p:nvPr/>
        </p:nvSpPr>
        <p:spPr>
          <a:xfrm>
            <a:off x="6844284" y="2212848"/>
            <a:ext cx="566928" cy="182880"/>
          </a:xfrm>
          <a:prstGeom prst="roundRect">
            <a:avLst>
              <a:gd name="adj" fmla="val 50000"/>
            </a:avLst>
          </a:prstGeom>
          <a:solidFill>
            <a:srgbClr val="22A06B"/>
          </a:solidFill>
          <a:ln w="9525">
            <a:solidFill>
              <a:srgbClr val="22A06B"/>
            </a:solidFill>
            <a:prstDash val="solid"/>
          </a:ln>
        </p:spPr>
      </p:sp>
      <p:sp>
        <p:nvSpPr>
          <p:cNvPr id="102" name="Text 100"/>
          <p:cNvSpPr txBox="1"/>
          <p:nvPr/>
        </p:nvSpPr>
        <p:spPr>
          <a:xfrm>
            <a:off x="6844284" y="2212848"/>
            <a:ext cx="566928" cy="182880"/>
          </a:xfrm>
          <a:prstGeom prst="rect">
            <a:avLst/>
          </a:prstGeom>
          <a:noFill/>
          <a:ln/>
        </p:spPr>
        <p:txBody>
          <a:bodyPr wrap="square" lIns="0" tIns="0" rIns="0" bIns="0" rtlCol="0" anchor="ctr"/>
          <a:lstStyle/>
          <a:p>
            <a:pPr algn="ctr" indent="0" marL="0">
              <a:buNone/>
            </a:pPr>
            <a:r>
              <a:rPr lang="en-US" sz="550" b="1" dirty="0">
                <a:solidFill>
                  <a:srgbClr val="FFFFFF"/>
                </a:solidFill>
                <a:latin typeface="Arial" pitchFamily="34" charset="0"/>
                <a:ea typeface="Arial" pitchFamily="34" charset="-122"/>
                <a:cs typeface="Arial" pitchFamily="34" charset="-120"/>
              </a:rPr>
              <a:t>IN USE</a:t>
            </a:r>
            <a:endParaRPr lang="en-US" sz="550" dirty="0"/>
          </a:p>
        </p:txBody>
      </p:sp>
      <p:sp>
        <p:nvSpPr>
          <p:cNvPr id="103" name="Text 101"/>
          <p:cNvSpPr txBox="1"/>
          <p:nvPr/>
        </p:nvSpPr>
        <p:spPr>
          <a:xfrm>
            <a:off x="7466076" y="2121408"/>
            <a:ext cx="1110996" cy="365760"/>
          </a:xfrm>
          <a:prstGeom prst="rect">
            <a:avLst/>
          </a:prstGeom>
          <a:noFill/>
          <a:ln/>
        </p:spPr>
        <p:txBody>
          <a:bodyPr wrap="square" lIns="0" tIns="0" rIns="0" bIns="0" rtlCol="0" anchor="ctr"/>
          <a:lstStyle/>
          <a:p>
            <a:pPr indent="0" marL="0">
              <a:buNone/>
            </a:pPr>
            <a:r>
              <a:rPr lang="en-US" sz="850" dirty="0">
                <a:solidFill>
                  <a:srgbClr val="1A2B3C"/>
                </a:solidFill>
                <a:latin typeface="Calibri" pitchFamily="34" charset="0"/>
                <a:ea typeface="Calibri" pitchFamily="34" charset="-122"/>
                <a:cs typeface="Calibri" pitchFamily="34" charset="-120"/>
              </a:rPr>
              <a:t>NMDA RFC 8527 · 8342</a:t>
            </a:r>
            <a:endParaRPr lang="en-US" sz="850" dirty="0"/>
          </a:p>
        </p:txBody>
      </p:sp>
      <p:sp>
        <p:nvSpPr>
          <p:cNvPr id="104" name="Shape 102"/>
          <p:cNvSpPr/>
          <p:nvPr/>
        </p:nvSpPr>
        <p:spPr>
          <a:xfrm>
            <a:off x="6789420" y="2551176"/>
            <a:ext cx="1805940" cy="365760"/>
          </a:xfrm>
          <a:prstGeom prst="roundRect">
            <a:avLst>
              <a:gd name="adj" fmla="val 12500"/>
            </a:avLst>
          </a:prstGeom>
          <a:solidFill>
            <a:srgbClr val="FFFFFF"/>
          </a:solidFill>
          <a:ln w="12700">
            <a:solidFill>
              <a:srgbClr val="FFFFFF"/>
            </a:solidFill>
            <a:prstDash val="solid"/>
          </a:ln>
        </p:spPr>
      </p:sp>
      <p:sp>
        <p:nvSpPr>
          <p:cNvPr id="105" name="Shape 103"/>
          <p:cNvSpPr/>
          <p:nvPr/>
        </p:nvSpPr>
        <p:spPr>
          <a:xfrm>
            <a:off x="6844284" y="2642616"/>
            <a:ext cx="566928" cy="182880"/>
          </a:xfrm>
          <a:prstGeom prst="roundRect">
            <a:avLst>
              <a:gd name="adj" fmla="val 50000"/>
            </a:avLst>
          </a:prstGeom>
          <a:solidFill>
            <a:srgbClr val="22A06B"/>
          </a:solidFill>
          <a:ln w="9525">
            <a:solidFill>
              <a:srgbClr val="22A06B"/>
            </a:solidFill>
            <a:prstDash val="solid"/>
          </a:ln>
        </p:spPr>
      </p:sp>
      <p:sp>
        <p:nvSpPr>
          <p:cNvPr id="106" name="Text 104"/>
          <p:cNvSpPr txBox="1"/>
          <p:nvPr/>
        </p:nvSpPr>
        <p:spPr>
          <a:xfrm>
            <a:off x="6844284" y="2642616"/>
            <a:ext cx="566928" cy="182880"/>
          </a:xfrm>
          <a:prstGeom prst="rect">
            <a:avLst/>
          </a:prstGeom>
          <a:noFill/>
          <a:ln/>
        </p:spPr>
        <p:txBody>
          <a:bodyPr wrap="square" lIns="0" tIns="0" rIns="0" bIns="0" rtlCol="0" anchor="ctr"/>
          <a:lstStyle/>
          <a:p>
            <a:pPr algn="ctr" indent="0" marL="0">
              <a:buNone/>
            </a:pPr>
            <a:r>
              <a:rPr lang="en-US" sz="550" b="1" dirty="0">
                <a:solidFill>
                  <a:srgbClr val="FFFFFF"/>
                </a:solidFill>
                <a:latin typeface="Arial" pitchFamily="34" charset="0"/>
                <a:ea typeface="Arial" pitchFamily="34" charset="-122"/>
                <a:cs typeface="Arial" pitchFamily="34" charset="-120"/>
              </a:rPr>
              <a:t>IN USE</a:t>
            </a:r>
            <a:endParaRPr lang="en-US" sz="550" dirty="0"/>
          </a:p>
        </p:txBody>
      </p:sp>
      <p:sp>
        <p:nvSpPr>
          <p:cNvPr id="107" name="Text 105"/>
          <p:cNvSpPr txBox="1"/>
          <p:nvPr/>
        </p:nvSpPr>
        <p:spPr>
          <a:xfrm>
            <a:off x="7466076" y="2551176"/>
            <a:ext cx="1110996" cy="365760"/>
          </a:xfrm>
          <a:prstGeom prst="rect">
            <a:avLst/>
          </a:prstGeom>
          <a:noFill/>
          <a:ln/>
        </p:spPr>
        <p:txBody>
          <a:bodyPr wrap="square" lIns="0" tIns="0" rIns="0" bIns="0" rtlCol="0" anchor="ctr"/>
          <a:lstStyle/>
          <a:p>
            <a:pPr indent="0" marL="0">
              <a:buNone/>
            </a:pPr>
            <a:r>
              <a:rPr lang="en-US" sz="850" dirty="0">
                <a:solidFill>
                  <a:srgbClr val="1A2B3C"/>
                </a:solidFill>
                <a:latin typeface="Calibri" pitchFamily="34" charset="0"/>
                <a:ea typeface="Calibri" pitchFamily="34" charset="-122"/>
                <a:cs typeface="Calibri" pitchFamily="34" charset="-120"/>
              </a:rPr>
              <a:t>YANG 1.1 · 802.1Q</a:t>
            </a:r>
            <a:endParaRPr lang="en-US" sz="850" dirty="0"/>
          </a:p>
        </p:txBody>
      </p:sp>
      <p:sp>
        <p:nvSpPr>
          <p:cNvPr id="108" name="Shape 106"/>
          <p:cNvSpPr/>
          <p:nvPr/>
        </p:nvSpPr>
        <p:spPr>
          <a:xfrm>
            <a:off x="6789420" y="2980944"/>
            <a:ext cx="1805940" cy="365760"/>
          </a:xfrm>
          <a:prstGeom prst="roundRect">
            <a:avLst>
              <a:gd name="adj" fmla="val 12500"/>
            </a:avLst>
          </a:prstGeom>
          <a:solidFill>
            <a:srgbClr val="FFFFFF"/>
          </a:solidFill>
          <a:ln w="12700">
            <a:solidFill>
              <a:srgbClr val="FFFFFF"/>
            </a:solidFill>
            <a:prstDash val="solid"/>
          </a:ln>
        </p:spPr>
      </p:sp>
      <p:sp>
        <p:nvSpPr>
          <p:cNvPr id="109" name="Shape 107"/>
          <p:cNvSpPr/>
          <p:nvPr/>
        </p:nvSpPr>
        <p:spPr>
          <a:xfrm>
            <a:off x="6844284" y="3072384"/>
            <a:ext cx="566928" cy="182880"/>
          </a:xfrm>
          <a:prstGeom prst="roundRect">
            <a:avLst>
              <a:gd name="adj" fmla="val 50000"/>
            </a:avLst>
          </a:prstGeom>
          <a:solidFill>
            <a:srgbClr val="0B1D33"/>
          </a:solidFill>
          <a:ln w="9525">
            <a:solidFill>
              <a:srgbClr val="0B1D33"/>
            </a:solidFill>
            <a:prstDash val="solid"/>
          </a:ln>
        </p:spPr>
      </p:sp>
      <p:sp>
        <p:nvSpPr>
          <p:cNvPr id="110" name="Text 108"/>
          <p:cNvSpPr txBox="1"/>
          <p:nvPr/>
        </p:nvSpPr>
        <p:spPr>
          <a:xfrm>
            <a:off x="6844284" y="3072384"/>
            <a:ext cx="566928" cy="182880"/>
          </a:xfrm>
          <a:prstGeom prst="rect">
            <a:avLst/>
          </a:prstGeom>
          <a:noFill/>
          <a:ln/>
        </p:spPr>
        <p:txBody>
          <a:bodyPr wrap="square" lIns="0" tIns="0" rIns="0" bIns="0" rtlCol="0" anchor="ctr"/>
          <a:lstStyle/>
          <a:p>
            <a:pPr algn="ctr" indent="0" marL="0">
              <a:buNone/>
            </a:pPr>
            <a:r>
              <a:rPr lang="en-US" sz="550" b="1" dirty="0">
                <a:solidFill>
                  <a:srgbClr val="FFFFFF"/>
                </a:solidFill>
                <a:latin typeface="Arial" pitchFamily="34" charset="0"/>
                <a:ea typeface="Arial" pitchFamily="34" charset="-122"/>
                <a:cs typeface="Arial" pitchFamily="34" charset="-120"/>
              </a:rPr>
              <a:t>ADOPT</a:t>
            </a:r>
            <a:endParaRPr lang="en-US" sz="550" dirty="0"/>
          </a:p>
        </p:txBody>
      </p:sp>
      <p:sp>
        <p:nvSpPr>
          <p:cNvPr id="111" name="Text 109"/>
          <p:cNvSpPr txBox="1"/>
          <p:nvPr/>
        </p:nvSpPr>
        <p:spPr>
          <a:xfrm>
            <a:off x="7466076" y="2980944"/>
            <a:ext cx="1110996" cy="365760"/>
          </a:xfrm>
          <a:prstGeom prst="rect">
            <a:avLst/>
          </a:prstGeom>
          <a:noFill/>
          <a:ln/>
        </p:spPr>
        <p:txBody>
          <a:bodyPr wrap="square" lIns="0" tIns="0" rIns="0" bIns="0" rtlCol="0" anchor="ctr"/>
          <a:lstStyle/>
          <a:p>
            <a:pPr indent="0" marL="0">
              <a:buNone/>
            </a:pPr>
            <a:r>
              <a:rPr lang="en-US" sz="850" dirty="0">
                <a:solidFill>
                  <a:srgbClr val="1A2B3C"/>
                </a:solidFill>
                <a:latin typeface="Calibri" pitchFamily="34" charset="0"/>
                <a:ea typeface="Calibri" pitchFamily="34" charset="-122"/>
                <a:cs typeface="Calibri" pitchFamily="34" charset="-120"/>
              </a:rPr>
              <a:t>RFC 8561 · ONF TR-532</a:t>
            </a:r>
            <a:endParaRPr lang="en-US" sz="850" dirty="0"/>
          </a:p>
        </p:txBody>
      </p:sp>
      <p:sp>
        <p:nvSpPr>
          <p:cNvPr id="112" name="Shape 110"/>
          <p:cNvSpPr/>
          <p:nvPr/>
        </p:nvSpPr>
        <p:spPr>
          <a:xfrm>
            <a:off x="6789420" y="3410712"/>
            <a:ext cx="1805940" cy="365760"/>
          </a:xfrm>
          <a:prstGeom prst="roundRect">
            <a:avLst>
              <a:gd name="adj" fmla="val 12500"/>
            </a:avLst>
          </a:prstGeom>
          <a:solidFill>
            <a:srgbClr val="FFFFFF"/>
          </a:solidFill>
          <a:ln w="12700">
            <a:solidFill>
              <a:srgbClr val="FFFFFF"/>
            </a:solidFill>
            <a:prstDash val="solid"/>
          </a:ln>
        </p:spPr>
      </p:sp>
      <p:sp>
        <p:nvSpPr>
          <p:cNvPr id="113" name="Shape 111"/>
          <p:cNvSpPr/>
          <p:nvPr/>
        </p:nvSpPr>
        <p:spPr>
          <a:xfrm>
            <a:off x="6844284" y="3502152"/>
            <a:ext cx="566928" cy="182880"/>
          </a:xfrm>
          <a:prstGeom prst="roundRect">
            <a:avLst>
              <a:gd name="adj" fmla="val 50000"/>
            </a:avLst>
          </a:prstGeom>
          <a:solidFill>
            <a:srgbClr val="0B1D33"/>
          </a:solidFill>
          <a:ln w="9525">
            <a:solidFill>
              <a:srgbClr val="0B1D33"/>
            </a:solidFill>
            <a:prstDash val="solid"/>
          </a:ln>
        </p:spPr>
      </p:sp>
      <p:sp>
        <p:nvSpPr>
          <p:cNvPr id="114" name="Text 112"/>
          <p:cNvSpPr txBox="1"/>
          <p:nvPr/>
        </p:nvSpPr>
        <p:spPr>
          <a:xfrm>
            <a:off x="6844284" y="3502152"/>
            <a:ext cx="566928" cy="182880"/>
          </a:xfrm>
          <a:prstGeom prst="rect">
            <a:avLst/>
          </a:prstGeom>
          <a:noFill/>
          <a:ln/>
        </p:spPr>
        <p:txBody>
          <a:bodyPr wrap="square" lIns="0" tIns="0" rIns="0" bIns="0" rtlCol="0" anchor="ctr"/>
          <a:lstStyle/>
          <a:p>
            <a:pPr algn="ctr" indent="0" marL="0">
              <a:buNone/>
            </a:pPr>
            <a:r>
              <a:rPr lang="en-US" sz="550" b="1" dirty="0">
                <a:solidFill>
                  <a:srgbClr val="FFFFFF"/>
                </a:solidFill>
                <a:latin typeface="Arial" pitchFamily="34" charset="0"/>
                <a:ea typeface="Arial" pitchFamily="34" charset="-122"/>
                <a:cs typeface="Arial" pitchFamily="34" charset="-120"/>
              </a:rPr>
              <a:t>ADOPT</a:t>
            </a:r>
            <a:endParaRPr lang="en-US" sz="550" dirty="0"/>
          </a:p>
        </p:txBody>
      </p:sp>
      <p:sp>
        <p:nvSpPr>
          <p:cNvPr id="115" name="Text 113"/>
          <p:cNvSpPr txBox="1"/>
          <p:nvPr/>
        </p:nvSpPr>
        <p:spPr>
          <a:xfrm>
            <a:off x="7466076" y="3410712"/>
            <a:ext cx="1110996" cy="365760"/>
          </a:xfrm>
          <a:prstGeom prst="rect">
            <a:avLst/>
          </a:prstGeom>
          <a:noFill/>
          <a:ln/>
        </p:spPr>
        <p:txBody>
          <a:bodyPr wrap="square" lIns="0" tIns="0" rIns="0" bIns="0" rtlCol="0" anchor="ctr"/>
          <a:lstStyle/>
          <a:p>
            <a:pPr indent="0" marL="0">
              <a:buNone/>
            </a:pPr>
            <a:r>
              <a:rPr lang="en-US" sz="850" dirty="0">
                <a:solidFill>
                  <a:srgbClr val="1A2B3C"/>
                </a:solidFill>
                <a:latin typeface="Calibri" pitchFamily="34" charset="0"/>
                <a:ea typeface="Calibri" pitchFamily="34" charset="-122"/>
                <a:cs typeface="Calibri" pitchFamily="34" charset="-120"/>
              </a:rPr>
              <a:t>YANG-Push telemetry</a:t>
            </a:r>
            <a:endParaRPr lang="en-US" sz="850" dirty="0"/>
          </a:p>
        </p:txBody>
      </p:sp>
      <p:sp>
        <p:nvSpPr>
          <p:cNvPr id="116" name="Shape 114"/>
          <p:cNvSpPr/>
          <p:nvPr/>
        </p:nvSpPr>
        <p:spPr>
          <a:xfrm>
            <a:off x="6789420" y="3840480"/>
            <a:ext cx="1805940" cy="365760"/>
          </a:xfrm>
          <a:prstGeom prst="roundRect">
            <a:avLst>
              <a:gd name="adj" fmla="val 12500"/>
            </a:avLst>
          </a:prstGeom>
          <a:solidFill>
            <a:srgbClr val="FFFFFF"/>
          </a:solidFill>
          <a:ln w="12700">
            <a:solidFill>
              <a:srgbClr val="FFFFFF"/>
            </a:solidFill>
            <a:prstDash val="solid"/>
          </a:ln>
        </p:spPr>
      </p:sp>
      <p:sp>
        <p:nvSpPr>
          <p:cNvPr id="117" name="Shape 115"/>
          <p:cNvSpPr/>
          <p:nvPr/>
        </p:nvSpPr>
        <p:spPr>
          <a:xfrm>
            <a:off x="6844284" y="3931920"/>
            <a:ext cx="566928" cy="182880"/>
          </a:xfrm>
          <a:prstGeom prst="roundRect">
            <a:avLst>
              <a:gd name="adj" fmla="val 50000"/>
            </a:avLst>
          </a:prstGeom>
          <a:solidFill>
            <a:srgbClr val="0B1D33"/>
          </a:solidFill>
          <a:ln w="9525">
            <a:solidFill>
              <a:srgbClr val="0B1D33"/>
            </a:solidFill>
            <a:prstDash val="solid"/>
          </a:ln>
        </p:spPr>
      </p:sp>
      <p:sp>
        <p:nvSpPr>
          <p:cNvPr id="118" name="Text 116"/>
          <p:cNvSpPr txBox="1"/>
          <p:nvPr/>
        </p:nvSpPr>
        <p:spPr>
          <a:xfrm>
            <a:off x="6844284" y="3931920"/>
            <a:ext cx="566928" cy="182880"/>
          </a:xfrm>
          <a:prstGeom prst="rect">
            <a:avLst/>
          </a:prstGeom>
          <a:noFill/>
          <a:ln/>
        </p:spPr>
        <p:txBody>
          <a:bodyPr wrap="square" lIns="0" tIns="0" rIns="0" bIns="0" rtlCol="0" anchor="ctr"/>
          <a:lstStyle/>
          <a:p>
            <a:pPr algn="ctr" indent="0" marL="0">
              <a:buNone/>
            </a:pPr>
            <a:r>
              <a:rPr lang="en-US" sz="550" b="1" dirty="0">
                <a:solidFill>
                  <a:srgbClr val="FFFFFF"/>
                </a:solidFill>
                <a:latin typeface="Arial" pitchFamily="34" charset="0"/>
                <a:ea typeface="Arial" pitchFamily="34" charset="-122"/>
                <a:cs typeface="Arial" pitchFamily="34" charset="-120"/>
              </a:rPr>
              <a:t>ADOPT</a:t>
            </a:r>
            <a:endParaRPr lang="en-US" sz="550" dirty="0"/>
          </a:p>
        </p:txBody>
      </p:sp>
      <p:sp>
        <p:nvSpPr>
          <p:cNvPr id="119" name="Text 117"/>
          <p:cNvSpPr txBox="1"/>
          <p:nvPr/>
        </p:nvSpPr>
        <p:spPr>
          <a:xfrm>
            <a:off x="7466076" y="3840480"/>
            <a:ext cx="1110996" cy="365760"/>
          </a:xfrm>
          <a:prstGeom prst="rect">
            <a:avLst/>
          </a:prstGeom>
          <a:noFill/>
          <a:ln/>
        </p:spPr>
        <p:txBody>
          <a:bodyPr wrap="square" lIns="0" tIns="0" rIns="0" bIns="0" rtlCol="0" anchor="ctr"/>
          <a:lstStyle/>
          <a:p>
            <a:pPr indent="0" marL="0">
              <a:buNone/>
            </a:pPr>
            <a:r>
              <a:rPr lang="en-US" sz="850" dirty="0">
                <a:solidFill>
                  <a:srgbClr val="1A2B3C"/>
                </a:solidFill>
                <a:latin typeface="Calibri" pitchFamily="34" charset="0"/>
                <a:ea typeface="Calibri" pitchFamily="34" charset="-122"/>
                <a:cs typeface="Calibri" pitchFamily="34" charset="-120"/>
              </a:rPr>
              <a:t>TLS 1.3 · NACM</a:t>
            </a:r>
            <a:endParaRPr lang="en-US" sz="850" dirty="0"/>
          </a:p>
        </p:txBody>
      </p:sp>
      <p:sp>
        <p:nvSpPr>
          <p:cNvPr id="120" name="Shape 118"/>
          <p:cNvSpPr/>
          <p:nvPr/>
        </p:nvSpPr>
        <p:spPr>
          <a:xfrm>
            <a:off x="6789420" y="4270248"/>
            <a:ext cx="1805940" cy="365760"/>
          </a:xfrm>
          <a:prstGeom prst="roundRect">
            <a:avLst>
              <a:gd name="adj" fmla="val 12500"/>
            </a:avLst>
          </a:prstGeom>
          <a:solidFill>
            <a:srgbClr val="FFFFFF"/>
          </a:solidFill>
          <a:ln w="12700">
            <a:solidFill>
              <a:srgbClr val="FFFFFF"/>
            </a:solidFill>
            <a:prstDash val="solid"/>
          </a:ln>
        </p:spPr>
      </p:sp>
      <p:sp>
        <p:nvSpPr>
          <p:cNvPr id="121" name="Shape 119"/>
          <p:cNvSpPr/>
          <p:nvPr/>
        </p:nvSpPr>
        <p:spPr>
          <a:xfrm>
            <a:off x="6844284" y="4361688"/>
            <a:ext cx="566928" cy="182880"/>
          </a:xfrm>
          <a:prstGeom prst="roundRect">
            <a:avLst>
              <a:gd name="adj" fmla="val 50000"/>
            </a:avLst>
          </a:prstGeom>
          <a:solidFill>
            <a:srgbClr val="FFFFFF"/>
          </a:solidFill>
          <a:ln w="9525">
            <a:solidFill>
              <a:srgbClr val="9AA7B4"/>
            </a:solidFill>
            <a:prstDash val="solid"/>
          </a:ln>
        </p:spPr>
      </p:sp>
      <p:sp>
        <p:nvSpPr>
          <p:cNvPr id="122" name="Text 120"/>
          <p:cNvSpPr txBox="1"/>
          <p:nvPr/>
        </p:nvSpPr>
        <p:spPr>
          <a:xfrm>
            <a:off x="6844284" y="4361688"/>
            <a:ext cx="566928" cy="182880"/>
          </a:xfrm>
          <a:prstGeom prst="rect">
            <a:avLst/>
          </a:prstGeom>
          <a:noFill/>
          <a:ln/>
        </p:spPr>
        <p:txBody>
          <a:bodyPr wrap="square" lIns="0" tIns="0" rIns="0" bIns="0" rtlCol="0" anchor="ctr"/>
          <a:lstStyle/>
          <a:p>
            <a:pPr algn="ctr" indent="0" marL="0">
              <a:buNone/>
            </a:pPr>
            <a:r>
              <a:rPr lang="en-US" sz="550" b="1" dirty="0">
                <a:solidFill>
                  <a:srgbClr val="5A6B7D"/>
                </a:solidFill>
                <a:latin typeface="Arial" pitchFamily="34" charset="0"/>
                <a:ea typeface="Arial" pitchFamily="34" charset="-122"/>
                <a:cs typeface="Arial" pitchFamily="34" charset="-120"/>
              </a:rPr>
              <a:t>DE FACTO</a:t>
            </a:r>
            <a:endParaRPr lang="en-US" sz="550" dirty="0"/>
          </a:p>
        </p:txBody>
      </p:sp>
      <p:sp>
        <p:nvSpPr>
          <p:cNvPr id="123" name="Text 121"/>
          <p:cNvSpPr txBox="1"/>
          <p:nvPr/>
        </p:nvSpPr>
        <p:spPr>
          <a:xfrm>
            <a:off x="7466076" y="4270248"/>
            <a:ext cx="1110996" cy="365760"/>
          </a:xfrm>
          <a:prstGeom prst="rect">
            <a:avLst/>
          </a:prstGeom>
          <a:noFill/>
          <a:ln/>
        </p:spPr>
        <p:txBody>
          <a:bodyPr wrap="square" lIns="0" tIns="0" rIns="0" bIns="0" rtlCol="0" anchor="ctr"/>
          <a:lstStyle/>
          <a:p>
            <a:pPr indent="0" marL="0">
              <a:buNone/>
            </a:pPr>
            <a:r>
              <a:rPr lang="en-US" sz="850" dirty="0">
                <a:solidFill>
                  <a:srgbClr val="1A2B3C"/>
                </a:solidFill>
                <a:latin typeface="Calibri" pitchFamily="34" charset="0"/>
                <a:ea typeface="Calibri" pitchFamily="34" charset="-122"/>
                <a:cs typeface="Calibri" pitchFamily="34" charset="-120"/>
              </a:rPr>
              <a:t>vendor radio-bridge-tg</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000" b="1" spc="200" kern="0" dirty="0">
                <a:solidFill>
                  <a:srgbClr val="0FA3B1"/>
                </a:solidFill>
                <a:latin typeface="Arial" pitchFamily="34" charset="0"/>
                <a:ea typeface="Arial" pitchFamily="34" charset="-122"/>
                <a:cs typeface="Arial" pitchFamily="34" charset="-120"/>
              </a:rPr>
              <a:t>TARGET STANDARDS STACK</a:t>
            </a:r>
            <a:endParaRPr lang="en-US" sz="10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400" b="1" dirty="0">
                <a:solidFill>
                  <a:srgbClr val="0B1D33"/>
                </a:solidFill>
                <a:latin typeface="Arial" pitchFamily="34" charset="0"/>
                <a:ea typeface="Arial" pitchFamily="34" charset="-122"/>
                <a:cs typeface="Arial" pitchFamily="34" charset="-120"/>
              </a:rPr>
              <a:t>TFS ↔ ns-3: what exists today, what is coming</a:t>
            </a:r>
            <a:endParaRPr lang="en-US" sz="2400" dirty="0"/>
          </a:p>
        </p:txBody>
      </p:sp>
      <p:sp>
        <p:nvSpPr>
          <p:cNvPr id="4" name="Text 2"/>
          <p:cNvSpPr txBox="1"/>
          <p:nvPr/>
        </p:nvSpPr>
        <p:spPr>
          <a:xfrm>
            <a:off x="2377440" y="1188720"/>
            <a:ext cx="3520440" cy="201168"/>
          </a:xfrm>
          <a:prstGeom prst="rect">
            <a:avLst/>
          </a:prstGeom>
          <a:noFill/>
          <a:ln/>
        </p:spPr>
        <p:txBody>
          <a:bodyPr wrap="square" lIns="0" tIns="0" rIns="0" bIns="0" rtlCol="0" anchor="t"/>
          <a:lstStyle/>
          <a:p>
            <a:pPr indent="0" marL="0">
              <a:buNone/>
            </a:pPr>
            <a:r>
              <a:rPr lang="en-US" sz="900" b="1" spc="150" kern="0" dirty="0">
                <a:solidFill>
                  <a:srgbClr val="22A06B"/>
                </a:solidFill>
                <a:latin typeface="Calibri" pitchFamily="34" charset="0"/>
                <a:ea typeface="Calibri" pitchFamily="34" charset="-122"/>
                <a:cs typeface="Calibri" pitchFamily="34" charset="-120"/>
              </a:rPr>
              <a:t>AVAILABLE NOW</a:t>
            </a:r>
            <a:endParaRPr lang="en-US" sz="900" dirty="0"/>
          </a:p>
        </p:txBody>
      </p:sp>
      <p:sp>
        <p:nvSpPr>
          <p:cNvPr id="5" name="Text 3"/>
          <p:cNvSpPr txBox="1"/>
          <p:nvPr/>
        </p:nvSpPr>
        <p:spPr>
          <a:xfrm>
            <a:off x="6035040" y="1188720"/>
            <a:ext cx="2651760" cy="201168"/>
          </a:xfrm>
          <a:prstGeom prst="rect">
            <a:avLst/>
          </a:prstGeom>
          <a:noFill/>
          <a:ln/>
        </p:spPr>
        <p:txBody>
          <a:bodyPr wrap="square" lIns="0" tIns="0" rIns="0" bIns="0" rtlCol="0" anchor="t"/>
          <a:lstStyle/>
          <a:p>
            <a:pPr indent="0" marL="0">
              <a:buNone/>
            </a:pPr>
            <a:r>
              <a:rPr lang="en-US" sz="900" b="1" spc="150" kern="0" dirty="0">
                <a:solidFill>
                  <a:srgbClr val="E8912D"/>
                </a:solidFill>
                <a:latin typeface="Calibri" pitchFamily="34" charset="0"/>
                <a:ea typeface="Calibri" pitchFamily="34" charset="-122"/>
                <a:cs typeface="Calibri" pitchFamily="34" charset="-120"/>
              </a:rPr>
              <a:t>EMERGING · 2026–28</a:t>
            </a:r>
            <a:endParaRPr lang="en-US" sz="900" dirty="0"/>
          </a:p>
        </p:txBody>
      </p:sp>
      <p:sp>
        <p:nvSpPr>
          <p:cNvPr id="6" name="Shape 4"/>
          <p:cNvSpPr/>
          <p:nvPr/>
        </p:nvSpPr>
        <p:spPr>
          <a:xfrm>
            <a:off x="457200" y="1618488"/>
            <a:ext cx="420624" cy="420624"/>
          </a:xfrm>
          <a:prstGeom prst="ellipse">
            <a:avLst/>
          </a:prstGeom>
          <a:solidFill>
            <a:srgbClr val="14304F"/>
          </a:solidFill>
          <a:ln w="12700">
            <a:solidFill>
              <a:srgbClr val="14304F"/>
            </a:solidFill>
            <a:prstDash val="solid"/>
          </a:ln>
        </p:spPr>
      </p:sp>
      <p:pic>
        <p:nvPicPr>
          <p:cNvPr id="7" name="Image 0" descr="preencoded.png">    </p:cNvPr>
          <p:cNvPicPr>
            <a:picLocks noChangeAspect="1"/>
          </p:cNvPicPr>
          <p:nvPr/>
        </p:nvPicPr>
        <p:blipFill>
          <a:blip r:embed="rId1"/>
          <a:stretch>
            <a:fillRect/>
          </a:stretch>
        </p:blipFill>
        <p:spPr>
          <a:xfrm>
            <a:off x="562356" y="1723644"/>
            <a:ext cx="210312" cy="210312"/>
          </a:xfrm>
          <a:prstGeom prst="rect">
            <a:avLst/>
          </a:prstGeom>
        </p:spPr>
      </p:pic>
      <p:sp>
        <p:nvSpPr>
          <p:cNvPr id="8" name="Text 5"/>
          <p:cNvSpPr txBox="1"/>
          <p:nvPr/>
        </p:nvSpPr>
        <p:spPr>
          <a:xfrm>
            <a:off x="987552" y="1581912"/>
            <a:ext cx="1325880" cy="246888"/>
          </a:xfrm>
          <a:prstGeom prst="rect">
            <a:avLst/>
          </a:prstGeom>
          <a:noFill/>
          <a:ln/>
        </p:spPr>
        <p:txBody>
          <a:bodyPr wrap="square" lIns="0" tIns="0" rIns="0" bIns="0" rtlCol="0" anchor="t"/>
          <a:lstStyle/>
          <a:p>
            <a:pPr indent="0" marL="0">
              <a:buNone/>
            </a:pPr>
            <a:r>
              <a:rPr lang="en-US" sz="1150" b="1" dirty="0">
                <a:solidFill>
                  <a:srgbClr val="1A2B3C"/>
                </a:solidFill>
                <a:latin typeface="Arial" pitchFamily="34" charset="0"/>
                <a:ea typeface="Arial" pitchFamily="34" charset="-122"/>
                <a:cs typeface="Arial" pitchFamily="34" charset="-120"/>
              </a:rPr>
              <a:t>Job control</a:t>
            </a:r>
            <a:endParaRPr lang="en-US" sz="1150" dirty="0"/>
          </a:p>
        </p:txBody>
      </p:sp>
      <p:sp>
        <p:nvSpPr>
          <p:cNvPr id="9" name="Text 6"/>
          <p:cNvSpPr txBox="1"/>
          <p:nvPr/>
        </p:nvSpPr>
        <p:spPr>
          <a:xfrm>
            <a:off x="987552" y="1828800"/>
            <a:ext cx="1325880" cy="365760"/>
          </a:xfrm>
          <a:prstGeom prst="rect">
            <a:avLst/>
          </a:prstGeom>
          <a:noFill/>
          <a:ln/>
        </p:spPr>
        <p:txBody>
          <a:bodyPr wrap="square" lIns="0" tIns="0" rIns="0" bIns="0" rtlCol="0" anchor="t"/>
          <a:lstStyle/>
          <a:p>
            <a:pPr indent="0" marL="0">
              <a:buNone/>
            </a:pPr>
            <a:r>
              <a:rPr lang="en-US" sz="900" dirty="0">
                <a:solidFill>
                  <a:srgbClr val="5A6B7D"/>
                </a:solidFill>
                <a:latin typeface="Calibri" pitchFamily="34" charset="0"/>
                <a:ea typeface="Calibri" pitchFamily="34" charset="-122"/>
                <a:cs typeface="Calibri" pitchFamily="34" charset="-120"/>
              </a:rPr>
              <a:t>start, steer, stop what-if runs</a:t>
            </a:r>
            <a:endParaRPr lang="en-US" sz="900" dirty="0"/>
          </a:p>
        </p:txBody>
      </p:sp>
      <p:sp>
        <p:nvSpPr>
          <p:cNvPr id="10" name="Shape 7"/>
          <p:cNvSpPr/>
          <p:nvPr/>
        </p:nvSpPr>
        <p:spPr>
          <a:xfrm>
            <a:off x="2377440" y="1463040"/>
            <a:ext cx="3520440" cy="329184"/>
          </a:xfrm>
          <a:prstGeom prst="roundRect">
            <a:avLst>
              <a:gd name="adj" fmla="val 16667"/>
            </a:avLst>
          </a:prstGeom>
          <a:solidFill>
            <a:srgbClr val="DDF3E8"/>
          </a:solidFill>
          <a:ln w="12700">
            <a:solidFill>
              <a:srgbClr val="DDF3E8"/>
            </a:solidFill>
            <a:prstDash val="solid"/>
          </a:ln>
        </p:spPr>
      </p:sp>
      <p:sp>
        <p:nvSpPr>
          <p:cNvPr id="11" name="Text 8"/>
          <p:cNvSpPr txBox="1"/>
          <p:nvPr/>
        </p:nvSpPr>
        <p:spPr>
          <a:xfrm>
            <a:off x="2468880" y="1463040"/>
            <a:ext cx="3383280" cy="329184"/>
          </a:xfrm>
          <a:prstGeom prst="rect">
            <a:avLst/>
          </a:prstGeom>
          <a:noFill/>
          <a:ln/>
        </p:spPr>
        <p:txBody>
          <a:bodyPr wrap="square" lIns="0" tIns="0" rIns="0" bIns="0" rtlCol="0" anchor="ctr"/>
          <a:lstStyle/>
          <a:p>
            <a:pPr indent="0" marL="0">
              <a:buNone/>
            </a:pPr>
            <a:r>
              <a:rPr lang="en-US" sz="950" b="1" dirty="0">
                <a:solidFill>
                  <a:srgbClr val="157A50"/>
                </a:solidFill>
                <a:latin typeface="Calibri" pitchFamily="34" charset="0"/>
                <a:ea typeface="Calibri" pitchFamily="34" charset="-122"/>
                <a:cs typeface="Calibri" pitchFamily="34" charset="-120"/>
              </a:rPr>
              <a:t>★ 3GPP TS 28.561 NDTJob over TS 28.532 REST</a:t>
            </a:r>
            <a:endParaRPr lang="en-US" sz="950" dirty="0"/>
          </a:p>
        </p:txBody>
      </p:sp>
      <p:sp>
        <p:nvSpPr>
          <p:cNvPr id="12" name="Shape 9"/>
          <p:cNvSpPr/>
          <p:nvPr/>
        </p:nvSpPr>
        <p:spPr>
          <a:xfrm>
            <a:off x="6035040" y="1463040"/>
            <a:ext cx="2651760" cy="329184"/>
          </a:xfrm>
          <a:prstGeom prst="roundRect">
            <a:avLst>
              <a:gd name="adj" fmla="val 16667"/>
            </a:avLst>
          </a:prstGeom>
          <a:solidFill>
            <a:srgbClr val="FFFFFF"/>
          </a:solidFill>
          <a:ln w="12700">
            <a:solidFill>
              <a:srgbClr val="E8912D"/>
            </a:solidFill>
            <a:prstDash val="dash"/>
          </a:ln>
        </p:spPr>
      </p:sp>
      <p:sp>
        <p:nvSpPr>
          <p:cNvPr id="13" name="Text 10"/>
          <p:cNvSpPr txBox="1"/>
          <p:nvPr/>
        </p:nvSpPr>
        <p:spPr>
          <a:xfrm>
            <a:off x="6126480" y="1463040"/>
            <a:ext cx="2514600" cy="329184"/>
          </a:xfrm>
          <a:prstGeom prst="rect">
            <a:avLst/>
          </a:prstGeom>
          <a:noFill/>
          <a:ln/>
        </p:spPr>
        <p:txBody>
          <a:bodyPr wrap="square" lIns="0" tIns="0" rIns="0" bIns="0" rtlCol="0" anchor="ctr"/>
          <a:lstStyle/>
          <a:p>
            <a:pPr indent="0" marL="0">
              <a:buNone/>
            </a:pPr>
            <a:r>
              <a:rPr lang="en-US" sz="950" dirty="0">
                <a:solidFill>
                  <a:srgbClr val="1A2B3C"/>
                </a:solidFill>
                <a:latin typeface="Calibri" pitchFamily="34" charset="0"/>
                <a:ea typeface="Calibri" pitchFamily="34" charset="-122"/>
                <a:cs typeface="Calibri" pitchFamily="34" charset="-120"/>
              </a:rPr>
              <a:t>3GPP Rel-20 NDT phase 2 (TR 28.883)</a:t>
            </a:r>
            <a:endParaRPr lang="en-US" sz="950" dirty="0"/>
          </a:p>
        </p:txBody>
      </p:sp>
      <p:sp>
        <p:nvSpPr>
          <p:cNvPr id="14" name="Shape 11"/>
          <p:cNvSpPr/>
          <p:nvPr/>
        </p:nvSpPr>
        <p:spPr>
          <a:xfrm>
            <a:off x="2377440" y="1856232"/>
            <a:ext cx="3520440" cy="329184"/>
          </a:xfrm>
          <a:prstGeom prst="roundRect">
            <a:avLst>
              <a:gd name="adj" fmla="val 16667"/>
            </a:avLst>
          </a:prstGeom>
          <a:solidFill>
            <a:srgbClr val="F2F5F8"/>
          </a:solidFill>
          <a:ln w="12700">
            <a:solidFill>
              <a:srgbClr val="F2F5F8"/>
            </a:solidFill>
            <a:prstDash val="solid"/>
          </a:ln>
        </p:spPr>
      </p:sp>
      <p:sp>
        <p:nvSpPr>
          <p:cNvPr id="15" name="Text 12"/>
          <p:cNvSpPr txBox="1"/>
          <p:nvPr/>
        </p:nvSpPr>
        <p:spPr>
          <a:xfrm>
            <a:off x="2468880" y="1856232"/>
            <a:ext cx="3383280" cy="329184"/>
          </a:xfrm>
          <a:prstGeom prst="rect">
            <a:avLst/>
          </a:prstGeom>
          <a:noFill/>
          <a:ln/>
        </p:spPr>
        <p:txBody>
          <a:bodyPr wrap="square" lIns="0" tIns="0" rIns="0" bIns="0" rtlCol="0" anchor="ctr"/>
          <a:lstStyle/>
          <a:p>
            <a:pPr indent="0" marL="0">
              <a:buNone/>
            </a:pPr>
            <a:r>
              <a:rPr lang="en-US" sz="950" dirty="0">
                <a:solidFill>
                  <a:srgbClr val="1A2B3C"/>
                </a:solidFill>
                <a:latin typeface="Calibri" pitchFamily="34" charset="0"/>
                <a:ea typeface="Calibri" pitchFamily="34" charset="-122"/>
                <a:cs typeface="Calibri" pitchFamily="34" charset="-120"/>
              </a:rPr>
              <a:t>ITU-T Y.3092 NDT-m interface</a:t>
            </a:r>
            <a:endParaRPr lang="en-US" sz="950" dirty="0"/>
          </a:p>
        </p:txBody>
      </p:sp>
      <p:sp>
        <p:nvSpPr>
          <p:cNvPr id="16" name="Shape 13"/>
          <p:cNvSpPr/>
          <p:nvPr/>
        </p:nvSpPr>
        <p:spPr>
          <a:xfrm>
            <a:off x="6035040" y="1856232"/>
            <a:ext cx="2651760" cy="329184"/>
          </a:xfrm>
          <a:prstGeom prst="roundRect">
            <a:avLst>
              <a:gd name="adj" fmla="val 16667"/>
            </a:avLst>
          </a:prstGeom>
          <a:solidFill>
            <a:srgbClr val="FFFFFF"/>
          </a:solidFill>
          <a:ln w="12700">
            <a:solidFill>
              <a:srgbClr val="E8912D"/>
            </a:solidFill>
            <a:prstDash val="dash"/>
          </a:ln>
        </p:spPr>
      </p:sp>
      <p:sp>
        <p:nvSpPr>
          <p:cNvPr id="17" name="Text 14"/>
          <p:cNvSpPr txBox="1"/>
          <p:nvPr/>
        </p:nvSpPr>
        <p:spPr>
          <a:xfrm>
            <a:off x="6126480" y="1856232"/>
            <a:ext cx="2514600" cy="329184"/>
          </a:xfrm>
          <a:prstGeom prst="rect">
            <a:avLst/>
          </a:prstGeom>
          <a:noFill/>
          <a:ln/>
        </p:spPr>
        <p:txBody>
          <a:bodyPr wrap="square" lIns="0" tIns="0" rIns="0" bIns="0" rtlCol="0" anchor="ctr"/>
          <a:lstStyle/>
          <a:p>
            <a:pPr indent="0" marL="0">
              <a:buNone/>
            </a:pPr>
            <a:r>
              <a:rPr lang="en-US" sz="950" dirty="0">
                <a:solidFill>
                  <a:srgbClr val="1A2B3C"/>
                </a:solidFill>
                <a:latin typeface="Calibri" pitchFamily="34" charset="0"/>
                <a:ea typeface="Calibri" pitchFamily="34" charset="-122"/>
                <a:cs typeface="Calibri" pitchFamily="34" charset="-120"/>
              </a:rPr>
              <a:t>ITU-T Q.SDTN twin signalling protocol</a:t>
            </a:r>
            <a:endParaRPr lang="en-US" sz="950" dirty="0"/>
          </a:p>
        </p:txBody>
      </p:sp>
      <p:sp>
        <p:nvSpPr>
          <p:cNvPr id="18" name="Shape 15"/>
          <p:cNvSpPr/>
          <p:nvPr/>
        </p:nvSpPr>
        <p:spPr>
          <a:xfrm>
            <a:off x="457200" y="2295144"/>
            <a:ext cx="8229600" cy="0"/>
          </a:xfrm>
          <a:prstGeom prst="line">
            <a:avLst/>
          </a:prstGeom>
          <a:noFill/>
          <a:ln w="9525">
            <a:solidFill>
              <a:srgbClr val="D5DDE5"/>
            </a:solidFill>
            <a:prstDash val="solid"/>
          </a:ln>
        </p:spPr>
      </p:sp>
      <p:sp>
        <p:nvSpPr>
          <p:cNvPr id="19" name="Shape 16"/>
          <p:cNvSpPr/>
          <p:nvPr/>
        </p:nvSpPr>
        <p:spPr>
          <a:xfrm>
            <a:off x="457200" y="2532888"/>
            <a:ext cx="420624" cy="420624"/>
          </a:xfrm>
          <a:prstGeom prst="ellipse">
            <a:avLst/>
          </a:prstGeom>
          <a:solidFill>
            <a:srgbClr val="22A06B"/>
          </a:solidFill>
          <a:ln w="12700">
            <a:solidFill>
              <a:srgbClr val="22A06B"/>
            </a:solidFill>
            <a:prstDash val="solid"/>
          </a:ln>
        </p:spPr>
      </p:sp>
      <p:pic>
        <p:nvPicPr>
          <p:cNvPr id="20" name="Image 1" descr="preencoded.png">    </p:cNvPr>
          <p:cNvPicPr>
            <a:picLocks noChangeAspect="1"/>
          </p:cNvPicPr>
          <p:nvPr/>
        </p:nvPicPr>
        <p:blipFill>
          <a:blip r:embed="rId2"/>
          <a:stretch>
            <a:fillRect/>
          </a:stretch>
        </p:blipFill>
        <p:spPr>
          <a:xfrm>
            <a:off x="562356" y="2638044"/>
            <a:ext cx="210312" cy="210312"/>
          </a:xfrm>
          <a:prstGeom prst="rect">
            <a:avLst/>
          </a:prstGeom>
        </p:spPr>
      </p:pic>
      <p:sp>
        <p:nvSpPr>
          <p:cNvPr id="21" name="Text 17"/>
          <p:cNvSpPr txBox="1"/>
          <p:nvPr/>
        </p:nvSpPr>
        <p:spPr>
          <a:xfrm>
            <a:off x="987552" y="2496312"/>
            <a:ext cx="1325880" cy="246888"/>
          </a:xfrm>
          <a:prstGeom prst="rect">
            <a:avLst/>
          </a:prstGeom>
          <a:noFill/>
          <a:ln/>
        </p:spPr>
        <p:txBody>
          <a:bodyPr wrap="square" lIns="0" tIns="0" rIns="0" bIns="0" rtlCol="0" anchor="t"/>
          <a:lstStyle/>
          <a:p>
            <a:pPr indent="0" marL="0">
              <a:buNone/>
            </a:pPr>
            <a:r>
              <a:rPr lang="en-US" sz="1150" b="1" dirty="0">
                <a:solidFill>
                  <a:srgbClr val="1A2B3C"/>
                </a:solidFill>
                <a:latin typeface="Arial" pitchFamily="34" charset="0"/>
                <a:ea typeface="Arial" pitchFamily="34" charset="-122"/>
                <a:cs typeface="Arial" pitchFamily="34" charset="-120"/>
              </a:rPr>
              <a:t>State sync</a:t>
            </a:r>
            <a:endParaRPr lang="en-US" sz="1150" dirty="0"/>
          </a:p>
        </p:txBody>
      </p:sp>
      <p:sp>
        <p:nvSpPr>
          <p:cNvPr id="22" name="Text 18"/>
          <p:cNvSpPr txBox="1"/>
          <p:nvPr/>
        </p:nvSpPr>
        <p:spPr>
          <a:xfrm>
            <a:off x="987552" y="2743200"/>
            <a:ext cx="1325880" cy="365760"/>
          </a:xfrm>
          <a:prstGeom prst="rect">
            <a:avLst/>
          </a:prstGeom>
          <a:noFill/>
          <a:ln/>
        </p:spPr>
        <p:txBody>
          <a:bodyPr wrap="square" lIns="0" tIns="0" rIns="0" bIns="0" rtlCol="0" anchor="t"/>
          <a:lstStyle/>
          <a:p>
            <a:pPr indent="0" marL="0">
              <a:buNone/>
            </a:pPr>
            <a:r>
              <a:rPr lang="en-US" sz="900" dirty="0">
                <a:solidFill>
                  <a:srgbClr val="5A6B7D"/>
                </a:solidFill>
                <a:latin typeface="Calibri" pitchFamily="34" charset="0"/>
                <a:ea typeface="Calibri" pitchFamily="34" charset="-122"/>
                <a:cs typeface="Calibri" pitchFamily="34" charset="-120"/>
              </a:rPr>
              <a:t>live topology, RF state, KPIs</a:t>
            </a:r>
            <a:endParaRPr lang="en-US" sz="900" dirty="0"/>
          </a:p>
        </p:txBody>
      </p:sp>
      <p:sp>
        <p:nvSpPr>
          <p:cNvPr id="23" name="Shape 19"/>
          <p:cNvSpPr/>
          <p:nvPr/>
        </p:nvSpPr>
        <p:spPr>
          <a:xfrm>
            <a:off x="2377440" y="2377440"/>
            <a:ext cx="3520440" cy="329184"/>
          </a:xfrm>
          <a:prstGeom prst="roundRect">
            <a:avLst>
              <a:gd name="adj" fmla="val 16667"/>
            </a:avLst>
          </a:prstGeom>
          <a:solidFill>
            <a:srgbClr val="DDF3E8"/>
          </a:solidFill>
          <a:ln w="12700">
            <a:solidFill>
              <a:srgbClr val="DDF3E8"/>
            </a:solidFill>
            <a:prstDash val="solid"/>
          </a:ln>
        </p:spPr>
      </p:sp>
      <p:sp>
        <p:nvSpPr>
          <p:cNvPr id="24" name="Text 20"/>
          <p:cNvSpPr txBox="1"/>
          <p:nvPr/>
        </p:nvSpPr>
        <p:spPr>
          <a:xfrm>
            <a:off x="2468880" y="2377440"/>
            <a:ext cx="3383280" cy="329184"/>
          </a:xfrm>
          <a:prstGeom prst="rect">
            <a:avLst/>
          </a:prstGeom>
          <a:noFill/>
          <a:ln/>
        </p:spPr>
        <p:txBody>
          <a:bodyPr wrap="square" lIns="0" tIns="0" rIns="0" bIns="0" rtlCol="0" anchor="ctr"/>
          <a:lstStyle/>
          <a:p>
            <a:pPr indent="0" marL="0">
              <a:buNone/>
            </a:pPr>
            <a:r>
              <a:rPr lang="en-US" sz="950" b="1" dirty="0">
                <a:solidFill>
                  <a:srgbClr val="157A50"/>
                </a:solidFill>
                <a:latin typeface="Calibri" pitchFamily="34" charset="0"/>
                <a:ea typeface="Calibri" pitchFamily="34" charset="-122"/>
                <a:cs typeface="Calibri" pitchFamily="34" charset="-120"/>
              </a:rPr>
              <a:t>★ TFS NBI + KPI/telemetry components</a:t>
            </a:r>
            <a:endParaRPr lang="en-US" sz="950" dirty="0"/>
          </a:p>
        </p:txBody>
      </p:sp>
      <p:sp>
        <p:nvSpPr>
          <p:cNvPr id="25" name="Shape 21"/>
          <p:cNvSpPr/>
          <p:nvPr/>
        </p:nvSpPr>
        <p:spPr>
          <a:xfrm>
            <a:off x="6035040" y="2377440"/>
            <a:ext cx="2651760" cy="329184"/>
          </a:xfrm>
          <a:prstGeom prst="roundRect">
            <a:avLst>
              <a:gd name="adj" fmla="val 16667"/>
            </a:avLst>
          </a:prstGeom>
          <a:solidFill>
            <a:srgbClr val="FFFFFF"/>
          </a:solidFill>
          <a:ln w="12700">
            <a:solidFill>
              <a:srgbClr val="E8912D"/>
            </a:solidFill>
            <a:prstDash val="dash"/>
          </a:ln>
        </p:spPr>
      </p:sp>
      <p:sp>
        <p:nvSpPr>
          <p:cNvPr id="26" name="Text 22"/>
          <p:cNvSpPr txBox="1"/>
          <p:nvPr/>
        </p:nvSpPr>
        <p:spPr>
          <a:xfrm>
            <a:off x="6126480" y="2377440"/>
            <a:ext cx="2514600" cy="329184"/>
          </a:xfrm>
          <a:prstGeom prst="rect">
            <a:avLst/>
          </a:prstGeom>
          <a:noFill/>
          <a:ln/>
        </p:spPr>
        <p:txBody>
          <a:bodyPr wrap="square" lIns="0" tIns="0" rIns="0" bIns="0" rtlCol="0" anchor="ctr"/>
          <a:lstStyle/>
          <a:p>
            <a:pPr indent="0" marL="0">
              <a:buNone/>
            </a:pPr>
            <a:r>
              <a:rPr lang="en-US" sz="950" dirty="0">
                <a:solidFill>
                  <a:srgbClr val="1A2B3C"/>
                </a:solidFill>
                <a:latin typeface="Calibri" pitchFamily="34" charset="0"/>
                <a:ea typeface="Calibri" pitchFamily="34" charset="-122"/>
                <a:cs typeface="Calibri" pitchFamily="34" charset="-120"/>
              </a:rPr>
              <a:t>Rel-20 NDT data collection</a:t>
            </a:r>
            <a:endParaRPr lang="en-US" sz="950" dirty="0"/>
          </a:p>
        </p:txBody>
      </p:sp>
      <p:sp>
        <p:nvSpPr>
          <p:cNvPr id="27" name="Shape 23"/>
          <p:cNvSpPr/>
          <p:nvPr/>
        </p:nvSpPr>
        <p:spPr>
          <a:xfrm>
            <a:off x="2377440" y="2770632"/>
            <a:ext cx="3520440" cy="329184"/>
          </a:xfrm>
          <a:prstGeom prst="roundRect">
            <a:avLst>
              <a:gd name="adj" fmla="val 16667"/>
            </a:avLst>
          </a:prstGeom>
          <a:solidFill>
            <a:srgbClr val="F2F5F8"/>
          </a:solidFill>
          <a:ln w="12700">
            <a:solidFill>
              <a:srgbClr val="F2F5F8"/>
            </a:solidFill>
            <a:prstDash val="solid"/>
          </a:ln>
        </p:spPr>
      </p:sp>
      <p:sp>
        <p:nvSpPr>
          <p:cNvPr id="28" name="Text 24"/>
          <p:cNvSpPr txBox="1"/>
          <p:nvPr/>
        </p:nvSpPr>
        <p:spPr>
          <a:xfrm>
            <a:off x="2468880" y="2770632"/>
            <a:ext cx="3383280" cy="329184"/>
          </a:xfrm>
          <a:prstGeom prst="rect">
            <a:avLst/>
          </a:prstGeom>
          <a:noFill/>
          <a:ln/>
        </p:spPr>
        <p:txBody>
          <a:bodyPr wrap="square" lIns="0" tIns="0" rIns="0" bIns="0" rtlCol="0" anchor="ctr"/>
          <a:lstStyle/>
          <a:p>
            <a:pPr indent="0" marL="0">
              <a:buNone/>
            </a:pPr>
            <a:r>
              <a:rPr lang="en-US" sz="950" dirty="0">
                <a:solidFill>
                  <a:srgbClr val="1A2B3C"/>
                </a:solidFill>
                <a:latin typeface="Calibri" pitchFamily="34" charset="0"/>
                <a:ea typeface="Calibri" pitchFamily="34" charset="-122"/>
                <a:cs typeface="Calibri" pitchFamily="34" charset="-120"/>
              </a:rPr>
              <a:t>YANG-Push (RFC 8641) · gNMI · Y.3092 NDT-p</a:t>
            </a:r>
            <a:endParaRPr lang="en-US" sz="950" dirty="0"/>
          </a:p>
        </p:txBody>
      </p:sp>
      <p:sp>
        <p:nvSpPr>
          <p:cNvPr id="29" name="Shape 25"/>
          <p:cNvSpPr/>
          <p:nvPr/>
        </p:nvSpPr>
        <p:spPr>
          <a:xfrm>
            <a:off x="6035040" y="2770632"/>
            <a:ext cx="2651760" cy="329184"/>
          </a:xfrm>
          <a:prstGeom prst="roundRect">
            <a:avLst>
              <a:gd name="adj" fmla="val 16667"/>
            </a:avLst>
          </a:prstGeom>
          <a:solidFill>
            <a:srgbClr val="FFFFFF"/>
          </a:solidFill>
          <a:ln w="12700">
            <a:solidFill>
              <a:srgbClr val="E8912D"/>
            </a:solidFill>
            <a:prstDash val="dash"/>
          </a:ln>
        </p:spPr>
      </p:sp>
      <p:sp>
        <p:nvSpPr>
          <p:cNvPr id="30" name="Text 26"/>
          <p:cNvSpPr txBox="1"/>
          <p:nvPr/>
        </p:nvSpPr>
        <p:spPr>
          <a:xfrm>
            <a:off x="6126480" y="2770632"/>
            <a:ext cx="2514600" cy="329184"/>
          </a:xfrm>
          <a:prstGeom prst="rect">
            <a:avLst/>
          </a:prstGeom>
          <a:noFill/>
          <a:ln/>
        </p:spPr>
        <p:txBody>
          <a:bodyPr wrap="square" lIns="0" tIns="0" rIns="0" bIns="0" rtlCol="0" anchor="ctr"/>
          <a:lstStyle/>
          <a:p>
            <a:pPr indent="0" marL="0">
              <a:buNone/>
            </a:pPr>
            <a:r>
              <a:rPr lang="en-US" sz="950" dirty="0">
                <a:solidFill>
                  <a:srgbClr val="1A2B3C"/>
                </a:solidFill>
                <a:latin typeface="Calibri" pitchFamily="34" charset="0"/>
                <a:ea typeface="Calibri" pitchFamily="34" charset="-122"/>
                <a:cs typeface="Calibri" pitchFamily="34" charset="-120"/>
              </a:rPr>
              <a:t>IRTF NMRG twin interface drafts</a:t>
            </a:r>
            <a:endParaRPr lang="en-US" sz="950" dirty="0"/>
          </a:p>
        </p:txBody>
      </p:sp>
      <p:sp>
        <p:nvSpPr>
          <p:cNvPr id="31" name="Shape 27"/>
          <p:cNvSpPr/>
          <p:nvPr/>
        </p:nvSpPr>
        <p:spPr>
          <a:xfrm>
            <a:off x="457200" y="3209544"/>
            <a:ext cx="8229600" cy="0"/>
          </a:xfrm>
          <a:prstGeom prst="line">
            <a:avLst/>
          </a:prstGeom>
          <a:noFill/>
          <a:ln w="9525">
            <a:solidFill>
              <a:srgbClr val="D5DDE5"/>
            </a:solidFill>
            <a:prstDash val="solid"/>
          </a:ln>
        </p:spPr>
      </p:sp>
      <p:sp>
        <p:nvSpPr>
          <p:cNvPr id="32" name="Shape 28"/>
          <p:cNvSpPr/>
          <p:nvPr/>
        </p:nvSpPr>
        <p:spPr>
          <a:xfrm>
            <a:off x="457200" y="3447288"/>
            <a:ext cx="420624" cy="420624"/>
          </a:xfrm>
          <a:prstGeom prst="ellipse">
            <a:avLst/>
          </a:prstGeom>
          <a:solidFill>
            <a:srgbClr val="0FA3B1"/>
          </a:solidFill>
          <a:ln w="12700">
            <a:solidFill>
              <a:srgbClr val="0FA3B1"/>
            </a:solidFill>
            <a:prstDash val="solid"/>
          </a:ln>
        </p:spPr>
      </p:sp>
      <p:pic>
        <p:nvPicPr>
          <p:cNvPr id="33" name="Image 2" descr="preencoded.png">    </p:cNvPr>
          <p:cNvPicPr>
            <a:picLocks noChangeAspect="1"/>
          </p:cNvPicPr>
          <p:nvPr/>
        </p:nvPicPr>
        <p:blipFill>
          <a:blip r:embed="rId3"/>
          <a:stretch>
            <a:fillRect/>
          </a:stretch>
        </p:blipFill>
        <p:spPr>
          <a:xfrm>
            <a:off x="562356" y="3552444"/>
            <a:ext cx="210312" cy="210312"/>
          </a:xfrm>
          <a:prstGeom prst="rect">
            <a:avLst/>
          </a:prstGeom>
        </p:spPr>
      </p:pic>
      <p:sp>
        <p:nvSpPr>
          <p:cNvPr id="34" name="Text 29"/>
          <p:cNvSpPr txBox="1"/>
          <p:nvPr/>
        </p:nvSpPr>
        <p:spPr>
          <a:xfrm>
            <a:off x="987552" y="3410712"/>
            <a:ext cx="1325880" cy="246888"/>
          </a:xfrm>
          <a:prstGeom prst="rect">
            <a:avLst/>
          </a:prstGeom>
          <a:noFill/>
          <a:ln/>
        </p:spPr>
        <p:txBody>
          <a:bodyPr wrap="square" lIns="0" tIns="0" rIns="0" bIns="0" rtlCol="0" anchor="t"/>
          <a:lstStyle/>
          <a:p>
            <a:pPr indent="0" marL="0">
              <a:buNone/>
            </a:pPr>
            <a:r>
              <a:rPr lang="en-US" sz="1150" b="1" dirty="0">
                <a:solidFill>
                  <a:srgbClr val="1A2B3C"/>
                </a:solidFill>
                <a:latin typeface="Arial" pitchFamily="34" charset="0"/>
                <a:ea typeface="Arial" pitchFamily="34" charset="-122"/>
                <a:cs typeface="Arial" pitchFamily="34" charset="-120"/>
              </a:rPr>
              <a:t>Shared models</a:t>
            </a:r>
            <a:endParaRPr lang="en-US" sz="1150" dirty="0"/>
          </a:p>
        </p:txBody>
      </p:sp>
      <p:sp>
        <p:nvSpPr>
          <p:cNvPr id="35" name="Text 30"/>
          <p:cNvSpPr txBox="1"/>
          <p:nvPr/>
        </p:nvSpPr>
        <p:spPr>
          <a:xfrm>
            <a:off x="987552" y="3657600"/>
            <a:ext cx="1325880" cy="365760"/>
          </a:xfrm>
          <a:prstGeom prst="rect">
            <a:avLst/>
          </a:prstGeom>
          <a:noFill/>
          <a:ln/>
        </p:spPr>
        <p:txBody>
          <a:bodyPr wrap="square" lIns="0" tIns="0" rIns="0" bIns="0" rtlCol="0" anchor="t"/>
          <a:lstStyle/>
          <a:p>
            <a:pPr indent="0" marL="0">
              <a:buNone/>
            </a:pPr>
            <a:r>
              <a:rPr lang="en-US" sz="900" dirty="0">
                <a:solidFill>
                  <a:srgbClr val="5A6B7D"/>
                </a:solidFill>
                <a:latin typeface="Calibri" pitchFamily="34" charset="0"/>
                <a:ea typeface="Calibri" pitchFamily="34" charset="-122"/>
                <a:cs typeface="Calibri" pitchFamily="34" charset="-120"/>
              </a:rPr>
              <a:t>what the graph and data mean</a:t>
            </a:r>
            <a:endParaRPr lang="en-US" sz="900" dirty="0"/>
          </a:p>
        </p:txBody>
      </p:sp>
      <p:sp>
        <p:nvSpPr>
          <p:cNvPr id="36" name="Shape 31"/>
          <p:cNvSpPr/>
          <p:nvPr/>
        </p:nvSpPr>
        <p:spPr>
          <a:xfrm>
            <a:off x="2377440" y="3291840"/>
            <a:ext cx="3520440" cy="329184"/>
          </a:xfrm>
          <a:prstGeom prst="roundRect">
            <a:avLst>
              <a:gd name="adj" fmla="val 16667"/>
            </a:avLst>
          </a:prstGeom>
          <a:solidFill>
            <a:srgbClr val="DDF3E8"/>
          </a:solidFill>
          <a:ln w="12700">
            <a:solidFill>
              <a:srgbClr val="DDF3E8"/>
            </a:solidFill>
            <a:prstDash val="solid"/>
          </a:ln>
        </p:spPr>
      </p:sp>
      <p:sp>
        <p:nvSpPr>
          <p:cNvPr id="37" name="Text 32"/>
          <p:cNvSpPr txBox="1"/>
          <p:nvPr/>
        </p:nvSpPr>
        <p:spPr>
          <a:xfrm>
            <a:off x="2468880" y="3291840"/>
            <a:ext cx="3383280" cy="329184"/>
          </a:xfrm>
          <a:prstGeom prst="rect">
            <a:avLst/>
          </a:prstGeom>
          <a:noFill/>
          <a:ln/>
        </p:spPr>
        <p:txBody>
          <a:bodyPr wrap="square" lIns="0" tIns="0" rIns="0" bIns="0" rtlCol="0" anchor="ctr"/>
          <a:lstStyle/>
          <a:p>
            <a:pPr indent="0" marL="0">
              <a:buNone/>
            </a:pPr>
            <a:r>
              <a:rPr lang="en-US" sz="950" b="1" dirty="0">
                <a:solidFill>
                  <a:srgbClr val="157A50"/>
                </a:solidFill>
                <a:latin typeface="Calibri" pitchFamily="34" charset="0"/>
                <a:ea typeface="Calibri" pitchFamily="34" charset="-122"/>
                <a:cs typeface="Calibri" pitchFamily="34" charset="-120"/>
              </a:rPr>
              <a:t>★ IETF RFC 8345 topology (TFS ietf_network NBI)</a:t>
            </a:r>
            <a:endParaRPr lang="en-US" sz="950" dirty="0"/>
          </a:p>
        </p:txBody>
      </p:sp>
      <p:sp>
        <p:nvSpPr>
          <p:cNvPr id="38" name="Shape 33"/>
          <p:cNvSpPr/>
          <p:nvPr/>
        </p:nvSpPr>
        <p:spPr>
          <a:xfrm>
            <a:off x="6035040" y="3291840"/>
            <a:ext cx="2651760" cy="329184"/>
          </a:xfrm>
          <a:prstGeom prst="roundRect">
            <a:avLst>
              <a:gd name="adj" fmla="val 16667"/>
            </a:avLst>
          </a:prstGeom>
          <a:solidFill>
            <a:srgbClr val="FFFFFF"/>
          </a:solidFill>
          <a:ln w="12700">
            <a:solidFill>
              <a:srgbClr val="E8912D"/>
            </a:solidFill>
            <a:prstDash val="dash"/>
          </a:ln>
        </p:spPr>
      </p:sp>
      <p:sp>
        <p:nvSpPr>
          <p:cNvPr id="39" name="Text 34"/>
          <p:cNvSpPr txBox="1"/>
          <p:nvPr/>
        </p:nvSpPr>
        <p:spPr>
          <a:xfrm>
            <a:off x="6126480" y="3291840"/>
            <a:ext cx="2514600" cy="329184"/>
          </a:xfrm>
          <a:prstGeom prst="rect">
            <a:avLst/>
          </a:prstGeom>
          <a:noFill/>
          <a:ln/>
        </p:spPr>
        <p:txBody>
          <a:bodyPr wrap="square" lIns="0" tIns="0" rIns="0" bIns="0" rtlCol="0" anchor="ctr"/>
          <a:lstStyle/>
          <a:p>
            <a:pPr indent="0" marL="0">
              <a:buNone/>
            </a:pPr>
            <a:r>
              <a:rPr lang="en-US" sz="950" dirty="0">
                <a:solidFill>
                  <a:srgbClr val="1A2B3C"/>
                </a:solidFill>
                <a:latin typeface="Calibri" pitchFamily="34" charset="0"/>
                <a:ea typeface="Calibri" pitchFamily="34" charset="-122"/>
                <a:cs typeface="Calibri" pitchFamily="34" charset="-120"/>
              </a:rPr>
              <a:t>Multi-twin collaboration (TR 28.883)</a:t>
            </a:r>
            <a:endParaRPr lang="en-US" sz="950" dirty="0"/>
          </a:p>
        </p:txBody>
      </p:sp>
      <p:sp>
        <p:nvSpPr>
          <p:cNvPr id="40" name="Shape 35"/>
          <p:cNvSpPr/>
          <p:nvPr/>
        </p:nvSpPr>
        <p:spPr>
          <a:xfrm>
            <a:off x="2377440" y="3685032"/>
            <a:ext cx="3520440" cy="329184"/>
          </a:xfrm>
          <a:prstGeom prst="roundRect">
            <a:avLst>
              <a:gd name="adj" fmla="val 16667"/>
            </a:avLst>
          </a:prstGeom>
          <a:solidFill>
            <a:srgbClr val="F2F5F8"/>
          </a:solidFill>
          <a:ln w="12700">
            <a:solidFill>
              <a:srgbClr val="F2F5F8"/>
            </a:solidFill>
            <a:prstDash val="solid"/>
          </a:ln>
        </p:spPr>
      </p:sp>
      <p:sp>
        <p:nvSpPr>
          <p:cNvPr id="41" name="Text 36"/>
          <p:cNvSpPr txBox="1"/>
          <p:nvPr/>
        </p:nvSpPr>
        <p:spPr>
          <a:xfrm>
            <a:off x="2468880" y="3685032"/>
            <a:ext cx="3383280" cy="329184"/>
          </a:xfrm>
          <a:prstGeom prst="rect">
            <a:avLst/>
          </a:prstGeom>
          <a:noFill/>
          <a:ln/>
        </p:spPr>
        <p:txBody>
          <a:bodyPr wrap="square" lIns="0" tIns="0" rIns="0" bIns="0" rtlCol="0" anchor="ctr"/>
          <a:lstStyle/>
          <a:p>
            <a:pPr indent="0" marL="0">
              <a:buNone/>
            </a:pPr>
            <a:r>
              <a:rPr lang="en-US" sz="950" dirty="0">
                <a:solidFill>
                  <a:srgbClr val="1A2B3C"/>
                </a:solidFill>
                <a:latin typeface="Calibri" pitchFamily="34" charset="0"/>
                <a:ea typeface="Calibri" pitchFamily="34" charset="-122"/>
                <a:cs typeface="Calibri" pitchFamily="34" charset="-120"/>
              </a:rPr>
              <a:t>ITU-T Y.3093 data · Y.3094 model domain</a:t>
            </a:r>
            <a:endParaRPr lang="en-US" sz="950" dirty="0"/>
          </a:p>
        </p:txBody>
      </p:sp>
      <p:sp>
        <p:nvSpPr>
          <p:cNvPr id="42" name="Shape 37"/>
          <p:cNvSpPr/>
          <p:nvPr/>
        </p:nvSpPr>
        <p:spPr>
          <a:xfrm>
            <a:off x="6035040" y="3685032"/>
            <a:ext cx="2651760" cy="329184"/>
          </a:xfrm>
          <a:prstGeom prst="roundRect">
            <a:avLst>
              <a:gd name="adj" fmla="val 16667"/>
            </a:avLst>
          </a:prstGeom>
          <a:solidFill>
            <a:srgbClr val="FFFFFF"/>
          </a:solidFill>
          <a:ln w="12700">
            <a:solidFill>
              <a:srgbClr val="E8912D"/>
            </a:solidFill>
            <a:prstDash val="dash"/>
          </a:ln>
        </p:spPr>
      </p:sp>
      <p:sp>
        <p:nvSpPr>
          <p:cNvPr id="43" name="Text 38"/>
          <p:cNvSpPr txBox="1"/>
          <p:nvPr/>
        </p:nvSpPr>
        <p:spPr>
          <a:xfrm>
            <a:off x="6126480" y="3685032"/>
            <a:ext cx="2514600" cy="329184"/>
          </a:xfrm>
          <a:prstGeom prst="rect">
            <a:avLst/>
          </a:prstGeom>
          <a:noFill/>
          <a:ln/>
        </p:spPr>
        <p:txBody>
          <a:bodyPr wrap="square" lIns="0" tIns="0" rIns="0" bIns="0" rtlCol="0" anchor="ctr"/>
          <a:lstStyle/>
          <a:p>
            <a:pPr indent="0" marL="0">
              <a:buNone/>
            </a:pPr>
            <a:r>
              <a:rPr lang="en-US" sz="950" dirty="0">
                <a:solidFill>
                  <a:srgbClr val="1A2B3C"/>
                </a:solidFill>
                <a:latin typeface="Calibri" pitchFamily="34" charset="0"/>
                <a:ea typeface="Calibri" pitchFamily="34" charset="-122"/>
                <a:cs typeface="Calibri" pitchFamily="34" charset="-120"/>
              </a:rPr>
              <a:t>O-RAN nGRG digital-twin research</a:t>
            </a:r>
            <a:endParaRPr lang="en-US" sz="950" dirty="0"/>
          </a:p>
        </p:txBody>
      </p:sp>
      <p:sp>
        <p:nvSpPr>
          <p:cNvPr id="44" name="Shape 39"/>
          <p:cNvSpPr/>
          <p:nvPr/>
        </p:nvSpPr>
        <p:spPr>
          <a:xfrm>
            <a:off x="457200" y="4224528"/>
            <a:ext cx="8229600" cy="548640"/>
          </a:xfrm>
          <a:prstGeom prst="roundRect">
            <a:avLst>
              <a:gd name="adj" fmla="val 13333"/>
            </a:avLst>
          </a:prstGeom>
          <a:solidFill>
            <a:srgbClr val="0B1D33"/>
          </a:solidFill>
          <a:ln w="12700">
            <a:solidFill>
              <a:srgbClr val="0B1D33"/>
            </a:solidFill>
            <a:prstDash val="solid"/>
          </a:ln>
        </p:spPr>
      </p:sp>
      <p:sp>
        <p:nvSpPr>
          <p:cNvPr id="45" name="Text 40"/>
          <p:cNvSpPr txBox="1"/>
          <p:nvPr/>
        </p:nvSpPr>
        <p:spPr>
          <a:xfrm>
            <a:off x="640080" y="4224528"/>
            <a:ext cx="7955280" cy="548640"/>
          </a:xfrm>
          <a:prstGeom prst="rect">
            <a:avLst/>
          </a:prstGeom>
          <a:noFill/>
          <a:ln/>
        </p:spPr>
        <p:txBody>
          <a:bodyPr wrap="square" lIns="0" tIns="0" rIns="0" bIns="0" rtlCol="0" anchor="ctr"/>
          <a:lstStyle/>
          <a:p>
            <a:pPr indent="0" marL="0">
              <a:buNone/>
            </a:pPr>
            <a:r>
              <a:rPr lang="en-US" sz="1050" b="1" dirty="0">
                <a:solidFill>
                  <a:srgbClr val="8FA3B8"/>
                </a:solidFill>
                <a:latin typeface="Calibri" pitchFamily="34" charset="0"/>
                <a:ea typeface="Calibri" pitchFamily="34" charset="-122"/>
                <a:cs typeface="Calibri" pitchFamily="34" charset="-120"/>
              </a:rPr>
              <a:t>Frameworks: </a:t>
            </a:r>
            <a:pPr indent="0" marL="0">
              <a:buNone/>
            </a:pPr>
            <a:r>
              <a:rPr lang="en-US" sz="1050" dirty="0">
                <a:solidFill>
                  <a:srgbClr val="FFFFFF"/>
                </a:solidFill>
                <a:latin typeface="Calibri" pitchFamily="34" charset="0"/>
                <a:ea typeface="Calibri" pitchFamily="34" charset="-122"/>
                <a:cs typeface="Calibri" pitchFamily="34" charset="-120"/>
              </a:rPr>
              <a:t>ITU-T Y.3090  ·  ETSI GR ZSM 015  ·  IRTF NMRG twin architecture</a:t>
            </a:r>
            <a:pPr indent="0" marL="0">
              <a:buNone/>
            </a:pPr>
            <a:r>
              <a:rPr lang="en-US" sz="1050" b="1" dirty="0">
                <a:solidFill>
                  <a:srgbClr val="6FD3A4"/>
                </a:solidFill>
                <a:latin typeface="Calibri" pitchFamily="34" charset="0"/>
                <a:ea typeface="Calibri" pitchFamily="34" charset="-122"/>
                <a:cs typeface="Calibri" pitchFamily="34" charset="-120"/>
              </a:rPr>
              <a:t>      ★ = our recommended stack</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000" b="1" spc="200" kern="0" dirty="0">
                <a:solidFill>
                  <a:srgbClr val="0FA3B1"/>
                </a:solidFill>
                <a:latin typeface="Arial" pitchFamily="34" charset="0"/>
                <a:ea typeface="Arial" pitchFamily="34" charset="-122"/>
                <a:cs typeface="Arial" pitchFamily="34" charset="-120"/>
              </a:rPr>
              <a:t>GAP REGISTER</a:t>
            </a:r>
            <a:endParaRPr lang="en-US" sz="10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400" b="1" dirty="0">
                <a:solidFill>
                  <a:srgbClr val="0B1D33"/>
                </a:solidFill>
                <a:latin typeface="Arial" pitchFamily="34" charset="0"/>
                <a:ea typeface="Arial" pitchFamily="34" charset="-122"/>
                <a:cs typeface="Arial" pitchFamily="34" charset="-120"/>
              </a:rPr>
              <a:t>Top ten gaps, ranked by risk</a:t>
            </a:r>
            <a:endParaRPr lang="en-US" sz="2400" dirty="0"/>
          </a:p>
        </p:txBody>
      </p:sp>
      <p:sp>
        <p:nvSpPr>
          <p:cNvPr id="4" name="Text 2"/>
          <p:cNvSpPr txBox="1"/>
          <p:nvPr/>
        </p:nvSpPr>
        <p:spPr>
          <a:xfrm>
            <a:off x="548640" y="1188720"/>
            <a:ext cx="731520" cy="228600"/>
          </a:xfrm>
          <a:prstGeom prst="rect">
            <a:avLst/>
          </a:prstGeom>
          <a:noFill/>
          <a:ln/>
        </p:spPr>
        <p:txBody>
          <a:bodyPr wrap="square" lIns="0" tIns="0" rIns="0" bIns="0" rtlCol="0" anchor="t"/>
          <a:lstStyle/>
          <a:p>
            <a:pPr indent="0" marL="0">
              <a:buNone/>
            </a:pPr>
            <a:r>
              <a:rPr lang="en-US" sz="850" b="1" spc="100" kern="0" dirty="0">
                <a:solidFill>
                  <a:srgbClr val="5A6B7D"/>
                </a:solidFill>
                <a:latin typeface="Calibri" pitchFamily="34" charset="0"/>
                <a:ea typeface="Calibri" pitchFamily="34" charset="-122"/>
                <a:cs typeface="Calibri" pitchFamily="34" charset="-120"/>
              </a:rPr>
              <a:t>RISK</a:t>
            </a:r>
            <a:endParaRPr lang="en-US" sz="850" dirty="0"/>
          </a:p>
        </p:txBody>
      </p:sp>
      <p:sp>
        <p:nvSpPr>
          <p:cNvPr id="5" name="Text 3"/>
          <p:cNvSpPr txBox="1"/>
          <p:nvPr/>
        </p:nvSpPr>
        <p:spPr>
          <a:xfrm>
            <a:off x="1417320" y="1188720"/>
            <a:ext cx="4023360" cy="228600"/>
          </a:xfrm>
          <a:prstGeom prst="rect">
            <a:avLst/>
          </a:prstGeom>
          <a:noFill/>
          <a:ln/>
        </p:spPr>
        <p:txBody>
          <a:bodyPr wrap="square" lIns="0" tIns="0" rIns="0" bIns="0" rtlCol="0" anchor="t"/>
          <a:lstStyle/>
          <a:p>
            <a:pPr indent="0" marL="0">
              <a:buNone/>
            </a:pPr>
            <a:r>
              <a:rPr lang="en-US" sz="850" b="1" spc="100" kern="0" dirty="0">
                <a:solidFill>
                  <a:srgbClr val="5A6B7D"/>
                </a:solidFill>
                <a:latin typeface="Calibri" pitchFamily="34" charset="0"/>
                <a:ea typeface="Calibri" pitchFamily="34" charset="-122"/>
                <a:cs typeface="Calibri" pitchFamily="34" charset="-120"/>
              </a:rPr>
              <a:t>GAP</a:t>
            </a:r>
            <a:endParaRPr lang="en-US" sz="850" dirty="0"/>
          </a:p>
        </p:txBody>
      </p:sp>
      <p:sp>
        <p:nvSpPr>
          <p:cNvPr id="6" name="Text 4"/>
          <p:cNvSpPr txBox="1"/>
          <p:nvPr/>
        </p:nvSpPr>
        <p:spPr>
          <a:xfrm>
            <a:off x="5486400" y="1188720"/>
            <a:ext cx="3108960" cy="228600"/>
          </a:xfrm>
          <a:prstGeom prst="rect">
            <a:avLst/>
          </a:prstGeom>
          <a:noFill/>
          <a:ln/>
        </p:spPr>
        <p:txBody>
          <a:bodyPr wrap="square" lIns="0" tIns="0" rIns="0" bIns="0" rtlCol="0" anchor="t"/>
          <a:lstStyle/>
          <a:p>
            <a:pPr indent="0" marL="0">
              <a:buNone/>
            </a:pPr>
            <a:r>
              <a:rPr lang="en-US" sz="850" b="1" spc="100" kern="0" dirty="0">
                <a:solidFill>
                  <a:srgbClr val="5A6B7D"/>
                </a:solidFill>
                <a:latin typeface="Calibri" pitchFamily="34" charset="0"/>
                <a:ea typeface="Calibri" pitchFamily="34" charset="-122"/>
                <a:cs typeface="Calibri" pitchFamily="34" charset="-120"/>
              </a:rPr>
              <a:t>WHERE</a:t>
            </a:r>
            <a:endParaRPr lang="en-US" sz="850" dirty="0"/>
          </a:p>
        </p:txBody>
      </p:sp>
      <p:sp>
        <p:nvSpPr>
          <p:cNvPr id="7" name="Shape 5"/>
          <p:cNvSpPr/>
          <p:nvPr/>
        </p:nvSpPr>
        <p:spPr>
          <a:xfrm>
            <a:off x="457200" y="1463040"/>
            <a:ext cx="8229600" cy="333756"/>
          </a:xfrm>
          <a:prstGeom prst="rect">
            <a:avLst/>
          </a:prstGeom>
          <a:solidFill>
            <a:srgbClr val="F2F5F8"/>
          </a:solidFill>
          <a:ln w="12700">
            <a:solidFill>
              <a:srgbClr val="F2F5F8"/>
            </a:solidFill>
            <a:prstDash val="solid"/>
          </a:ln>
        </p:spPr>
      </p:sp>
      <p:sp>
        <p:nvSpPr>
          <p:cNvPr id="8" name="Shape 6"/>
          <p:cNvSpPr/>
          <p:nvPr/>
        </p:nvSpPr>
        <p:spPr>
          <a:xfrm>
            <a:off x="548640" y="1527048"/>
            <a:ext cx="594360" cy="201168"/>
          </a:xfrm>
          <a:prstGeom prst="roundRect">
            <a:avLst>
              <a:gd name="adj" fmla="val 50000"/>
            </a:avLst>
          </a:prstGeom>
          <a:solidFill>
            <a:srgbClr val="D64545"/>
          </a:solidFill>
          <a:ln w="12700">
            <a:solidFill>
              <a:srgbClr val="D64545"/>
            </a:solidFill>
            <a:prstDash val="solid"/>
          </a:ln>
        </p:spPr>
      </p:sp>
      <p:sp>
        <p:nvSpPr>
          <p:cNvPr id="9" name="Text 7"/>
          <p:cNvSpPr txBox="1"/>
          <p:nvPr/>
        </p:nvSpPr>
        <p:spPr>
          <a:xfrm>
            <a:off x="548640" y="1527048"/>
            <a:ext cx="594360"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HIGH</a:t>
            </a:r>
            <a:endParaRPr lang="en-US" sz="700" dirty="0"/>
          </a:p>
        </p:txBody>
      </p:sp>
      <p:sp>
        <p:nvSpPr>
          <p:cNvPr id="10" name="Text 8"/>
          <p:cNvSpPr txBox="1"/>
          <p:nvPr/>
        </p:nvSpPr>
        <p:spPr>
          <a:xfrm>
            <a:off x="1417320" y="1463040"/>
            <a:ext cx="4023360" cy="333756"/>
          </a:xfrm>
          <a:prstGeom prst="rect">
            <a:avLst/>
          </a:prstGeom>
          <a:noFill/>
          <a:ln/>
        </p:spPr>
        <p:txBody>
          <a:bodyPr wrap="square" lIns="0" tIns="0" rIns="0" bIns="0" rtlCol="0" anchor="ctr"/>
          <a:lstStyle/>
          <a:p>
            <a:pPr indent="0" marL="0">
              <a:buNone/>
            </a:pPr>
            <a:r>
              <a:rPr lang="en-US" sz="1000" b="1" dirty="0">
                <a:solidFill>
                  <a:srgbClr val="1A2B3C"/>
                </a:solidFill>
                <a:latin typeface="Calibri" pitchFamily="34" charset="0"/>
                <a:ea typeface="Calibri" pitchFamily="34" charset="-122"/>
                <a:cs typeface="Calibri" pitchFamily="34" charset="-120"/>
              </a:rPr>
              <a:t>1. Fallback constants labelled as ns-3 results</a:t>
            </a:r>
            <a:endParaRPr lang="en-US" sz="1000" dirty="0"/>
          </a:p>
        </p:txBody>
      </p:sp>
      <p:sp>
        <p:nvSpPr>
          <p:cNvPr id="11" name="Text 9"/>
          <p:cNvSpPr txBox="1"/>
          <p:nvPr/>
        </p:nvSpPr>
        <p:spPr>
          <a:xfrm>
            <a:off x="5486400" y="1463040"/>
            <a:ext cx="3154680" cy="333756"/>
          </a:xfrm>
          <a:prstGeom prst="rect">
            <a:avLst/>
          </a:prstGeom>
          <a:noFill/>
          <a:ln/>
        </p:spPr>
        <p:txBody>
          <a:bodyPr wrap="square" lIns="0" tIns="0" rIns="0" bIns="0" rtlCol="0" anchor="ctr"/>
          <a:lstStyle/>
          <a:p>
            <a:pPr indent="0" marL="0">
              <a:buNone/>
            </a:pPr>
            <a:r>
              <a:rPr lang="en-US" sz="800" dirty="0">
                <a:solidFill>
                  <a:srgbClr val="5A6B7D"/>
                </a:solidFill>
                <a:latin typeface="Courier New" pitchFamily="34" charset="0"/>
                <a:ea typeface="Courier New" pitchFamily="34" charset="-122"/>
                <a:cs typeface="Courier New" pitchFamily="34" charset="-120"/>
              </a:rPr>
              <a:t>tsn_simulation_runner.py</a:t>
            </a:r>
            <a:endParaRPr lang="en-US" sz="800" dirty="0"/>
          </a:p>
        </p:txBody>
      </p:sp>
      <p:sp>
        <p:nvSpPr>
          <p:cNvPr id="12" name="Shape 10"/>
          <p:cNvSpPr/>
          <p:nvPr/>
        </p:nvSpPr>
        <p:spPr>
          <a:xfrm>
            <a:off x="548640" y="1860804"/>
            <a:ext cx="594360" cy="201168"/>
          </a:xfrm>
          <a:prstGeom prst="roundRect">
            <a:avLst>
              <a:gd name="adj" fmla="val 50000"/>
            </a:avLst>
          </a:prstGeom>
          <a:solidFill>
            <a:srgbClr val="D64545"/>
          </a:solidFill>
          <a:ln w="12700">
            <a:solidFill>
              <a:srgbClr val="D64545"/>
            </a:solidFill>
            <a:prstDash val="solid"/>
          </a:ln>
        </p:spPr>
      </p:sp>
      <p:sp>
        <p:nvSpPr>
          <p:cNvPr id="13" name="Text 11"/>
          <p:cNvSpPr txBox="1"/>
          <p:nvPr/>
        </p:nvSpPr>
        <p:spPr>
          <a:xfrm>
            <a:off x="548640" y="1860804"/>
            <a:ext cx="594360"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HIGH</a:t>
            </a:r>
            <a:endParaRPr lang="en-US" sz="700" dirty="0"/>
          </a:p>
        </p:txBody>
      </p:sp>
      <p:sp>
        <p:nvSpPr>
          <p:cNvPr id="14" name="Text 12"/>
          <p:cNvSpPr txBox="1"/>
          <p:nvPr/>
        </p:nvSpPr>
        <p:spPr>
          <a:xfrm>
            <a:off x="1417320" y="1796796"/>
            <a:ext cx="4023360" cy="333756"/>
          </a:xfrm>
          <a:prstGeom prst="rect">
            <a:avLst/>
          </a:prstGeom>
          <a:noFill/>
          <a:ln/>
        </p:spPr>
        <p:txBody>
          <a:bodyPr wrap="square" lIns="0" tIns="0" rIns="0" bIns="0" rtlCol="0" anchor="ctr"/>
          <a:lstStyle/>
          <a:p>
            <a:pPr indent="0" marL="0">
              <a:buNone/>
            </a:pPr>
            <a:r>
              <a:rPr lang="en-US" sz="1000" b="1" dirty="0">
                <a:solidFill>
                  <a:srgbClr val="1A2B3C"/>
                </a:solidFill>
                <a:latin typeface="Calibri" pitchFamily="34" charset="0"/>
                <a:ea typeface="Calibri" pitchFamily="34" charset="-122"/>
                <a:cs typeface="Calibri" pitchFamily="34" charset="-120"/>
              </a:rPr>
              <a:t>2. Failed TFS write reported as success</a:t>
            </a:r>
            <a:endParaRPr lang="en-US" sz="1000" dirty="0"/>
          </a:p>
        </p:txBody>
      </p:sp>
      <p:sp>
        <p:nvSpPr>
          <p:cNvPr id="15" name="Text 13"/>
          <p:cNvSpPr txBox="1"/>
          <p:nvPr/>
        </p:nvSpPr>
        <p:spPr>
          <a:xfrm>
            <a:off x="5486400" y="1796796"/>
            <a:ext cx="3154680" cy="333756"/>
          </a:xfrm>
          <a:prstGeom prst="rect">
            <a:avLst/>
          </a:prstGeom>
          <a:noFill/>
          <a:ln/>
        </p:spPr>
        <p:txBody>
          <a:bodyPr wrap="square" lIns="0" tIns="0" rIns="0" bIns="0" rtlCol="0" anchor="ctr"/>
          <a:lstStyle/>
          <a:p>
            <a:pPr indent="0" marL="0">
              <a:buNone/>
            </a:pPr>
            <a:r>
              <a:rPr lang="en-US" sz="800" dirty="0">
                <a:solidFill>
                  <a:srgbClr val="5A6B7D"/>
                </a:solidFill>
                <a:latin typeface="Courier New" pitchFamily="34" charset="0"/>
                <a:ea typeface="Courier New" pitchFamily="34" charset="-122"/>
                <a:cs typeface="Courier New" pitchFamily="34" charset="-120"/>
              </a:rPr>
              <a:t>digital_twin_routes.py · web_dashboard.py</a:t>
            </a:r>
            <a:endParaRPr lang="en-US" sz="800" dirty="0"/>
          </a:p>
        </p:txBody>
      </p:sp>
      <p:sp>
        <p:nvSpPr>
          <p:cNvPr id="16" name="Shape 14"/>
          <p:cNvSpPr/>
          <p:nvPr/>
        </p:nvSpPr>
        <p:spPr>
          <a:xfrm>
            <a:off x="457200" y="2130552"/>
            <a:ext cx="8229600" cy="333756"/>
          </a:xfrm>
          <a:prstGeom prst="rect">
            <a:avLst/>
          </a:prstGeom>
          <a:solidFill>
            <a:srgbClr val="F2F5F8"/>
          </a:solidFill>
          <a:ln w="12700">
            <a:solidFill>
              <a:srgbClr val="F2F5F8"/>
            </a:solidFill>
            <a:prstDash val="solid"/>
          </a:ln>
        </p:spPr>
      </p:sp>
      <p:sp>
        <p:nvSpPr>
          <p:cNvPr id="17" name="Shape 15"/>
          <p:cNvSpPr/>
          <p:nvPr/>
        </p:nvSpPr>
        <p:spPr>
          <a:xfrm>
            <a:off x="548640" y="2194560"/>
            <a:ext cx="594360" cy="201168"/>
          </a:xfrm>
          <a:prstGeom prst="roundRect">
            <a:avLst>
              <a:gd name="adj" fmla="val 50000"/>
            </a:avLst>
          </a:prstGeom>
          <a:solidFill>
            <a:srgbClr val="D64545"/>
          </a:solidFill>
          <a:ln w="12700">
            <a:solidFill>
              <a:srgbClr val="D64545"/>
            </a:solidFill>
            <a:prstDash val="solid"/>
          </a:ln>
        </p:spPr>
      </p:sp>
      <p:sp>
        <p:nvSpPr>
          <p:cNvPr id="18" name="Text 16"/>
          <p:cNvSpPr txBox="1"/>
          <p:nvPr/>
        </p:nvSpPr>
        <p:spPr>
          <a:xfrm>
            <a:off x="548640" y="2194560"/>
            <a:ext cx="594360"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HIGH</a:t>
            </a:r>
            <a:endParaRPr lang="en-US" sz="700" dirty="0"/>
          </a:p>
        </p:txBody>
      </p:sp>
      <p:sp>
        <p:nvSpPr>
          <p:cNvPr id="19" name="Text 17"/>
          <p:cNvSpPr txBox="1"/>
          <p:nvPr/>
        </p:nvSpPr>
        <p:spPr>
          <a:xfrm>
            <a:off x="1417320" y="2130552"/>
            <a:ext cx="4023360" cy="333756"/>
          </a:xfrm>
          <a:prstGeom prst="rect">
            <a:avLst/>
          </a:prstGeom>
          <a:noFill/>
          <a:ln/>
        </p:spPr>
        <p:txBody>
          <a:bodyPr wrap="square" lIns="0" tIns="0" rIns="0" bIns="0" rtlCol="0" anchor="ctr"/>
          <a:lstStyle/>
          <a:p>
            <a:pPr indent="0" marL="0">
              <a:buNone/>
            </a:pPr>
            <a:r>
              <a:rPr lang="en-US" sz="1000" b="1" dirty="0">
                <a:solidFill>
                  <a:srgbClr val="1A2B3C"/>
                </a:solidFill>
                <a:latin typeface="Calibri" pitchFamily="34" charset="0"/>
                <a:ea typeface="Calibri" pitchFamily="34" charset="-122"/>
                <a:cs typeface="Calibri" pitchFamily="34" charset="-120"/>
              </a:rPr>
              <a:t>3. Intent keys don't match driver keys</a:t>
            </a:r>
            <a:endParaRPr lang="en-US" sz="1000" dirty="0"/>
          </a:p>
        </p:txBody>
      </p:sp>
      <p:sp>
        <p:nvSpPr>
          <p:cNvPr id="20" name="Text 18"/>
          <p:cNvSpPr txBox="1"/>
          <p:nvPr/>
        </p:nvSpPr>
        <p:spPr>
          <a:xfrm>
            <a:off x="5486400" y="2130552"/>
            <a:ext cx="3154680" cy="333756"/>
          </a:xfrm>
          <a:prstGeom prst="rect">
            <a:avLst/>
          </a:prstGeom>
          <a:noFill/>
          <a:ln/>
        </p:spPr>
        <p:txBody>
          <a:bodyPr wrap="square" lIns="0" tIns="0" rIns="0" bIns="0" rtlCol="0" anchor="ctr"/>
          <a:lstStyle/>
          <a:p>
            <a:pPr indent="0" marL="0">
              <a:buNone/>
            </a:pPr>
            <a:r>
              <a:rPr lang="en-US" sz="800" dirty="0">
                <a:solidFill>
                  <a:srgbClr val="5A6B7D"/>
                </a:solidFill>
                <a:latin typeface="Courier New" pitchFamily="34" charset="0"/>
                <a:ea typeface="Courier New" pitchFamily="34" charset="-122"/>
                <a:cs typeface="Courier New" pitchFamily="34" charset="-120"/>
              </a:rPr>
              <a:t>adapter.py ↔ CeragonDriver.py</a:t>
            </a:r>
            <a:endParaRPr lang="en-US" sz="800" dirty="0"/>
          </a:p>
        </p:txBody>
      </p:sp>
      <p:sp>
        <p:nvSpPr>
          <p:cNvPr id="21" name="Shape 19"/>
          <p:cNvSpPr/>
          <p:nvPr/>
        </p:nvSpPr>
        <p:spPr>
          <a:xfrm>
            <a:off x="548640" y="2528316"/>
            <a:ext cx="594360" cy="201168"/>
          </a:xfrm>
          <a:prstGeom prst="roundRect">
            <a:avLst>
              <a:gd name="adj" fmla="val 50000"/>
            </a:avLst>
          </a:prstGeom>
          <a:solidFill>
            <a:srgbClr val="D64545"/>
          </a:solidFill>
          <a:ln w="12700">
            <a:solidFill>
              <a:srgbClr val="D64545"/>
            </a:solidFill>
            <a:prstDash val="solid"/>
          </a:ln>
        </p:spPr>
      </p:sp>
      <p:sp>
        <p:nvSpPr>
          <p:cNvPr id="22" name="Text 20"/>
          <p:cNvSpPr txBox="1"/>
          <p:nvPr/>
        </p:nvSpPr>
        <p:spPr>
          <a:xfrm>
            <a:off x="548640" y="2528316"/>
            <a:ext cx="594360"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HIGH</a:t>
            </a:r>
            <a:endParaRPr lang="en-US" sz="700" dirty="0"/>
          </a:p>
        </p:txBody>
      </p:sp>
      <p:sp>
        <p:nvSpPr>
          <p:cNvPr id="23" name="Text 21"/>
          <p:cNvSpPr txBox="1"/>
          <p:nvPr/>
        </p:nvSpPr>
        <p:spPr>
          <a:xfrm>
            <a:off x="1417320" y="2464308"/>
            <a:ext cx="4023360" cy="333756"/>
          </a:xfrm>
          <a:prstGeom prst="rect">
            <a:avLst/>
          </a:prstGeom>
          <a:noFill/>
          <a:ln/>
        </p:spPr>
        <p:txBody>
          <a:bodyPr wrap="square" lIns="0" tIns="0" rIns="0" bIns="0" rtlCol="0" anchor="ctr"/>
          <a:lstStyle/>
          <a:p>
            <a:pPr indent="0" marL="0">
              <a:buNone/>
            </a:pPr>
            <a:r>
              <a:rPr lang="en-US" sz="1000" b="1" dirty="0">
                <a:solidFill>
                  <a:srgbClr val="1A2B3C"/>
                </a:solidFill>
                <a:latin typeface="Calibri" pitchFamily="34" charset="0"/>
                <a:ea typeface="Calibri" pitchFamily="34" charset="-122"/>
                <a:cs typeface="Calibri" pitchFamily="34" charset="-120"/>
              </a:rPr>
              <a:t>4. Device state is canned, not read back</a:t>
            </a:r>
            <a:endParaRPr lang="en-US" sz="1000" dirty="0"/>
          </a:p>
        </p:txBody>
      </p:sp>
      <p:sp>
        <p:nvSpPr>
          <p:cNvPr id="24" name="Text 22"/>
          <p:cNvSpPr txBox="1"/>
          <p:nvPr/>
        </p:nvSpPr>
        <p:spPr>
          <a:xfrm>
            <a:off x="5486400" y="2464308"/>
            <a:ext cx="3154680" cy="333756"/>
          </a:xfrm>
          <a:prstGeom prst="rect">
            <a:avLst/>
          </a:prstGeom>
          <a:noFill/>
          <a:ln/>
        </p:spPr>
        <p:txBody>
          <a:bodyPr wrap="square" lIns="0" tIns="0" rIns="0" bIns="0" rtlCol="0" anchor="ctr"/>
          <a:lstStyle/>
          <a:p>
            <a:pPr indent="0" marL="0">
              <a:buNone/>
            </a:pPr>
            <a:r>
              <a:rPr lang="en-US" sz="800" dirty="0">
                <a:solidFill>
                  <a:srgbClr val="5A6B7D"/>
                </a:solidFill>
                <a:latin typeface="Courier New" pitchFamily="34" charset="0"/>
                <a:ea typeface="Courier New" pitchFamily="34" charset="-122"/>
                <a:cs typeface="Courier New" pitchFamily="34" charset="-120"/>
              </a:rPr>
              <a:t>ceragon/client.py</a:t>
            </a:r>
            <a:endParaRPr lang="en-US" sz="800" dirty="0"/>
          </a:p>
        </p:txBody>
      </p:sp>
      <p:sp>
        <p:nvSpPr>
          <p:cNvPr id="25" name="Shape 23"/>
          <p:cNvSpPr/>
          <p:nvPr/>
        </p:nvSpPr>
        <p:spPr>
          <a:xfrm>
            <a:off x="457200" y="2798064"/>
            <a:ext cx="8229600" cy="333756"/>
          </a:xfrm>
          <a:prstGeom prst="rect">
            <a:avLst/>
          </a:prstGeom>
          <a:solidFill>
            <a:srgbClr val="F2F5F8"/>
          </a:solidFill>
          <a:ln w="12700">
            <a:solidFill>
              <a:srgbClr val="F2F5F8"/>
            </a:solidFill>
            <a:prstDash val="solid"/>
          </a:ln>
        </p:spPr>
      </p:sp>
      <p:sp>
        <p:nvSpPr>
          <p:cNvPr id="26" name="Shape 24"/>
          <p:cNvSpPr/>
          <p:nvPr/>
        </p:nvSpPr>
        <p:spPr>
          <a:xfrm>
            <a:off x="548640" y="2862072"/>
            <a:ext cx="594360" cy="201168"/>
          </a:xfrm>
          <a:prstGeom prst="roundRect">
            <a:avLst>
              <a:gd name="adj" fmla="val 50000"/>
            </a:avLst>
          </a:prstGeom>
          <a:solidFill>
            <a:srgbClr val="D64545"/>
          </a:solidFill>
          <a:ln w="12700">
            <a:solidFill>
              <a:srgbClr val="D64545"/>
            </a:solidFill>
            <a:prstDash val="solid"/>
          </a:ln>
        </p:spPr>
      </p:sp>
      <p:sp>
        <p:nvSpPr>
          <p:cNvPr id="27" name="Text 25"/>
          <p:cNvSpPr txBox="1"/>
          <p:nvPr/>
        </p:nvSpPr>
        <p:spPr>
          <a:xfrm>
            <a:off x="548640" y="2862072"/>
            <a:ext cx="594360"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HIGH</a:t>
            </a:r>
            <a:endParaRPr lang="en-US" sz="700" dirty="0"/>
          </a:p>
        </p:txBody>
      </p:sp>
      <p:sp>
        <p:nvSpPr>
          <p:cNvPr id="28" name="Text 26"/>
          <p:cNvSpPr txBox="1"/>
          <p:nvPr/>
        </p:nvSpPr>
        <p:spPr>
          <a:xfrm>
            <a:off x="1417320" y="2798064"/>
            <a:ext cx="4023360" cy="333756"/>
          </a:xfrm>
          <a:prstGeom prst="rect">
            <a:avLst/>
          </a:prstGeom>
          <a:noFill/>
          <a:ln/>
        </p:spPr>
        <p:txBody>
          <a:bodyPr wrap="square" lIns="0" tIns="0" rIns="0" bIns="0" rtlCol="0" anchor="ctr"/>
          <a:lstStyle/>
          <a:p>
            <a:pPr indent="0" marL="0">
              <a:buNone/>
            </a:pPr>
            <a:r>
              <a:rPr lang="en-US" sz="1000" b="1" dirty="0">
                <a:solidFill>
                  <a:srgbClr val="1A2B3C"/>
                </a:solidFill>
                <a:latin typeface="Calibri" pitchFamily="34" charset="0"/>
                <a:ea typeface="Calibri" pitchFamily="34" charset="-122"/>
                <a:cs typeface="Calibri" pitchFamily="34" charset="-120"/>
              </a:rPr>
              <a:t>5. admin/admin, verify=False, creds in wire log</a:t>
            </a:r>
            <a:endParaRPr lang="en-US" sz="1000" dirty="0"/>
          </a:p>
        </p:txBody>
      </p:sp>
      <p:sp>
        <p:nvSpPr>
          <p:cNvPr id="29" name="Text 27"/>
          <p:cNvSpPr txBox="1"/>
          <p:nvPr/>
        </p:nvSpPr>
        <p:spPr>
          <a:xfrm>
            <a:off x="5486400" y="2798064"/>
            <a:ext cx="3154680" cy="333756"/>
          </a:xfrm>
          <a:prstGeom prst="rect">
            <a:avLst/>
          </a:prstGeom>
          <a:noFill/>
          <a:ln/>
        </p:spPr>
        <p:txBody>
          <a:bodyPr wrap="square" lIns="0" tIns="0" rIns="0" bIns="0" rtlCol="0" anchor="ctr"/>
          <a:lstStyle/>
          <a:p>
            <a:pPr indent="0" marL="0">
              <a:buNone/>
            </a:pPr>
            <a:r>
              <a:rPr lang="en-US" sz="800" dirty="0">
                <a:solidFill>
                  <a:srgbClr val="5A6B7D"/>
                </a:solidFill>
                <a:latin typeface="Courier New" pitchFamily="34" charset="0"/>
                <a:ea typeface="Courier New" pitchFamily="34" charset="-122"/>
                <a:cs typeface="Courier New" pitchFamily="34" charset="-120"/>
              </a:rPr>
              <a:t>descriptors · clients</a:t>
            </a:r>
            <a:endParaRPr lang="en-US" sz="800" dirty="0"/>
          </a:p>
        </p:txBody>
      </p:sp>
      <p:sp>
        <p:nvSpPr>
          <p:cNvPr id="30" name="Shape 28"/>
          <p:cNvSpPr/>
          <p:nvPr/>
        </p:nvSpPr>
        <p:spPr>
          <a:xfrm>
            <a:off x="548640" y="3195828"/>
            <a:ext cx="594360" cy="201168"/>
          </a:xfrm>
          <a:prstGeom prst="roundRect">
            <a:avLst>
              <a:gd name="adj" fmla="val 50000"/>
            </a:avLst>
          </a:prstGeom>
          <a:solidFill>
            <a:srgbClr val="E8912D"/>
          </a:solidFill>
          <a:ln w="12700">
            <a:solidFill>
              <a:srgbClr val="E8912D"/>
            </a:solidFill>
            <a:prstDash val="solid"/>
          </a:ln>
        </p:spPr>
      </p:sp>
      <p:sp>
        <p:nvSpPr>
          <p:cNvPr id="31" name="Text 29"/>
          <p:cNvSpPr txBox="1"/>
          <p:nvPr/>
        </p:nvSpPr>
        <p:spPr>
          <a:xfrm>
            <a:off x="548640" y="3195828"/>
            <a:ext cx="594360"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MED</a:t>
            </a:r>
            <a:endParaRPr lang="en-US" sz="700" dirty="0"/>
          </a:p>
        </p:txBody>
      </p:sp>
      <p:sp>
        <p:nvSpPr>
          <p:cNvPr id="32" name="Text 30"/>
          <p:cNvSpPr txBox="1"/>
          <p:nvPr/>
        </p:nvSpPr>
        <p:spPr>
          <a:xfrm>
            <a:off x="1417320" y="3131820"/>
            <a:ext cx="4023360" cy="333756"/>
          </a:xfrm>
          <a:prstGeom prst="rect">
            <a:avLst/>
          </a:prstGeom>
          <a:noFill/>
          <a:ln/>
        </p:spPr>
        <p:txBody>
          <a:bodyPr wrap="square" lIns="0" tIns="0" rIns="0" bIns="0" rtlCol="0" anchor="ctr"/>
          <a:lstStyle/>
          <a:p>
            <a:pPr indent="0" marL="0">
              <a:buNone/>
            </a:pPr>
            <a:r>
              <a:rPr lang="en-US" sz="1000" dirty="0">
                <a:solidFill>
                  <a:srgbClr val="1A2B3C"/>
                </a:solidFill>
                <a:latin typeface="Calibri" pitchFamily="34" charset="0"/>
                <a:ea typeface="Calibri" pitchFamily="34" charset="-122"/>
                <a:cs typeface="Calibri" pitchFamily="34" charset="-120"/>
              </a:rPr>
              <a:t>6. No telemetry subscription from radios</a:t>
            </a:r>
            <a:endParaRPr lang="en-US" sz="1000" dirty="0"/>
          </a:p>
        </p:txBody>
      </p:sp>
      <p:sp>
        <p:nvSpPr>
          <p:cNvPr id="33" name="Text 31"/>
          <p:cNvSpPr txBox="1"/>
          <p:nvPr/>
        </p:nvSpPr>
        <p:spPr>
          <a:xfrm>
            <a:off x="5486400" y="3131820"/>
            <a:ext cx="3154680" cy="333756"/>
          </a:xfrm>
          <a:prstGeom prst="rect">
            <a:avLst/>
          </a:prstGeom>
          <a:noFill/>
          <a:ln/>
        </p:spPr>
        <p:txBody>
          <a:bodyPr wrap="square" lIns="0" tIns="0" rIns="0" bIns="0" rtlCol="0" anchor="ctr"/>
          <a:lstStyle/>
          <a:p>
            <a:pPr indent="0" marL="0">
              <a:buNone/>
            </a:pPr>
            <a:r>
              <a:rPr lang="en-US" sz="800" dirty="0">
                <a:solidFill>
                  <a:srgbClr val="5A6B7D"/>
                </a:solidFill>
                <a:latin typeface="Courier New" pitchFamily="34" charset="0"/>
                <a:ea typeface="Courier New" pitchFamily="34" charset="-122"/>
                <a:cs typeface="Courier New" pitchFamily="34" charset="-120"/>
              </a:rPr>
              <a:t>CeragonDriver.SubscribeState</a:t>
            </a:r>
            <a:endParaRPr lang="en-US" sz="800" dirty="0"/>
          </a:p>
        </p:txBody>
      </p:sp>
      <p:sp>
        <p:nvSpPr>
          <p:cNvPr id="34" name="Shape 32"/>
          <p:cNvSpPr/>
          <p:nvPr/>
        </p:nvSpPr>
        <p:spPr>
          <a:xfrm>
            <a:off x="457200" y="3465576"/>
            <a:ext cx="8229600" cy="333756"/>
          </a:xfrm>
          <a:prstGeom prst="rect">
            <a:avLst/>
          </a:prstGeom>
          <a:solidFill>
            <a:srgbClr val="F2F5F8"/>
          </a:solidFill>
          <a:ln w="12700">
            <a:solidFill>
              <a:srgbClr val="F2F5F8"/>
            </a:solidFill>
            <a:prstDash val="solid"/>
          </a:ln>
        </p:spPr>
      </p:sp>
      <p:sp>
        <p:nvSpPr>
          <p:cNvPr id="35" name="Shape 33"/>
          <p:cNvSpPr/>
          <p:nvPr/>
        </p:nvSpPr>
        <p:spPr>
          <a:xfrm>
            <a:off x="548640" y="3529584"/>
            <a:ext cx="594360" cy="201168"/>
          </a:xfrm>
          <a:prstGeom prst="roundRect">
            <a:avLst>
              <a:gd name="adj" fmla="val 50000"/>
            </a:avLst>
          </a:prstGeom>
          <a:solidFill>
            <a:srgbClr val="E8912D"/>
          </a:solidFill>
          <a:ln w="12700">
            <a:solidFill>
              <a:srgbClr val="E8912D"/>
            </a:solidFill>
            <a:prstDash val="solid"/>
          </a:ln>
        </p:spPr>
      </p:sp>
      <p:sp>
        <p:nvSpPr>
          <p:cNvPr id="36" name="Text 34"/>
          <p:cNvSpPr txBox="1"/>
          <p:nvPr/>
        </p:nvSpPr>
        <p:spPr>
          <a:xfrm>
            <a:off x="548640" y="3529584"/>
            <a:ext cx="594360"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MED</a:t>
            </a:r>
            <a:endParaRPr lang="en-US" sz="700" dirty="0"/>
          </a:p>
        </p:txBody>
      </p:sp>
      <p:sp>
        <p:nvSpPr>
          <p:cNvPr id="37" name="Text 35"/>
          <p:cNvSpPr txBox="1"/>
          <p:nvPr/>
        </p:nvSpPr>
        <p:spPr>
          <a:xfrm>
            <a:off x="1417320" y="3465576"/>
            <a:ext cx="4023360" cy="333756"/>
          </a:xfrm>
          <a:prstGeom prst="rect">
            <a:avLst/>
          </a:prstGeom>
          <a:noFill/>
          <a:ln/>
        </p:spPr>
        <p:txBody>
          <a:bodyPr wrap="square" lIns="0" tIns="0" rIns="0" bIns="0" rtlCol="0" anchor="ctr"/>
          <a:lstStyle/>
          <a:p>
            <a:pPr indent="0" marL="0">
              <a:buNone/>
            </a:pPr>
            <a:r>
              <a:rPr lang="en-US" sz="1000" dirty="0">
                <a:solidFill>
                  <a:srgbClr val="1A2B3C"/>
                </a:solidFill>
                <a:latin typeface="Calibri" pitchFamily="34" charset="0"/>
                <a:ea typeface="Calibri" pitchFamily="34" charset="-122"/>
                <a:cs typeface="Calibri" pitchFamily="34" charset="-120"/>
              </a:rPr>
              <a:t>7. Drift detected on synthetic data, never fixed</a:t>
            </a:r>
            <a:endParaRPr lang="en-US" sz="1000" dirty="0"/>
          </a:p>
        </p:txBody>
      </p:sp>
      <p:sp>
        <p:nvSpPr>
          <p:cNvPr id="38" name="Text 36"/>
          <p:cNvSpPr txBox="1"/>
          <p:nvPr/>
        </p:nvSpPr>
        <p:spPr>
          <a:xfrm>
            <a:off x="5486400" y="3465576"/>
            <a:ext cx="3154680" cy="333756"/>
          </a:xfrm>
          <a:prstGeom prst="rect">
            <a:avLst/>
          </a:prstGeom>
          <a:noFill/>
          <a:ln/>
        </p:spPr>
        <p:txBody>
          <a:bodyPr wrap="square" lIns="0" tIns="0" rIns="0" bIns="0" rtlCol="0" anchor="ctr"/>
          <a:lstStyle/>
          <a:p>
            <a:pPr indent="0" marL="0">
              <a:buNone/>
            </a:pPr>
            <a:r>
              <a:rPr lang="en-US" sz="800" dirty="0">
                <a:solidFill>
                  <a:srgbClr val="5A6B7D"/>
                </a:solidFill>
                <a:latin typeface="Courier New" pitchFamily="34" charset="0"/>
                <a:ea typeface="Courier New" pitchFamily="34" charset="-122"/>
                <a:cs typeface="Courier New" pitchFamily="34" charset="-120"/>
              </a:rPr>
              <a:t>assurance/reconciler.py</a:t>
            </a:r>
            <a:endParaRPr lang="en-US" sz="800" dirty="0"/>
          </a:p>
        </p:txBody>
      </p:sp>
      <p:sp>
        <p:nvSpPr>
          <p:cNvPr id="39" name="Shape 37"/>
          <p:cNvSpPr/>
          <p:nvPr/>
        </p:nvSpPr>
        <p:spPr>
          <a:xfrm>
            <a:off x="548640" y="3863340"/>
            <a:ext cx="594360" cy="201168"/>
          </a:xfrm>
          <a:prstGeom prst="roundRect">
            <a:avLst>
              <a:gd name="adj" fmla="val 50000"/>
            </a:avLst>
          </a:prstGeom>
          <a:solidFill>
            <a:srgbClr val="E8912D"/>
          </a:solidFill>
          <a:ln w="12700">
            <a:solidFill>
              <a:srgbClr val="E8912D"/>
            </a:solidFill>
            <a:prstDash val="solid"/>
          </a:ln>
        </p:spPr>
      </p:sp>
      <p:sp>
        <p:nvSpPr>
          <p:cNvPr id="40" name="Text 38"/>
          <p:cNvSpPr txBox="1"/>
          <p:nvPr/>
        </p:nvSpPr>
        <p:spPr>
          <a:xfrm>
            <a:off x="548640" y="3863340"/>
            <a:ext cx="594360"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MED</a:t>
            </a:r>
            <a:endParaRPr lang="en-US" sz="700" dirty="0"/>
          </a:p>
        </p:txBody>
      </p:sp>
      <p:sp>
        <p:nvSpPr>
          <p:cNvPr id="41" name="Text 39"/>
          <p:cNvSpPr txBox="1"/>
          <p:nvPr/>
        </p:nvSpPr>
        <p:spPr>
          <a:xfrm>
            <a:off x="1417320" y="3799332"/>
            <a:ext cx="4023360" cy="333756"/>
          </a:xfrm>
          <a:prstGeom prst="rect">
            <a:avLst/>
          </a:prstGeom>
          <a:noFill/>
          <a:ln/>
        </p:spPr>
        <p:txBody>
          <a:bodyPr wrap="square" lIns="0" tIns="0" rIns="0" bIns="0" rtlCol="0" anchor="ctr"/>
          <a:lstStyle/>
          <a:p>
            <a:pPr indent="0" marL="0">
              <a:buNone/>
            </a:pPr>
            <a:r>
              <a:rPr lang="en-US" sz="1000" dirty="0">
                <a:solidFill>
                  <a:srgbClr val="1A2B3C"/>
                </a:solidFill>
                <a:latin typeface="Calibri" pitchFamily="34" charset="0"/>
                <a:ea typeface="Calibri" pitchFamily="34" charset="-122"/>
                <a:cs typeface="Calibri" pitchFamily="34" charset="-120"/>
              </a:rPr>
              <a:t>8. Retune passes GHz as frequency_mhz</a:t>
            </a:r>
            <a:endParaRPr lang="en-US" sz="1000" dirty="0"/>
          </a:p>
        </p:txBody>
      </p:sp>
      <p:sp>
        <p:nvSpPr>
          <p:cNvPr id="42" name="Text 40"/>
          <p:cNvSpPr txBox="1"/>
          <p:nvPr/>
        </p:nvSpPr>
        <p:spPr>
          <a:xfrm>
            <a:off x="5486400" y="3799332"/>
            <a:ext cx="3154680" cy="333756"/>
          </a:xfrm>
          <a:prstGeom prst="rect">
            <a:avLst/>
          </a:prstGeom>
          <a:noFill/>
          <a:ln/>
        </p:spPr>
        <p:txBody>
          <a:bodyPr wrap="square" lIns="0" tIns="0" rIns="0" bIns="0" rtlCol="0" anchor="ctr"/>
          <a:lstStyle/>
          <a:p>
            <a:pPr indent="0" marL="0">
              <a:buNone/>
            </a:pPr>
            <a:r>
              <a:rPr lang="en-US" sz="800" dirty="0">
                <a:solidFill>
                  <a:srgbClr val="5A6B7D"/>
                </a:solidFill>
                <a:latin typeface="Courier New" pitchFamily="34" charset="0"/>
                <a:ea typeface="Courier New" pitchFamily="34" charset="-122"/>
                <a:cs typeface="Courier New" pitchFamily="34" charset="-120"/>
              </a:rPr>
              <a:t>tfs_digital_twin_api.py</a:t>
            </a:r>
            <a:endParaRPr lang="en-US" sz="800" dirty="0"/>
          </a:p>
        </p:txBody>
      </p:sp>
      <p:sp>
        <p:nvSpPr>
          <p:cNvPr id="43" name="Shape 41"/>
          <p:cNvSpPr/>
          <p:nvPr/>
        </p:nvSpPr>
        <p:spPr>
          <a:xfrm>
            <a:off x="457200" y="4133088"/>
            <a:ext cx="8229600" cy="333756"/>
          </a:xfrm>
          <a:prstGeom prst="rect">
            <a:avLst/>
          </a:prstGeom>
          <a:solidFill>
            <a:srgbClr val="F2F5F8"/>
          </a:solidFill>
          <a:ln w="12700">
            <a:solidFill>
              <a:srgbClr val="F2F5F8"/>
            </a:solidFill>
            <a:prstDash val="solid"/>
          </a:ln>
        </p:spPr>
      </p:sp>
      <p:sp>
        <p:nvSpPr>
          <p:cNvPr id="44" name="Shape 42"/>
          <p:cNvSpPr/>
          <p:nvPr/>
        </p:nvSpPr>
        <p:spPr>
          <a:xfrm>
            <a:off x="548640" y="4197096"/>
            <a:ext cx="594360" cy="201168"/>
          </a:xfrm>
          <a:prstGeom prst="roundRect">
            <a:avLst>
              <a:gd name="adj" fmla="val 50000"/>
            </a:avLst>
          </a:prstGeom>
          <a:solidFill>
            <a:srgbClr val="E8912D"/>
          </a:solidFill>
          <a:ln w="12700">
            <a:solidFill>
              <a:srgbClr val="E8912D"/>
            </a:solidFill>
            <a:prstDash val="solid"/>
          </a:ln>
        </p:spPr>
      </p:sp>
      <p:sp>
        <p:nvSpPr>
          <p:cNvPr id="45" name="Text 43"/>
          <p:cNvSpPr txBox="1"/>
          <p:nvPr/>
        </p:nvSpPr>
        <p:spPr>
          <a:xfrm>
            <a:off x="548640" y="4197096"/>
            <a:ext cx="594360"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MED</a:t>
            </a:r>
            <a:endParaRPr lang="en-US" sz="700" dirty="0"/>
          </a:p>
        </p:txBody>
      </p:sp>
      <p:sp>
        <p:nvSpPr>
          <p:cNvPr id="46" name="Text 44"/>
          <p:cNvSpPr txBox="1"/>
          <p:nvPr/>
        </p:nvSpPr>
        <p:spPr>
          <a:xfrm>
            <a:off x="1417320" y="4133088"/>
            <a:ext cx="4023360" cy="333756"/>
          </a:xfrm>
          <a:prstGeom prst="rect">
            <a:avLst/>
          </a:prstGeom>
          <a:noFill/>
          <a:ln/>
        </p:spPr>
        <p:txBody>
          <a:bodyPr wrap="square" lIns="0" tIns="0" rIns="0" bIns="0" rtlCol="0" anchor="ctr"/>
          <a:lstStyle/>
          <a:p>
            <a:pPr indent="0" marL="0">
              <a:buNone/>
            </a:pPr>
            <a:r>
              <a:rPr lang="en-US" sz="1000" dirty="0">
                <a:solidFill>
                  <a:srgbClr val="1A2B3C"/>
                </a:solidFill>
                <a:latin typeface="Calibri" pitchFamily="34" charset="0"/>
                <a:ea typeface="Calibri" pitchFamily="34" charset="-122"/>
                <a:cs typeface="Calibri" pitchFamily="34" charset="-120"/>
              </a:rPr>
              <a:t>9. Core cer_intent package has no tests</a:t>
            </a:r>
            <a:endParaRPr lang="en-US" sz="1000" dirty="0"/>
          </a:p>
        </p:txBody>
      </p:sp>
      <p:sp>
        <p:nvSpPr>
          <p:cNvPr id="47" name="Text 45"/>
          <p:cNvSpPr txBox="1"/>
          <p:nvPr/>
        </p:nvSpPr>
        <p:spPr>
          <a:xfrm>
            <a:off x="5486400" y="4133088"/>
            <a:ext cx="3154680" cy="333756"/>
          </a:xfrm>
          <a:prstGeom prst="rect">
            <a:avLst/>
          </a:prstGeom>
          <a:noFill/>
          <a:ln/>
        </p:spPr>
        <p:txBody>
          <a:bodyPr wrap="square" lIns="0" tIns="0" rIns="0" bIns="0" rtlCol="0" anchor="ctr"/>
          <a:lstStyle/>
          <a:p>
            <a:pPr indent="0" marL="0">
              <a:buNone/>
            </a:pPr>
            <a:r>
              <a:rPr lang="en-US" sz="800" dirty="0">
                <a:solidFill>
                  <a:srgbClr val="5A6B7D"/>
                </a:solidFill>
                <a:latin typeface="Courier New" pitchFamily="34" charset="0"/>
                <a:ea typeface="Courier New" pitchFamily="34" charset="-122"/>
                <a:cs typeface="Courier New" pitchFamily="34" charset="-120"/>
              </a:rPr>
              <a:t>cer_intent/</a:t>
            </a:r>
            <a:endParaRPr lang="en-US" sz="800" dirty="0"/>
          </a:p>
        </p:txBody>
      </p:sp>
      <p:sp>
        <p:nvSpPr>
          <p:cNvPr id="48" name="Shape 46"/>
          <p:cNvSpPr/>
          <p:nvPr/>
        </p:nvSpPr>
        <p:spPr>
          <a:xfrm>
            <a:off x="548640" y="4530852"/>
            <a:ext cx="594360" cy="201168"/>
          </a:xfrm>
          <a:prstGeom prst="roundRect">
            <a:avLst>
              <a:gd name="adj" fmla="val 50000"/>
            </a:avLst>
          </a:prstGeom>
          <a:solidFill>
            <a:srgbClr val="9AA7B4"/>
          </a:solidFill>
          <a:ln w="12700">
            <a:solidFill>
              <a:srgbClr val="9AA7B4"/>
            </a:solidFill>
            <a:prstDash val="solid"/>
          </a:ln>
        </p:spPr>
      </p:sp>
      <p:sp>
        <p:nvSpPr>
          <p:cNvPr id="49" name="Text 47"/>
          <p:cNvSpPr txBox="1"/>
          <p:nvPr/>
        </p:nvSpPr>
        <p:spPr>
          <a:xfrm>
            <a:off x="548640" y="4530852"/>
            <a:ext cx="594360"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LOW</a:t>
            </a:r>
            <a:endParaRPr lang="en-US" sz="700" dirty="0"/>
          </a:p>
        </p:txBody>
      </p:sp>
      <p:sp>
        <p:nvSpPr>
          <p:cNvPr id="50" name="Text 48"/>
          <p:cNvSpPr txBox="1"/>
          <p:nvPr/>
        </p:nvSpPr>
        <p:spPr>
          <a:xfrm>
            <a:off x="1417320" y="4466844"/>
            <a:ext cx="4023360" cy="333756"/>
          </a:xfrm>
          <a:prstGeom prst="rect">
            <a:avLst/>
          </a:prstGeom>
          <a:noFill/>
          <a:ln/>
        </p:spPr>
        <p:txBody>
          <a:bodyPr wrap="square" lIns="0" tIns="0" rIns="0" bIns="0" rtlCol="0" anchor="ctr"/>
          <a:lstStyle/>
          <a:p>
            <a:pPr indent="0" marL="0">
              <a:buNone/>
            </a:pPr>
            <a:r>
              <a:rPr lang="en-US" sz="1000" dirty="0">
                <a:solidFill>
                  <a:srgbClr val="1A2B3C"/>
                </a:solidFill>
                <a:latin typeface="Calibri" pitchFamily="34" charset="0"/>
                <a:ea typeface="Calibri" pitchFamily="34" charset="-122"/>
                <a:cs typeface="Calibri" pitchFamily="34" charset="-120"/>
              </a:rPr>
              <a:t>10. Duplicated modules, Windows paths, fixed host</a:t>
            </a:r>
            <a:endParaRPr lang="en-US" sz="1000" dirty="0"/>
          </a:p>
        </p:txBody>
      </p:sp>
      <p:sp>
        <p:nvSpPr>
          <p:cNvPr id="51" name="Text 49"/>
          <p:cNvSpPr txBox="1"/>
          <p:nvPr/>
        </p:nvSpPr>
        <p:spPr>
          <a:xfrm>
            <a:off x="5486400" y="4466844"/>
            <a:ext cx="3154680" cy="333756"/>
          </a:xfrm>
          <a:prstGeom prst="rect">
            <a:avLst/>
          </a:prstGeom>
          <a:noFill/>
          <a:ln/>
        </p:spPr>
        <p:txBody>
          <a:bodyPr wrap="square" lIns="0" tIns="0" rIns="0" bIns="0" rtlCol="0" anchor="ctr"/>
          <a:lstStyle/>
          <a:p>
            <a:pPr indent="0" marL="0">
              <a:buNone/>
            </a:pPr>
            <a:r>
              <a:rPr lang="en-US" sz="800" dirty="0">
                <a:solidFill>
                  <a:srgbClr val="5A6B7D"/>
                </a:solidFill>
                <a:latin typeface="Courier New" pitchFamily="34" charset="0"/>
                <a:ea typeface="Courier New" pitchFamily="34" charset="-122"/>
                <a:cs typeface="Courier New" pitchFamily="34" charset="-120"/>
              </a:rPr>
              <a:t>root · src/ · tfs_unity/</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000" b="1" spc="200" kern="0" dirty="0">
                <a:solidFill>
                  <a:srgbClr val="0FA3B1"/>
                </a:solidFill>
                <a:latin typeface="Arial" pitchFamily="34" charset="0"/>
                <a:ea typeface="Arial" pitchFamily="34" charset="-122"/>
                <a:cs typeface="Arial" pitchFamily="34" charset="-120"/>
              </a:rPr>
              <a:t>ROADMAP</a:t>
            </a:r>
            <a:endParaRPr lang="en-US" sz="10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400" b="1" dirty="0">
                <a:solidFill>
                  <a:srgbClr val="0B1D33"/>
                </a:solidFill>
                <a:latin typeface="Arial" pitchFamily="34" charset="0"/>
                <a:ea typeface="Arial" pitchFamily="34" charset="-122"/>
                <a:cs typeface="Arial" pitchFamily="34" charset="-120"/>
              </a:rPr>
              <a:t>Three phases from demo to working twin</a:t>
            </a:r>
            <a:endParaRPr lang="en-US" sz="2400" dirty="0"/>
          </a:p>
        </p:txBody>
      </p:sp>
      <p:sp>
        <p:nvSpPr>
          <p:cNvPr id="4" name="Shape 2"/>
          <p:cNvSpPr/>
          <p:nvPr/>
        </p:nvSpPr>
        <p:spPr>
          <a:xfrm>
            <a:off x="457200" y="1188720"/>
            <a:ext cx="2651760" cy="3611880"/>
          </a:xfrm>
          <a:prstGeom prst="roundRect">
            <a:avLst>
              <a:gd name="adj" fmla="val 2759"/>
            </a:avLst>
          </a:prstGeom>
          <a:solidFill>
            <a:srgbClr val="F2F5F8"/>
          </a:solidFill>
          <a:ln w="12700">
            <a:solidFill>
              <a:srgbClr val="F2F5F8"/>
            </a:solidFill>
            <a:prstDash val="solid"/>
          </a:ln>
        </p:spPr>
      </p:sp>
      <p:sp>
        <p:nvSpPr>
          <p:cNvPr id="5" name="Shape 3"/>
          <p:cNvSpPr/>
          <p:nvPr/>
        </p:nvSpPr>
        <p:spPr>
          <a:xfrm>
            <a:off x="621792" y="1335024"/>
            <a:ext cx="420624" cy="420624"/>
          </a:xfrm>
          <a:prstGeom prst="ellipse">
            <a:avLst/>
          </a:prstGeom>
          <a:solidFill>
            <a:srgbClr val="D64545"/>
          </a:solidFill>
          <a:ln w="12700">
            <a:solidFill>
              <a:srgbClr val="D64545"/>
            </a:solidFill>
            <a:prstDash val="solid"/>
          </a:ln>
        </p:spPr>
      </p:sp>
      <p:pic>
        <p:nvPicPr>
          <p:cNvPr id="6" name="Image 0" descr="preencoded.png">    </p:cNvPr>
          <p:cNvPicPr>
            <a:picLocks noChangeAspect="1"/>
          </p:cNvPicPr>
          <p:nvPr/>
        </p:nvPicPr>
        <p:blipFill>
          <a:blip r:embed="rId1"/>
          <a:stretch>
            <a:fillRect/>
          </a:stretch>
        </p:blipFill>
        <p:spPr>
          <a:xfrm>
            <a:off x="726948" y="1440180"/>
            <a:ext cx="210312" cy="210312"/>
          </a:xfrm>
          <a:prstGeom prst="rect">
            <a:avLst/>
          </a:prstGeom>
        </p:spPr>
      </p:pic>
      <p:sp>
        <p:nvSpPr>
          <p:cNvPr id="7" name="Text 4"/>
          <p:cNvSpPr txBox="1"/>
          <p:nvPr/>
        </p:nvSpPr>
        <p:spPr>
          <a:xfrm>
            <a:off x="1152144" y="1316736"/>
            <a:ext cx="1874520" cy="256032"/>
          </a:xfrm>
          <a:prstGeom prst="rect">
            <a:avLst/>
          </a:prstGeom>
          <a:noFill/>
          <a:ln/>
        </p:spPr>
        <p:txBody>
          <a:bodyPr wrap="square" lIns="0" tIns="0" rIns="0" bIns="0" rtlCol="0" anchor="t"/>
          <a:lstStyle/>
          <a:p>
            <a:pPr indent="0" marL="0">
              <a:buNone/>
            </a:pPr>
            <a:r>
              <a:rPr lang="en-US" sz="1200" b="1" dirty="0">
                <a:solidFill>
                  <a:srgbClr val="0B1D33"/>
                </a:solidFill>
                <a:latin typeface="Arial" pitchFamily="34" charset="0"/>
                <a:ea typeface="Arial" pitchFamily="34" charset="-122"/>
                <a:cs typeface="Arial" pitchFamily="34" charset="-120"/>
              </a:rPr>
              <a:t>1  Make it truthful</a:t>
            </a:r>
            <a:endParaRPr lang="en-US" sz="1200" dirty="0"/>
          </a:p>
        </p:txBody>
      </p:sp>
      <p:sp>
        <p:nvSpPr>
          <p:cNvPr id="8" name="Text 5"/>
          <p:cNvSpPr txBox="1"/>
          <p:nvPr/>
        </p:nvSpPr>
        <p:spPr>
          <a:xfrm>
            <a:off x="1152144" y="1572768"/>
            <a:ext cx="1874520" cy="201168"/>
          </a:xfrm>
          <a:prstGeom prst="rect">
            <a:avLst/>
          </a:prstGeom>
          <a:noFill/>
          <a:ln/>
        </p:spPr>
        <p:txBody>
          <a:bodyPr wrap="square" lIns="0" tIns="0" rIns="0" bIns="0" rtlCol="0" anchor="t"/>
          <a:lstStyle/>
          <a:p>
            <a:pPr indent="0" marL="0">
              <a:buNone/>
            </a:pPr>
            <a:r>
              <a:rPr lang="en-US" sz="900" b="1" dirty="0">
                <a:solidFill>
                  <a:srgbClr val="D64545"/>
                </a:solidFill>
                <a:latin typeface="Calibri" pitchFamily="34" charset="0"/>
                <a:ea typeface="Calibri" pitchFamily="34" charset="-122"/>
                <a:cs typeface="Calibri" pitchFamily="34" charset="-120"/>
              </a:rPr>
              <a:t>weeks</a:t>
            </a:r>
            <a:endParaRPr lang="en-US" sz="900" dirty="0"/>
          </a:p>
        </p:txBody>
      </p:sp>
      <p:sp>
        <p:nvSpPr>
          <p:cNvPr id="9" name="Shape 6"/>
          <p:cNvSpPr/>
          <p:nvPr/>
        </p:nvSpPr>
        <p:spPr>
          <a:xfrm>
            <a:off x="676656" y="2057400"/>
            <a:ext cx="91440" cy="91440"/>
          </a:xfrm>
          <a:prstGeom prst="ellipse">
            <a:avLst/>
          </a:prstGeom>
          <a:solidFill>
            <a:srgbClr val="D64545"/>
          </a:solidFill>
          <a:ln w="12700">
            <a:solidFill>
              <a:srgbClr val="D64545"/>
            </a:solidFill>
            <a:prstDash val="solid"/>
          </a:ln>
        </p:spPr>
      </p:sp>
      <p:sp>
        <p:nvSpPr>
          <p:cNvPr id="10" name="Text 7"/>
          <p:cNvSpPr txBox="1"/>
          <p:nvPr/>
        </p:nvSpPr>
        <p:spPr>
          <a:xfrm>
            <a:off x="868680" y="1965960"/>
            <a:ext cx="2148840" cy="274320"/>
          </a:xfrm>
          <a:prstGeom prst="rect">
            <a:avLst/>
          </a:prstGeom>
          <a:noFill/>
          <a:ln/>
        </p:spPr>
        <p:txBody>
          <a:bodyPr wrap="square" lIns="0" tIns="0" rIns="0" bIns="0" rtlCol="0" anchor="ctr"/>
          <a:lstStyle/>
          <a:p>
            <a:pPr indent="0" marL="0">
              <a:buNone/>
            </a:pPr>
            <a:r>
              <a:rPr lang="en-US" sz="1000" dirty="0">
                <a:solidFill>
                  <a:srgbClr val="1A2B3C"/>
                </a:solidFill>
                <a:latin typeface="Calibri" pitchFamily="34" charset="0"/>
                <a:ea typeface="Calibri" pitchFamily="34" charset="-122"/>
                <a:cs typeface="Calibri" pitchFamily="34" charset="-120"/>
              </a:rPr>
              <a:t>Label mock and fallback output</a:t>
            </a:r>
            <a:endParaRPr lang="en-US" sz="1000" dirty="0"/>
          </a:p>
        </p:txBody>
      </p:sp>
      <p:sp>
        <p:nvSpPr>
          <p:cNvPr id="11" name="Shape 8"/>
          <p:cNvSpPr/>
          <p:nvPr/>
        </p:nvSpPr>
        <p:spPr>
          <a:xfrm>
            <a:off x="676656" y="2395728"/>
            <a:ext cx="91440" cy="91440"/>
          </a:xfrm>
          <a:prstGeom prst="ellipse">
            <a:avLst/>
          </a:prstGeom>
          <a:solidFill>
            <a:srgbClr val="D64545"/>
          </a:solidFill>
          <a:ln w="12700">
            <a:solidFill>
              <a:srgbClr val="D64545"/>
            </a:solidFill>
            <a:prstDash val="solid"/>
          </a:ln>
        </p:spPr>
      </p:sp>
      <p:sp>
        <p:nvSpPr>
          <p:cNvPr id="12" name="Text 9"/>
          <p:cNvSpPr txBox="1"/>
          <p:nvPr/>
        </p:nvSpPr>
        <p:spPr>
          <a:xfrm>
            <a:off x="868680" y="2304288"/>
            <a:ext cx="2148840" cy="274320"/>
          </a:xfrm>
          <a:prstGeom prst="rect">
            <a:avLst/>
          </a:prstGeom>
          <a:noFill/>
          <a:ln/>
        </p:spPr>
        <p:txBody>
          <a:bodyPr wrap="square" lIns="0" tIns="0" rIns="0" bIns="0" rtlCol="0" anchor="ctr"/>
          <a:lstStyle/>
          <a:p>
            <a:pPr indent="0" marL="0">
              <a:buNone/>
            </a:pPr>
            <a:r>
              <a:rPr lang="en-US" sz="1000" dirty="0">
                <a:solidFill>
                  <a:srgbClr val="1A2B3C"/>
                </a:solidFill>
                <a:latin typeface="Calibri" pitchFamily="34" charset="0"/>
                <a:ea typeface="Calibri" pitchFamily="34" charset="-122"/>
                <a:cs typeface="Calibri" pitchFamily="34" charset="-120"/>
              </a:rPr>
              <a:t>Propagate TFS and driver errors</a:t>
            </a:r>
            <a:endParaRPr lang="en-US" sz="1000" dirty="0"/>
          </a:p>
        </p:txBody>
      </p:sp>
      <p:sp>
        <p:nvSpPr>
          <p:cNvPr id="13" name="Shape 10"/>
          <p:cNvSpPr/>
          <p:nvPr/>
        </p:nvSpPr>
        <p:spPr>
          <a:xfrm>
            <a:off x="676656" y="2734056"/>
            <a:ext cx="91440" cy="91440"/>
          </a:xfrm>
          <a:prstGeom prst="ellipse">
            <a:avLst/>
          </a:prstGeom>
          <a:solidFill>
            <a:srgbClr val="D64545"/>
          </a:solidFill>
          <a:ln w="12700">
            <a:solidFill>
              <a:srgbClr val="D64545"/>
            </a:solidFill>
            <a:prstDash val="solid"/>
          </a:ln>
        </p:spPr>
      </p:sp>
      <p:sp>
        <p:nvSpPr>
          <p:cNvPr id="14" name="Text 11"/>
          <p:cNvSpPr txBox="1"/>
          <p:nvPr/>
        </p:nvSpPr>
        <p:spPr>
          <a:xfrm>
            <a:off x="868680" y="2642616"/>
            <a:ext cx="2148840" cy="274320"/>
          </a:xfrm>
          <a:prstGeom prst="rect">
            <a:avLst/>
          </a:prstGeom>
          <a:noFill/>
          <a:ln/>
        </p:spPr>
        <p:txBody>
          <a:bodyPr wrap="square" lIns="0" tIns="0" rIns="0" bIns="0" rtlCol="0" anchor="ctr"/>
          <a:lstStyle/>
          <a:p>
            <a:pPr indent="0" marL="0">
              <a:buNone/>
            </a:pPr>
            <a:r>
              <a:rPr lang="en-US" sz="1000" dirty="0">
                <a:solidFill>
                  <a:srgbClr val="1A2B3C"/>
                </a:solidFill>
                <a:latin typeface="Calibri" pitchFamily="34" charset="0"/>
                <a:ea typeface="Calibri" pitchFamily="34" charset="-122"/>
                <a:cs typeface="Calibri" pitchFamily="34" charset="-120"/>
              </a:rPr>
              <a:t>One key contract: intent ↔ driver</a:t>
            </a:r>
            <a:endParaRPr lang="en-US" sz="1000" dirty="0"/>
          </a:p>
        </p:txBody>
      </p:sp>
      <p:sp>
        <p:nvSpPr>
          <p:cNvPr id="15" name="Shape 12"/>
          <p:cNvSpPr/>
          <p:nvPr/>
        </p:nvSpPr>
        <p:spPr>
          <a:xfrm>
            <a:off x="676656" y="3072384"/>
            <a:ext cx="91440" cy="91440"/>
          </a:xfrm>
          <a:prstGeom prst="ellipse">
            <a:avLst/>
          </a:prstGeom>
          <a:solidFill>
            <a:srgbClr val="D64545"/>
          </a:solidFill>
          <a:ln w="12700">
            <a:solidFill>
              <a:srgbClr val="D64545"/>
            </a:solidFill>
            <a:prstDash val="solid"/>
          </a:ln>
        </p:spPr>
      </p:sp>
      <p:sp>
        <p:nvSpPr>
          <p:cNvPr id="16" name="Text 13"/>
          <p:cNvSpPr txBox="1"/>
          <p:nvPr/>
        </p:nvSpPr>
        <p:spPr>
          <a:xfrm>
            <a:off x="868680" y="2980944"/>
            <a:ext cx="2148840" cy="274320"/>
          </a:xfrm>
          <a:prstGeom prst="rect">
            <a:avLst/>
          </a:prstGeom>
          <a:noFill/>
          <a:ln/>
        </p:spPr>
        <p:txBody>
          <a:bodyPr wrap="square" lIns="0" tIns="0" rIns="0" bIns="0" rtlCol="0" anchor="ctr"/>
          <a:lstStyle/>
          <a:p>
            <a:pPr indent="0" marL="0">
              <a:buNone/>
            </a:pPr>
            <a:r>
              <a:rPr lang="en-US" sz="1000" dirty="0">
                <a:solidFill>
                  <a:srgbClr val="1A2B3C"/>
                </a:solidFill>
                <a:latin typeface="Calibri" pitchFamily="34" charset="0"/>
                <a:ea typeface="Calibri" pitchFamily="34" charset="-122"/>
                <a:cs typeface="Calibri" pitchFamily="34" charset="-120"/>
              </a:rPr>
              <a:t>Live device read-back</a:t>
            </a:r>
            <a:endParaRPr lang="en-US" sz="1000" dirty="0"/>
          </a:p>
        </p:txBody>
      </p:sp>
      <p:sp>
        <p:nvSpPr>
          <p:cNvPr id="17" name="Shape 14"/>
          <p:cNvSpPr/>
          <p:nvPr/>
        </p:nvSpPr>
        <p:spPr>
          <a:xfrm>
            <a:off x="676656" y="3410712"/>
            <a:ext cx="91440" cy="91440"/>
          </a:xfrm>
          <a:prstGeom prst="ellipse">
            <a:avLst/>
          </a:prstGeom>
          <a:solidFill>
            <a:srgbClr val="D64545"/>
          </a:solidFill>
          <a:ln w="12700">
            <a:solidFill>
              <a:srgbClr val="D64545"/>
            </a:solidFill>
            <a:prstDash val="solid"/>
          </a:ln>
        </p:spPr>
      </p:sp>
      <p:sp>
        <p:nvSpPr>
          <p:cNvPr id="18" name="Text 15"/>
          <p:cNvSpPr txBox="1"/>
          <p:nvPr/>
        </p:nvSpPr>
        <p:spPr>
          <a:xfrm>
            <a:off x="868680" y="3319272"/>
            <a:ext cx="2148840" cy="274320"/>
          </a:xfrm>
          <a:prstGeom prst="rect">
            <a:avLst/>
          </a:prstGeom>
          <a:noFill/>
          <a:ln/>
        </p:spPr>
        <p:txBody>
          <a:bodyPr wrap="square" lIns="0" tIns="0" rIns="0" bIns="0" rtlCol="0" anchor="ctr"/>
          <a:lstStyle/>
          <a:p>
            <a:pPr indent="0" marL="0">
              <a:buNone/>
            </a:pPr>
            <a:r>
              <a:rPr lang="en-US" sz="1000" dirty="0">
                <a:solidFill>
                  <a:srgbClr val="1A2B3C"/>
                </a:solidFill>
                <a:latin typeface="Calibri" pitchFamily="34" charset="0"/>
                <a:ea typeface="Calibri" pitchFamily="34" charset="-122"/>
                <a:cs typeface="Calibri" pitchFamily="34" charset="-120"/>
              </a:rPr>
              <a:t>Secrets out of repos; TLS on</a:t>
            </a:r>
            <a:endParaRPr lang="en-US" sz="1000" dirty="0"/>
          </a:p>
        </p:txBody>
      </p:sp>
      <p:sp>
        <p:nvSpPr>
          <p:cNvPr id="19" name="Shape 16"/>
          <p:cNvSpPr/>
          <p:nvPr/>
        </p:nvSpPr>
        <p:spPr>
          <a:xfrm>
            <a:off x="676656" y="3749040"/>
            <a:ext cx="91440" cy="91440"/>
          </a:xfrm>
          <a:prstGeom prst="ellipse">
            <a:avLst/>
          </a:prstGeom>
          <a:solidFill>
            <a:srgbClr val="D64545"/>
          </a:solidFill>
          <a:ln w="12700">
            <a:solidFill>
              <a:srgbClr val="D64545"/>
            </a:solidFill>
            <a:prstDash val="solid"/>
          </a:ln>
        </p:spPr>
      </p:sp>
      <p:sp>
        <p:nvSpPr>
          <p:cNvPr id="20" name="Text 17"/>
          <p:cNvSpPr txBox="1"/>
          <p:nvPr/>
        </p:nvSpPr>
        <p:spPr>
          <a:xfrm>
            <a:off x="868680" y="3657600"/>
            <a:ext cx="2148840" cy="274320"/>
          </a:xfrm>
          <a:prstGeom prst="rect">
            <a:avLst/>
          </a:prstGeom>
          <a:noFill/>
          <a:ln/>
        </p:spPr>
        <p:txBody>
          <a:bodyPr wrap="square" lIns="0" tIns="0" rIns="0" bIns="0" rtlCol="0" anchor="ctr"/>
          <a:lstStyle/>
          <a:p>
            <a:pPr indent="0" marL="0">
              <a:buNone/>
            </a:pPr>
            <a:r>
              <a:rPr lang="en-US" sz="1000" dirty="0">
                <a:solidFill>
                  <a:srgbClr val="1A2B3C"/>
                </a:solidFill>
                <a:latin typeface="Calibri" pitchFamily="34" charset="0"/>
                <a:ea typeface="Calibri" pitchFamily="34" charset="-122"/>
                <a:cs typeface="Calibri" pitchFamily="34" charset="-120"/>
              </a:rPr>
              <a:t>Tests for cer_intent</a:t>
            </a:r>
            <a:endParaRPr lang="en-US" sz="1000" dirty="0"/>
          </a:p>
        </p:txBody>
      </p:sp>
      <p:sp>
        <p:nvSpPr>
          <p:cNvPr id="21" name="Shape 18"/>
          <p:cNvSpPr/>
          <p:nvPr/>
        </p:nvSpPr>
        <p:spPr>
          <a:xfrm>
            <a:off x="594360" y="4096512"/>
            <a:ext cx="2377440" cy="548640"/>
          </a:xfrm>
          <a:prstGeom prst="roundRect">
            <a:avLst>
              <a:gd name="adj" fmla="val 10000"/>
            </a:avLst>
          </a:prstGeom>
          <a:solidFill>
            <a:srgbClr val="FFFFFF"/>
          </a:solidFill>
          <a:ln w="12700">
            <a:solidFill>
              <a:srgbClr val="FFFFFF"/>
            </a:solidFill>
            <a:prstDash val="solid"/>
          </a:ln>
        </p:spPr>
      </p:sp>
      <p:sp>
        <p:nvSpPr>
          <p:cNvPr id="22" name="Text 19"/>
          <p:cNvSpPr txBox="1"/>
          <p:nvPr/>
        </p:nvSpPr>
        <p:spPr>
          <a:xfrm>
            <a:off x="713232" y="4096512"/>
            <a:ext cx="2194560" cy="548640"/>
          </a:xfrm>
          <a:prstGeom prst="rect">
            <a:avLst/>
          </a:prstGeom>
          <a:noFill/>
          <a:ln/>
        </p:spPr>
        <p:txBody>
          <a:bodyPr wrap="square" lIns="0" tIns="0" rIns="0" bIns="0" rtlCol="0" anchor="ctr"/>
          <a:lstStyle/>
          <a:p>
            <a:pPr indent="0" marL="0">
              <a:buNone/>
            </a:pPr>
            <a:r>
              <a:rPr lang="en-US" sz="950" b="1" dirty="0">
                <a:solidFill>
                  <a:srgbClr val="D64545"/>
                </a:solidFill>
                <a:latin typeface="Calibri" pitchFamily="34" charset="0"/>
                <a:ea typeface="Calibri" pitchFamily="34" charset="-122"/>
                <a:cs typeface="Calibri" pitchFamily="34" charset="-120"/>
              </a:rPr>
              <a:t>Exit: every number on screen is real or labelled</a:t>
            </a:r>
            <a:endParaRPr lang="en-US" sz="950" dirty="0"/>
          </a:p>
        </p:txBody>
      </p:sp>
      <p:sp>
        <p:nvSpPr>
          <p:cNvPr id="23" name="Shape 20"/>
          <p:cNvSpPr/>
          <p:nvPr/>
        </p:nvSpPr>
        <p:spPr>
          <a:xfrm>
            <a:off x="3246120" y="1188720"/>
            <a:ext cx="2651760" cy="3611880"/>
          </a:xfrm>
          <a:prstGeom prst="roundRect">
            <a:avLst>
              <a:gd name="adj" fmla="val 2759"/>
            </a:avLst>
          </a:prstGeom>
          <a:solidFill>
            <a:srgbClr val="F2F5F8"/>
          </a:solidFill>
          <a:ln w="12700">
            <a:solidFill>
              <a:srgbClr val="F2F5F8"/>
            </a:solidFill>
            <a:prstDash val="solid"/>
          </a:ln>
        </p:spPr>
      </p:sp>
      <p:sp>
        <p:nvSpPr>
          <p:cNvPr id="24" name="Shape 21"/>
          <p:cNvSpPr/>
          <p:nvPr/>
        </p:nvSpPr>
        <p:spPr>
          <a:xfrm>
            <a:off x="3410712" y="1335024"/>
            <a:ext cx="420624" cy="420624"/>
          </a:xfrm>
          <a:prstGeom prst="ellipse">
            <a:avLst/>
          </a:prstGeom>
          <a:solidFill>
            <a:srgbClr val="E8912D"/>
          </a:solidFill>
          <a:ln w="12700">
            <a:solidFill>
              <a:srgbClr val="E8912D"/>
            </a:solidFill>
            <a:prstDash val="solid"/>
          </a:ln>
        </p:spPr>
      </p:sp>
      <p:pic>
        <p:nvPicPr>
          <p:cNvPr id="25" name="Image 1" descr="preencoded.png">    </p:cNvPr>
          <p:cNvPicPr>
            <a:picLocks noChangeAspect="1"/>
          </p:cNvPicPr>
          <p:nvPr/>
        </p:nvPicPr>
        <p:blipFill>
          <a:blip r:embed="rId2"/>
          <a:stretch>
            <a:fillRect/>
          </a:stretch>
        </p:blipFill>
        <p:spPr>
          <a:xfrm>
            <a:off x="3515868" y="1440180"/>
            <a:ext cx="210312" cy="210312"/>
          </a:xfrm>
          <a:prstGeom prst="rect">
            <a:avLst/>
          </a:prstGeom>
        </p:spPr>
      </p:pic>
      <p:sp>
        <p:nvSpPr>
          <p:cNvPr id="26" name="Text 22"/>
          <p:cNvSpPr txBox="1"/>
          <p:nvPr/>
        </p:nvSpPr>
        <p:spPr>
          <a:xfrm>
            <a:off x="3941064" y="1316736"/>
            <a:ext cx="1874520" cy="256032"/>
          </a:xfrm>
          <a:prstGeom prst="rect">
            <a:avLst/>
          </a:prstGeom>
          <a:noFill/>
          <a:ln/>
        </p:spPr>
        <p:txBody>
          <a:bodyPr wrap="square" lIns="0" tIns="0" rIns="0" bIns="0" rtlCol="0" anchor="t"/>
          <a:lstStyle/>
          <a:p>
            <a:pPr indent="0" marL="0">
              <a:buNone/>
            </a:pPr>
            <a:r>
              <a:rPr lang="en-US" sz="1200" b="1" dirty="0">
                <a:solidFill>
                  <a:srgbClr val="0B1D33"/>
                </a:solidFill>
                <a:latin typeface="Arial" pitchFamily="34" charset="0"/>
                <a:ea typeface="Arial" pitchFamily="34" charset="-122"/>
                <a:cs typeface="Arial" pitchFamily="34" charset="-120"/>
              </a:rPr>
              <a:t>2  Make the loop real</a:t>
            </a:r>
            <a:endParaRPr lang="en-US" sz="1200" dirty="0"/>
          </a:p>
        </p:txBody>
      </p:sp>
      <p:sp>
        <p:nvSpPr>
          <p:cNvPr id="27" name="Text 23"/>
          <p:cNvSpPr txBox="1"/>
          <p:nvPr/>
        </p:nvSpPr>
        <p:spPr>
          <a:xfrm>
            <a:off x="3941064" y="1572768"/>
            <a:ext cx="1874520" cy="201168"/>
          </a:xfrm>
          <a:prstGeom prst="rect">
            <a:avLst/>
          </a:prstGeom>
          <a:noFill/>
          <a:ln/>
        </p:spPr>
        <p:txBody>
          <a:bodyPr wrap="square" lIns="0" tIns="0" rIns="0" bIns="0" rtlCol="0" anchor="t"/>
          <a:lstStyle/>
          <a:p>
            <a:pPr indent="0" marL="0">
              <a:buNone/>
            </a:pPr>
            <a:r>
              <a:rPr lang="en-US" sz="900" b="1" dirty="0">
                <a:solidFill>
                  <a:srgbClr val="E8912D"/>
                </a:solidFill>
                <a:latin typeface="Calibri" pitchFamily="34" charset="0"/>
                <a:ea typeface="Calibri" pitchFamily="34" charset="-122"/>
                <a:cs typeface="Calibri" pitchFamily="34" charset="-120"/>
              </a:rPr>
              <a:t>1–2 quarters</a:t>
            </a:r>
            <a:endParaRPr lang="en-US" sz="900" dirty="0"/>
          </a:p>
        </p:txBody>
      </p:sp>
      <p:sp>
        <p:nvSpPr>
          <p:cNvPr id="28" name="Shape 24"/>
          <p:cNvSpPr/>
          <p:nvPr/>
        </p:nvSpPr>
        <p:spPr>
          <a:xfrm>
            <a:off x="3465576" y="2057400"/>
            <a:ext cx="91440" cy="91440"/>
          </a:xfrm>
          <a:prstGeom prst="ellipse">
            <a:avLst/>
          </a:prstGeom>
          <a:solidFill>
            <a:srgbClr val="E8912D"/>
          </a:solidFill>
          <a:ln w="12700">
            <a:solidFill>
              <a:srgbClr val="E8912D"/>
            </a:solidFill>
            <a:prstDash val="solid"/>
          </a:ln>
        </p:spPr>
      </p:sp>
      <p:sp>
        <p:nvSpPr>
          <p:cNvPr id="29" name="Text 25"/>
          <p:cNvSpPr txBox="1"/>
          <p:nvPr/>
        </p:nvSpPr>
        <p:spPr>
          <a:xfrm>
            <a:off x="3657600" y="1965960"/>
            <a:ext cx="2148840" cy="274320"/>
          </a:xfrm>
          <a:prstGeom prst="rect">
            <a:avLst/>
          </a:prstGeom>
          <a:noFill/>
          <a:ln/>
        </p:spPr>
        <p:txBody>
          <a:bodyPr wrap="square" lIns="0" tIns="0" rIns="0" bIns="0" rtlCol="0" anchor="ctr"/>
          <a:lstStyle/>
          <a:p>
            <a:pPr indent="0" marL="0">
              <a:buNone/>
            </a:pPr>
            <a:r>
              <a:rPr lang="en-US" sz="1000" dirty="0">
                <a:solidFill>
                  <a:srgbClr val="1A2B3C"/>
                </a:solidFill>
                <a:latin typeface="Calibri" pitchFamily="34" charset="0"/>
                <a:ea typeface="Calibri" pitchFamily="34" charset="-122"/>
                <a:cs typeface="Calibri" pitchFamily="34" charset="-120"/>
              </a:rPr>
              <a:t>What-if as TS 28.561 NDTJob API</a:t>
            </a:r>
            <a:endParaRPr lang="en-US" sz="1000" dirty="0"/>
          </a:p>
        </p:txBody>
      </p:sp>
      <p:sp>
        <p:nvSpPr>
          <p:cNvPr id="30" name="Shape 26"/>
          <p:cNvSpPr/>
          <p:nvPr/>
        </p:nvSpPr>
        <p:spPr>
          <a:xfrm>
            <a:off x="3465576" y="2395728"/>
            <a:ext cx="91440" cy="91440"/>
          </a:xfrm>
          <a:prstGeom prst="ellipse">
            <a:avLst/>
          </a:prstGeom>
          <a:solidFill>
            <a:srgbClr val="E8912D"/>
          </a:solidFill>
          <a:ln w="12700">
            <a:solidFill>
              <a:srgbClr val="E8912D"/>
            </a:solidFill>
            <a:prstDash val="solid"/>
          </a:ln>
        </p:spPr>
      </p:sp>
      <p:sp>
        <p:nvSpPr>
          <p:cNvPr id="31" name="Text 27"/>
          <p:cNvSpPr txBox="1"/>
          <p:nvPr/>
        </p:nvSpPr>
        <p:spPr>
          <a:xfrm>
            <a:off x="3657600" y="2304288"/>
            <a:ext cx="2148840" cy="274320"/>
          </a:xfrm>
          <a:prstGeom prst="rect">
            <a:avLst/>
          </a:prstGeom>
          <a:noFill/>
          <a:ln/>
        </p:spPr>
        <p:txBody>
          <a:bodyPr wrap="square" lIns="0" tIns="0" rIns="0" bIns="0" rtlCol="0" anchor="ctr"/>
          <a:lstStyle/>
          <a:p>
            <a:pPr indent="0" marL="0">
              <a:buNone/>
            </a:pPr>
            <a:r>
              <a:rPr lang="en-US" sz="1000" dirty="0">
                <a:solidFill>
                  <a:srgbClr val="1A2B3C"/>
                </a:solidFill>
                <a:latin typeface="Calibri" pitchFamily="34" charset="0"/>
                <a:ea typeface="Calibri" pitchFamily="34" charset="-122"/>
                <a:cs typeface="Calibri" pitchFamily="34" charset="-120"/>
              </a:rPr>
              <a:t>Gates computed from ns-3 KPIs</a:t>
            </a:r>
            <a:endParaRPr lang="en-US" sz="1000" dirty="0"/>
          </a:p>
        </p:txBody>
      </p:sp>
      <p:sp>
        <p:nvSpPr>
          <p:cNvPr id="32" name="Shape 28"/>
          <p:cNvSpPr/>
          <p:nvPr/>
        </p:nvSpPr>
        <p:spPr>
          <a:xfrm>
            <a:off x="3465576" y="2734056"/>
            <a:ext cx="91440" cy="91440"/>
          </a:xfrm>
          <a:prstGeom prst="ellipse">
            <a:avLst/>
          </a:prstGeom>
          <a:solidFill>
            <a:srgbClr val="E8912D"/>
          </a:solidFill>
          <a:ln w="12700">
            <a:solidFill>
              <a:srgbClr val="E8912D"/>
            </a:solidFill>
            <a:prstDash val="solid"/>
          </a:ln>
        </p:spPr>
      </p:sp>
      <p:sp>
        <p:nvSpPr>
          <p:cNvPr id="33" name="Text 29"/>
          <p:cNvSpPr txBox="1"/>
          <p:nvPr/>
        </p:nvSpPr>
        <p:spPr>
          <a:xfrm>
            <a:off x="3657600" y="2642616"/>
            <a:ext cx="2148840" cy="274320"/>
          </a:xfrm>
          <a:prstGeom prst="rect">
            <a:avLst/>
          </a:prstGeom>
          <a:noFill/>
          <a:ln/>
        </p:spPr>
        <p:txBody>
          <a:bodyPr wrap="square" lIns="0" tIns="0" rIns="0" bIns="0" rtlCol="0" anchor="ctr"/>
          <a:lstStyle/>
          <a:p>
            <a:pPr indent="0" marL="0">
              <a:buNone/>
            </a:pPr>
            <a:r>
              <a:rPr lang="en-US" sz="1000" dirty="0">
                <a:solidFill>
                  <a:srgbClr val="1A2B3C"/>
                </a:solidFill>
                <a:latin typeface="Calibri" pitchFamily="34" charset="0"/>
                <a:ea typeface="Calibri" pitchFamily="34" charset="-122"/>
                <a:cs typeface="Calibri" pitchFamily="34" charset="-120"/>
              </a:rPr>
              <a:t>Telemetry: YANG-Push → TFS KPI/Kafka</a:t>
            </a:r>
            <a:endParaRPr lang="en-US" sz="1000" dirty="0"/>
          </a:p>
        </p:txBody>
      </p:sp>
      <p:sp>
        <p:nvSpPr>
          <p:cNvPr id="34" name="Shape 30"/>
          <p:cNvSpPr/>
          <p:nvPr/>
        </p:nvSpPr>
        <p:spPr>
          <a:xfrm>
            <a:off x="3465576" y="3072384"/>
            <a:ext cx="91440" cy="91440"/>
          </a:xfrm>
          <a:prstGeom prst="ellipse">
            <a:avLst/>
          </a:prstGeom>
          <a:solidFill>
            <a:srgbClr val="E8912D"/>
          </a:solidFill>
          <a:ln w="12700">
            <a:solidFill>
              <a:srgbClr val="E8912D"/>
            </a:solidFill>
            <a:prstDash val="solid"/>
          </a:ln>
        </p:spPr>
      </p:sp>
      <p:sp>
        <p:nvSpPr>
          <p:cNvPr id="35" name="Text 31"/>
          <p:cNvSpPr txBox="1"/>
          <p:nvPr/>
        </p:nvSpPr>
        <p:spPr>
          <a:xfrm>
            <a:off x="3657600" y="2980944"/>
            <a:ext cx="2148840" cy="274320"/>
          </a:xfrm>
          <a:prstGeom prst="rect">
            <a:avLst/>
          </a:prstGeom>
          <a:noFill/>
          <a:ln/>
        </p:spPr>
        <p:txBody>
          <a:bodyPr wrap="square" lIns="0" tIns="0" rIns="0" bIns="0" rtlCol="0" anchor="ctr"/>
          <a:lstStyle/>
          <a:p>
            <a:pPr indent="0" marL="0">
              <a:buNone/>
            </a:pPr>
            <a:r>
              <a:rPr lang="en-US" sz="1000" dirty="0">
                <a:solidFill>
                  <a:srgbClr val="1A2B3C"/>
                </a:solidFill>
                <a:latin typeface="Calibri" pitchFamily="34" charset="0"/>
                <a:ea typeface="Calibri" pitchFamily="34" charset="-122"/>
                <a:cs typeface="Calibri" pitchFamily="34" charset="-120"/>
              </a:rPr>
              <a:t>Post-commit verify + rollback</a:t>
            </a:r>
            <a:endParaRPr lang="en-US" sz="1000" dirty="0"/>
          </a:p>
        </p:txBody>
      </p:sp>
      <p:sp>
        <p:nvSpPr>
          <p:cNvPr id="36" name="Shape 32"/>
          <p:cNvSpPr/>
          <p:nvPr/>
        </p:nvSpPr>
        <p:spPr>
          <a:xfrm>
            <a:off x="3465576" y="3410712"/>
            <a:ext cx="91440" cy="91440"/>
          </a:xfrm>
          <a:prstGeom prst="ellipse">
            <a:avLst/>
          </a:prstGeom>
          <a:solidFill>
            <a:srgbClr val="E8912D"/>
          </a:solidFill>
          <a:ln w="12700">
            <a:solidFill>
              <a:srgbClr val="E8912D"/>
            </a:solidFill>
            <a:prstDash val="solid"/>
          </a:ln>
        </p:spPr>
      </p:sp>
      <p:sp>
        <p:nvSpPr>
          <p:cNvPr id="37" name="Text 33"/>
          <p:cNvSpPr txBox="1"/>
          <p:nvPr/>
        </p:nvSpPr>
        <p:spPr>
          <a:xfrm>
            <a:off x="3657600" y="3319272"/>
            <a:ext cx="2148840" cy="274320"/>
          </a:xfrm>
          <a:prstGeom prst="rect">
            <a:avLst/>
          </a:prstGeom>
          <a:noFill/>
          <a:ln/>
        </p:spPr>
        <p:txBody>
          <a:bodyPr wrap="square" lIns="0" tIns="0" rIns="0" bIns="0" rtlCol="0" anchor="ctr"/>
          <a:lstStyle/>
          <a:p>
            <a:pPr indent="0" marL="0">
              <a:buNone/>
            </a:pPr>
            <a:r>
              <a:rPr lang="en-US" sz="1000" dirty="0">
                <a:solidFill>
                  <a:srgbClr val="1A2B3C"/>
                </a:solidFill>
                <a:latin typeface="Calibri" pitchFamily="34" charset="0"/>
                <a:ea typeface="Calibri" pitchFamily="34" charset="-122"/>
                <a:cs typeface="Calibri" pitchFamily="34" charset="-120"/>
              </a:rPr>
              <a:t>Pluggable parsers: Gemini · Qwen · Claude</a:t>
            </a:r>
            <a:endParaRPr lang="en-US" sz="1000" dirty="0"/>
          </a:p>
        </p:txBody>
      </p:sp>
      <p:sp>
        <p:nvSpPr>
          <p:cNvPr id="38" name="Shape 34"/>
          <p:cNvSpPr/>
          <p:nvPr/>
        </p:nvSpPr>
        <p:spPr>
          <a:xfrm>
            <a:off x="3465576" y="3749040"/>
            <a:ext cx="91440" cy="91440"/>
          </a:xfrm>
          <a:prstGeom prst="ellipse">
            <a:avLst/>
          </a:prstGeom>
          <a:solidFill>
            <a:srgbClr val="E8912D"/>
          </a:solidFill>
          <a:ln w="12700">
            <a:solidFill>
              <a:srgbClr val="E8912D"/>
            </a:solidFill>
            <a:prstDash val="solid"/>
          </a:ln>
        </p:spPr>
      </p:sp>
      <p:sp>
        <p:nvSpPr>
          <p:cNvPr id="39" name="Text 35"/>
          <p:cNvSpPr txBox="1"/>
          <p:nvPr/>
        </p:nvSpPr>
        <p:spPr>
          <a:xfrm>
            <a:off x="3657600" y="3657600"/>
            <a:ext cx="2148840" cy="274320"/>
          </a:xfrm>
          <a:prstGeom prst="rect">
            <a:avLst/>
          </a:prstGeom>
          <a:noFill/>
          <a:ln/>
        </p:spPr>
        <p:txBody>
          <a:bodyPr wrap="square" lIns="0" tIns="0" rIns="0" bIns="0" rtlCol="0" anchor="ctr"/>
          <a:lstStyle/>
          <a:p>
            <a:pPr indent="0" marL="0">
              <a:buNone/>
            </a:pPr>
            <a:r>
              <a:rPr lang="en-US" sz="1000" dirty="0">
                <a:solidFill>
                  <a:srgbClr val="1A2B3C"/>
                </a:solidFill>
                <a:latin typeface="Calibri" pitchFamily="34" charset="0"/>
                <a:ea typeface="Calibri" pitchFamily="34" charset="-122"/>
                <a:cs typeface="Calibri" pitchFamily="34" charset="-120"/>
              </a:rPr>
              <a:t>Measure real loop time</a:t>
            </a:r>
            <a:endParaRPr lang="en-US" sz="1000" dirty="0"/>
          </a:p>
        </p:txBody>
      </p:sp>
      <p:sp>
        <p:nvSpPr>
          <p:cNvPr id="40" name="Shape 36"/>
          <p:cNvSpPr/>
          <p:nvPr/>
        </p:nvSpPr>
        <p:spPr>
          <a:xfrm>
            <a:off x="3383280" y="4096512"/>
            <a:ext cx="2377440" cy="548640"/>
          </a:xfrm>
          <a:prstGeom prst="roundRect">
            <a:avLst>
              <a:gd name="adj" fmla="val 10000"/>
            </a:avLst>
          </a:prstGeom>
          <a:solidFill>
            <a:srgbClr val="FFFFFF"/>
          </a:solidFill>
          <a:ln w="12700">
            <a:solidFill>
              <a:srgbClr val="FFFFFF"/>
            </a:solidFill>
            <a:prstDash val="solid"/>
          </a:ln>
        </p:spPr>
      </p:sp>
      <p:sp>
        <p:nvSpPr>
          <p:cNvPr id="41" name="Text 37"/>
          <p:cNvSpPr txBox="1"/>
          <p:nvPr/>
        </p:nvSpPr>
        <p:spPr>
          <a:xfrm>
            <a:off x="3502152" y="4096512"/>
            <a:ext cx="2194560" cy="548640"/>
          </a:xfrm>
          <a:prstGeom prst="rect">
            <a:avLst/>
          </a:prstGeom>
          <a:noFill/>
          <a:ln/>
        </p:spPr>
        <p:txBody>
          <a:bodyPr wrap="square" lIns="0" tIns="0" rIns="0" bIns="0" rtlCol="0" anchor="ctr"/>
          <a:lstStyle/>
          <a:p>
            <a:pPr indent="0" marL="0">
              <a:buNone/>
            </a:pPr>
            <a:r>
              <a:rPr lang="en-US" sz="950" b="1" dirty="0">
                <a:solidFill>
                  <a:srgbClr val="E8912D"/>
                </a:solidFill>
                <a:latin typeface="Calibri" pitchFamily="34" charset="0"/>
                <a:ea typeface="Calibri" pitchFamily="34" charset="-122"/>
                <a:cs typeface="Calibri" pitchFamily="34" charset="-120"/>
              </a:rPr>
              <a:t>Exit: one storm scenario closes the loop on hardware</a:t>
            </a:r>
            <a:endParaRPr lang="en-US" sz="950" dirty="0"/>
          </a:p>
        </p:txBody>
      </p:sp>
      <p:sp>
        <p:nvSpPr>
          <p:cNvPr id="42" name="Shape 38"/>
          <p:cNvSpPr/>
          <p:nvPr/>
        </p:nvSpPr>
        <p:spPr>
          <a:xfrm>
            <a:off x="6035040" y="1188720"/>
            <a:ext cx="2651760" cy="3611880"/>
          </a:xfrm>
          <a:prstGeom prst="roundRect">
            <a:avLst>
              <a:gd name="adj" fmla="val 2759"/>
            </a:avLst>
          </a:prstGeom>
          <a:solidFill>
            <a:srgbClr val="F2F5F8"/>
          </a:solidFill>
          <a:ln w="12700">
            <a:solidFill>
              <a:srgbClr val="F2F5F8"/>
            </a:solidFill>
            <a:prstDash val="solid"/>
          </a:ln>
        </p:spPr>
      </p:sp>
      <p:sp>
        <p:nvSpPr>
          <p:cNvPr id="43" name="Shape 39"/>
          <p:cNvSpPr/>
          <p:nvPr/>
        </p:nvSpPr>
        <p:spPr>
          <a:xfrm>
            <a:off x="6199632" y="1335024"/>
            <a:ext cx="420624" cy="420624"/>
          </a:xfrm>
          <a:prstGeom prst="ellipse">
            <a:avLst/>
          </a:prstGeom>
          <a:solidFill>
            <a:srgbClr val="7C5CFF"/>
          </a:solidFill>
          <a:ln w="12700">
            <a:solidFill>
              <a:srgbClr val="7C5CFF"/>
            </a:solidFill>
            <a:prstDash val="solid"/>
          </a:ln>
        </p:spPr>
      </p:sp>
      <p:pic>
        <p:nvPicPr>
          <p:cNvPr id="44" name="Image 2" descr="preencoded.png">    </p:cNvPr>
          <p:cNvPicPr>
            <a:picLocks noChangeAspect="1"/>
          </p:cNvPicPr>
          <p:nvPr/>
        </p:nvPicPr>
        <p:blipFill>
          <a:blip r:embed="rId3"/>
          <a:stretch>
            <a:fillRect/>
          </a:stretch>
        </p:blipFill>
        <p:spPr>
          <a:xfrm>
            <a:off x="6304788" y="1440180"/>
            <a:ext cx="210312" cy="210312"/>
          </a:xfrm>
          <a:prstGeom prst="rect">
            <a:avLst/>
          </a:prstGeom>
        </p:spPr>
      </p:pic>
      <p:sp>
        <p:nvSpPr>
          <p:cNvPr id="45" name="Text 40"/>
          <p:cNvSpPr txBox="1"/>
          <p:nvPr/>
        </p:nvSpPr>
        <p:spPr>
          <a:xfrm>
            <a:off x="6729984" y="1316736"/>
            <a:ext cx="1874520" cy="256032"/>
          </a:xfrm>
          <a:prstGeom prst="rect">
            <a:avLst/>
          </a:prstGeom>
          <a:noFill/>
          <a:ln/>
        </p:spPr>
        <p:txBody>
          <a:bodyPr wrap="square" lIns="0" tIns="0" rIns="0" bIns="0" rtlCol="0" anchor="t"/>
          <a:lstStyle/>
          <a:p>
            <a:pPr indent="0" marL="0">
              <a:buNone/>
            </a:pPr>
            <a:r>
              <a:rPr lang="en-US" sz="1200" b="1" dirty="0">
                <a:solidFill>
                  <a:srgbClr val="0B1D33"/>
                </a:solidFill>
                <a:latin typeface="Arial" pitchFamily="34" charset="0"/>
                <a:ea typeface="Arial" pitchFamily="34" charset="-122"/>
                <a:cs typeface="Arial" pitchFamily="34" charset="-120"/>
              </a:rPr>
              <a:t>3  Standards &amp; AI/ML</a:t>
            </a:r>
            <a:endParaRPr lang="en-US" sz="1200" dirty="0"/>
          </a:p>
        </p:txBody>
      </p:sp>
      <p:sp>
        <p:nvSpPr>
          <p:cNvPr id="46" name="Text 41"/>
          <p:cNvSpPr txBox="1"/>
          <p:nvPr/>
        </p:nvSpPr>
        <p:spPr>
          <a:xfrm>
            <a:off x="6729984" y="1572768"/>
            <a:ext cx="1874520" cy="201168"/>
          </a:xfrm>
          <a:prstGeom prst="rect">
            <a:avLst/>
          </a:prstGeom>
          <a:noFill/>
          <a:ln/>
        </p:spPr>
        <p:txBody>
          <a:bodyPr wrap="square" lIns="0" tIns="0" rIns="0" bIns="0" rtlCol="0" anchor="t"/>
          <a:lstStyle/>
          <a:p>
            <a:pPr indent="0" marL="0">
              <a:buNone/>
            </a:pPr>
            <a:r>
              <a:rPr lang="en-US" sz="900" b="1" dirty="0">
                <a:solidFill>
                  <a:srgbClr val="7C5CFF"/>
                </a:solidFill>
                <a:latin typeface="Calibri" pitchFamily="34" charset="0"/>
                <a:ea typeface="Calibri" pitchFamily="34" charset="-122"/>
                <a:cs typeface="Calibri" pitchFamily="34" charset="-120"/>
              </a:rPr>
              <a:t>2026–27</a:t>
            </a:r>
            <a:endParaRPr lang="en-US" sz="900" dirty="0"/>
          </a:p>
        </p:txBody>
      </p:sp>
      <p:sp>
        <p:nvSpPr>
          <p:cNvPr id="47" name="Shape 42"/>
          <p:cNvSpPr/>
          <p:nvPr/>
        </p:nvSpPr>
        <p:spPr>
          <a:xfrm>
            <a:off x="6254496" y="2057400"/>
            <a:ext cx="91440" cy="91440"/>
          </a:xfrm>
          <a:prstGeom prst="ellipse">
            <a:avLst/>
          </a:prstGeom>
          <a:solidFill>
            <a:srgbClr val="7C5CFF"/>
          </a:solidFill>
          <a:ln w="12700">
            <a:solidFill>
              <a:srgbClr val="7C5CFF"/>
            </a:solidFill>
            <a:prstDash val="solid"/>
          </a:ln>
        </p:spPr>
      </p:sp>
      <p:sp>
        <p:nvSpPr>
          <p:cNvPr id="48" name="Text 43"/>
          <p:cNvSpPr txBox="1"/>
          <p:nvPr/>
        </p:nvSpPr>
        <p:spPr>
          <a:xfrm>
            <a:off x="6446520" y="1965960"/>
            <a:ext cx="2148840" cy="274320"/>
          </a:xfrm>
          <a:prstGeom prst="rect">
            <a:avLst/>
          </a:prstGeom>
          <a:noFill/>
          <a:ln/>
        </p:spPr>
        <p:txBody>
          <a:bodyPr wrap="square" lIns="0" tIns="0" rIns="0" bIns="0" rtlCol="0" anchor="ctr"/>
          <a:lstStyle/>
          <a:p>
            <a:pPr indent="0" marL="0">
              <a:buNone/>
            </a:pPr>
            <a:r>
              <a:rPr lang="en-US" sz="1000" dirty="0">
                <a:solidFill>
                  <a:srgbClr val="1A2B3C"/>
                </a:solidFill>
                <a:latin typeface="Calibri" pitchFamily="34" charset="0"/>
                <a:ea typeface="Calibri" pitchFamily="34" charset="-122"/>
                <a:cs typeface="Calibri" pitchFamily="34" charset="-120"/>
              </a:rPr>
              <a:t>Expanded transport skill bank</a:t>
            </a:r>
            <a:endParaRPr lang="en-US" sz="1000" dirty="0"/>
          </a:p>
        </p:txBody>
      </p:sp>
      <p:sp>
        <p:nvSpPr>
          <p:cNvPr id="49" name="Shape 44"/>
          <p:cNvSpPr/>
          <p:nvPr/>
        </p:nvSpPr>
        <p:spPr>
          <a:xfrm>
            <a:off x="6254496" y="2395728"/>
            <a:ext cx="91440" cy="91440"/>
          </a:xfrm>
          <a:prstGeom prst="ellipse">
            <a:avLst/>
          </a:prstGeom>
          <a:solidFill>
            <a:srgbClr val="7C5CFF"/>
          </a:solidFill>
          <a:ln w="12700">
            <a:solidFill>
              <a:srgbClr val="7C5CFF"/>
            </a:solidFill>
            <a:prstDash val="solid"/>
          </a:ln>
        </p:spPr>
      </p:sp>
      <p:sp>
        <p:nvSpPr>
          <p:cNvPr id="50" name="Text 45"/>
          <p:cNvSpPr txBox="1"/>
          <p:nvPr/>
        </p:nvSpPr>
        <p:spPr>
          <a:xfrm>
            <a:off x="6446520" y="2304288"/>
            <a:ext cx="2148840" cy="274320"/>
          </a:xfrm>
          <a:prstGeom prst="rect">
            <a:avLst/>
          </a:prstGeom>
          <a:noFill/>
          <a:ln/>
        </p:spPr>
        <p:txBody>
          <a:bodyPr wrap="square" lIns="0" tIns="0" rIns="0" bIns="0" rtlCol="0" anchor="ctr"/>
          <a:lstStyle/>
          <a:p>
            <a:pPr indent="0" marL="0">
              <a:buNone/>
            </a:pPr>
            <a:r>
              <a:rPr lang="en-US" sz="1000" dirty="0">
                <a:solidFill>
                  <a:srgbClr val="1A2B3C"/>
                </a:solidFill>
                <a:latin typeface="Calibri" pitchFamily="34" charset="0"/>
                <a:ea typeface="Calibri" pitchFamily="34" charset="-122"/>
                <a:cs typeface="Calibri" pitchFamily="34" charset="-120"/>
              </a:rPr>
              <a:t>RFC 8345 topology into ns-3</a:t>
            </a:r>
            <a:endParaRPr lang="en-US" sz="1000" dirty="0"/>
          </a:p>
        </p:txBody>
      </p:sp>
      <p:sp>
        <p:nvSpPr>
          <p:cNvPr id="51" name="Shape 46"/>
          <p:cNvSpPr/>
          <p:nvPr/>
        </p:nvSpPr>
        <p:spPr>
          <a:xfrm>
            <a:off x="6254496" y="2734056"/>
            <a:ext cx="91440" cy="91440"/>
          </a:xfrm>
          <a:prstGeom prst="ellipse">
            <a:avLst/>
          </a:prstGeom>
          <a:solidFill>
            <a:srgbClr val="7C5CFF"/>
          </a:solidFill>
          <a:ln w="12700">
            <a:solidFill>
              <a:srgbClr val="7C5CFF"/>
            </a:solidFill>
            <a:prstDash val="solid"/>
          </a:ln>
        </p:spPr>
      </p:sp>
      <p:sp>
        <p:nvSpPr>
          <p:cNvPr id="52" name="Text 47"/>
          <p:cNvSpPr txBox="1"/>
          <p:nvPr/>
        </p:nvSpPr>
        <p:spPr>
          <a:xfrm>
            <a:off x="6446520" y="2642616"/>
            <a:ext cx="2148840" cy="274320"/>
          </a:xfrm>
          <a:prstGeom prst="rect">
            <a:avLst/>
          </a:prstGeom>
          <a:noFill/>
          <a:ln/>
        </p:spPr>
        <p:txBody>
          <a:bodyPr wrap="square" lIns="0" tIns="0" rIns="0" bIns="0" rtlCol="0" anchor="ctr"/>
          <a:lstStyle/>
          <a:p>
            <a:pPr indent="0" marL="0">
              <a:buNone/>
            </a:pPr>
            <a:r>
              <a:rPr lang="en-US" sz="1000" dirty="0">
                <a:solidFill>
                  <a:srgbClr val="1A2B3C"/>
                </a:solidFill>
                <a:latin typeface="Calibri" pitchFamily="34" charset="0"/>
                <a:ea typeface="Calibri" pitchFamily="34" charset="-122"/>
                <a:cs typeface="Calibri" pitchFamily="34" charset="-120"/>
              </a:rPr>
              <a:t>Y.3092 NDT-m / NDT-p split</a:t>
            </a:r>
            <a:endParaRPr lang="en-US" sz="1000" dirty="0"/>
          </a:p>
        </p:txBody>
      </p:sp>
      <p:sp>
        <p:nvSpPr>
          <p:cNvPr id="53" name="Shape 48"/>
          <p:cNvSpPr/>
          <p:nvPr/>
        </p:nvSpPr>
        <p:spPr>
          <a:xfrm>
            <a:off x="6254496" y="3072384"/>
            <a:ext cx="91440" cy="91440"/>
          </a:xfrm>
          <a:prstGeom prst="ellipse">
            <a:avLst/>
          </a:prstGeom>
          <a:solidFill>
            <a:srgbClr val="7C5CFF"/>
          </a:solidFill>
          <a:ln w="12700">
            <a:solidFill>
              <a:srgbClr val="7C5CFF"/>
            </a:solidFill>
            <a:prstDash val="solid"/>
          </a:ln>
        </p:spPr>
      </p:sp>
      <p:sp>
        <p:nvSpPr>
          <p:cNvPr id="54" name="Text 49"/>
          <p:cNvSpPr txBox="1"/>
          <p:nvPr/>
        </p:nvSpPr>
        <p:spPr>
          <a:xfrm>
            <a:off x="6446520" y="2980944"/>
            <a:ext cx="2148840" cy="274320"/>
          </a:xfrm>
          <a:prstGeom prst="rect">
            <a:avLst/>
          </a:prstGeom>
          <a:noFill/>
          <a:ln/>
        </p:spPr>
        <p:txBody>
          <a:bodyPr wrap="square" lIns="0" tIns="0" rIns="0" bIns="0" rtlCol="0" anchor="ctr"/>
          <a:lstStyle/>
          <a:p>
            <a:pPr indent="0" marL="0">
              <a:buNone/>
            </a:pPr>
            <a:r>
              <a:rPr lang="en-US" sz="1000" dirty="0">
                <a:solidFill>
                  <a:srgbClr val="1A2B3C"/>
                </a:solidFill>
                <a:latin typeface="Calibri" pitchFamily="34" charset="0"/>
                <a:ea typeface="Calibri" pitchFamily="34" charset="-122"/>
                <a:cs typeface="Calibri" pitchFamily="34" charset="-120"/>
              </a:rPr>
              <a:t>ns3-ai Gym env for RL agents</a:t>
            </a:r>
            <a:endParaRPr lang="en-US" sz="1000" dirty="0"/>
          </a:p>
        </p:txBody>
      </p:sp>
      <p:sp>
        <p:nvSpPr>
          <p:cNvPr id="55" name="Shape 50"/>
          <p:cNvSpPr/>
          <p:nvPr/>
        </p:nvSpPr>
        <p:spPr>
          <a:xfrm>
            <a:off x="6254496" y="3410712"/>
            <a:ext cx="91440" cy="91440"/>
          </a:xfrm>
          <a:prstGeom prst="ellipse">
            <a:avLst/>
          </a:prstGeom>
          <a:solidFill>
            <a:srgbClr val="7C5CFF"/>
          </a:solidFill>
          <a:ln w="12700">
            <a:solidFill>
              <a:srgbClr val="7C5CFF"/>
            </a:solidFill>
            <a:prstDash val="solid"/>
          </a:ln>
        </p:spPr>
      </p:sp>
      <p:sp>
        <p:nvSpPr>
          <p:cNvPr id="56" name="Text 51"/>
          <p:cNvSpPr txBox="1"/>
          <p:nvPr/>
        </p:nvSpPr>
        <p:spPr>
          <a:xfrm>
            <a:off x="6446520" y="3319272"/>
            <a:ext cx="2148840" cy="274320"/>
          </a:xfrm>
          <a:prstGeom prst="rect">
            <a:avLst/>
          </a:prstGeom>
          <a:noFill/>
          <a:ln/>
        </p:spPr>
        <p:txBody>
          <a:bodyPr wrap="square" lIns="0" tIns="0" rIns="0" bIns="0" rtlCol="0" anchor="ctr"/>
          <a:lstStyle/>
          <a:p>
            <a:pPr indent="0" marL="0">
              <a:buNone/>
            </a:pPr>
            <a:r>
              <a:rPr lang="en-US" sz="1000" dirty="0">
                <a:solidFill>
                  <a:srgbClr val="1A2B3C"/>
                </a:solidFill>
                <a:latin typeface="Calibri" pitchFamily="34" charset="0"/>
                <a:ea typeface="Calibri" pitchFamily="34" charset="-122"/>
                <a:cs typeface="Calibri" pitchFamily="34" charset="-120"/>
              </a:rPr>
              <a:t>TS 28.105 + Y.3181 model gating</a:t>
            </a:r>
            <a:endParaRPr lang="en-US" sz="1000" dirty="0"/>
          </a:p>
        </p:txBody>
      </p:sp>
      <p:sp>
        <p:nvSpPr>
          <p:cNvPr id="57" name="Shape 52"/>
          <p:cNvSpPr/>
          <p:nvPr/>
        </p:nvSpPr>
        <p:spPr>
          <a:xfrm>
            <a:off x="6254496" y="3749040"/>
            <a:ext cx="91440" cy="91440"/>
          </a:xfrm>
          <a:prstGeom prst="ellipse">
            <a:avLst/>
          </a:prstGeom>
          <a:solidFill>
            <a:srgbClr val="7C5CFF"/>
          </a:solidFill>
          <a:ln w="12700">
            <a:solidFill>
              <a:srgbClr val="7C5CFF"/>
            </a:solidFill>
            <a:prstDash val="solid"/>
          </a:ln>
        </p:spPr>
      </p:sp>
      <p:sp>
        <p:nvSpPr>
          <p:cNvPr id="58" name="Text 53"/>
          <p:cNvSpPr txBox="1"/>
          <p:nvPr/>
        </p:nvSpPr>
        <p:spPr>
          <a:xfrm>
            <a:off x="6446520" y="3657600"/>
            <a:ext cx="2148840" cy="274320"/>
          </a:xfrm>
          <a:prstGeom prst="rect">
            <a:avLst/>
          </a:prstGeom>
          <a:noFill/>
          <a:ln/>
        </p:spPr>
        <p:txBody>
          <a:bodyPr wrap="square" lIns="0" tIns="0" rIns="0" bIns="0" rtlCol="0" anchor="ctr"/>
          <a:lstStyle/>
          <a:p>
            <a:pPr indent="0" marL="0">
              <a:buNone/>
            </a:pPr>
            <a:r>
              <a:rPr lang="en-US" sz="1000" dirty="0">
                <a:solidFill>
                  <a:srgbClr val="1A2B3C"/>
                </a:solidFill>
                <a:latin typeface="Calibri" pitchFamily="34" charset="0"/>
                <a:ea typeface="Calibri" pitchFamily="34" charset="-122"/>
                <a:cs typeface="Calibri" pitchFamily="34" charset="-120"/>
              </a:rPr>
              <a:t>Track Rel-20 NDT, Q.SDTN</a:t>
            </a:r>
            <a:endParaRPr lang="en-US" sz="1000" dirty="0"/>
          </a:p>
        </p:txBody>
      </p:sp>
      <p:sp>
        <p:nvSpPr>
          <p:cNvPr id="59" name="Shape 54"/>
          <p:cNvSpPr/>
          <p:nvPr/>
        </p:nvSpPr>
        <p:spPr>
          <a:xfrm>
            <a:off x="6172200" y="4096512"/>
            <a:ext cx="2377440" cy="548640"/>
          </a:xfrm>
          <a:prstGeom prst="roundRect">
            <a:avLst>
              <a:gd name="adj" fmla="val 10000"/>
            </a:avLst>
          </a:prstGeom>
          <a:solidFill>
            <a:srgbClr val="FFFFFF"/>
          </a:solidFill>
          <a:ln w="12700">
            <a:solidFill>
              <a:srgbClr val="FFFFFF"/>
            </a:solidFill>
            <a:prstDash val="solid"/>
          </a:ln>
        </p:spPr>
      </p:sp>
      <p:sp>
        <p:nvSpPr>
          <p:cNvPr id="60" name="Text 55"/>
          <p:cNvSpPr txBox="1"/>
          <p:nvPr/>
        </p:nvSpPr>
        <p:spPr>
          <a:xfrm>
            <a:off x="6291072" y="4096512"/>
            <a:ext cx="2194560" cy="548640"/>
          </a:xfrm>
          <a:prstGeom prst="rect">
            <a:avLst/>
          </a:prstGeom>
          <a:noFill/>
          <a:ln/>
        </p:spPr>
        <p:txBody>
          <a:bodyPr wrap="square" lIns="0" tIns="0" rIns="0" bIns="0" rtlCol="0" anchor="ctr"/>
          <a:lstStyle/>
          <a:p>
            <a:pPr indent="0" marL="0">
              <a:buNone/>
            </a:pPr>
            <a:r>
              <a:rPr lang="en-US" sz="950" b="1" dirty="0">
                <a:solidFill>
                  <a:srgbClr val="7C5CFF"/>
                </a:solidFill>
                <a:latin typeface="Calibri" pitchFamily="34" charset="0"/>
                <a:ea typeface="Calibri" pitchFamily="34" charset="-122"/>
                <a:cs typeface="Calibri" pitchFamily="34" charset="-120"/>
              </a:rPr>
              <a:t>Exit: ML policies validated in the twin before deploy</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000" b="1" spc="200" kern="0" dirty="0">
                <a:solidFill>
                  <a:srgbClr val="0FA3B1"/>
                </a:solidFill>
                <a:latin typeface="Arial" pitchFamily="34" charset="0"/>
                <a:ea typeface="Arial" pitchFamily="34" charset="-122"/>
                <a:cs typeface="Arial" pitchFamily="34" charset="-120"/>
              </a:rPr>
              <a:t>SUMMARY</a:t>
            </a:r>
            <a:endParaRPr lang="en-US" sz="10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A real foundation, an honest gap list</a:t>
            </a:r>
            <a:endParaRPr lang="en-US" sz="2600" dirty="0"/>
          </a:p>
        </p:txBody>
      </p:sp>
      <p:sp>
        <p:nvSpPr>
          <p:cNvPr id="4" name="Shape 2"/>
          <p:cNvSpPr/>
          <p:nvPr/>
        </p:nvSpPr>
        <p:spPr>
          <a:xfrm>
            <a:off x="457200" y="1325880"/>
            <a:ext cx="2606040" cy="1188720"/>
          </a:xfrm>
          <a:prstGeom prst="roundRect">
            <a:avLst>
              <a:gd name="adj" fmla="val 6154"/>
            </a:avLst>
          </a:prstGeom>
          <a:solidFill>
            <a:srgbClr val="14304F"/>
          </a:solidFill>
          <a:ln w="12700">
            <a:solidFill>
              <a:srgbClr val="14304F"/>
            </a:solidFill>
            <a:prstDash val="solid"/>
          </a:ln>
        </p:spPr>
      </p:sp>
      <p:sp>
        <p:nvSpPr>
          <p:cNvPr id="5" name="Text 3"/>
          <p:cNvSpPr txBox="1"/>
          <p:nvPr/>
        </p:nvSpPr>
        <p:spPr>
          <a:xfrm>
            <a:off x="640080" y="1417320"/>
            <a:ext cx="2286000" cy="594360"/>
          </a:xfrm>
          <a:prstGeom prst="rect">
            <a:avLst/>
          </a:prstGeom>
          <a:noFill/>
          <a:ln/>
        </p:spPr>
        <p:txBody>
          <a:bodyPr wrap="square" lIns="0" tIns="0" rIns="0" bIns="0" rtlCol="0" anchor="ctr"/>
          <a:lstStyle/>
          <a:p>
            <a:pPr indent="0" marL="0">
              <a:buNone/>
            </a:pPr>
            <a:r>
              <a:rPr lang="en-US" sz="2600" b="1" dirty="0">
                <a:solidFill>
                  <a:srgbClr val="7C5CFF"/>
                </a:solidFill>
                <a:latin typeface="Arial" pitchFamily="34" charset="0"/>
                <a:ea typeface="Arial" pitchFamily="34" charset="-122"/>
                <a:cs typeface="Arial" pitchFamily="34" charset="-120"/>
              </a:rPr>
              <a:t>52 · 1,143</a:t>
            </a:r>
            <a:endParaRPr lang="en-US" sz="2600" dirty="0"/>
          </a:p>
        </p:txBody>
      </p:sp>
      <p:sp>
        <p:nvSpPr>
          <p:cNvPr id="6" name="Text 4"/>
          <p:cNvSpPr txBox="1"/>
          <p:nvPr/>
        </p:nvSpPr>
        <p:spPr>
          <a:xfrm>
            <a:off x="640080" y="2011680"/>
            <a:ext cx="2286000" cy="411480"/>
          </a:xfrm>
          <a:prstGeom prst="rect">
            <a:avLst/>
          </a:prstGeom>
          <a:noFill/>
          <a:ln/>
        </p:spPr>
        <p:txBody>
          <a:bodyPr wrap="square" lIns="0" tIns="0" rIns="0" bIns="0" rtlCol="0" anchor="t"/>
          <a:lstStyle/>
          <a:p>
            <a:pPr indent="0" marL="0">
              <a:buNone/>
            </a:pPr>
            <a:r>
              <a:rPr lang="en-US" sz="1050" dirty="0">
                <a:solidFill>
                  <a:srgbClr val="C9D6E3"/>
                </a:solidFill>
                <a:latin typeface="Calibri" pitchFamily="34" charset="0"/>
                <a:ea typeface="Calibri" pitchFamily="34" charset="-122"/>
                <a:cs typeface="Calibri" pitchFamily="34" charset="-120"/>
              </a:rPr>
              <a:t>intents parsed · configs applied</a:t>
            </a:r>
            <a:endParaRPr lang="en-US" sz="1050" dirty="0"/>
          </a:p>
        </p:txBody>
      </p:sp>
      <p:sp>
        <p:nvSpPr>
          <p:cNvPr id="7" name="Shape 5"/>
          <p:cNvSpPr/>
          <p:nvPr/>
        </p:nvSpPr>
        <p:spPr>
          <a:xfrm>
            <a:off x="3246120" y="1325880"/>
            <a:ext cx="2606040" cy="1188720"/>
          </a:xfrm>
          <a:prstGeom prst="roundRect">
            <a:avLst>
              <a:gd name="adj" fmla="val 6154"/>
            </a:avLst>
          </a:prstGeom>
          <a:solidFill>
            <a:srgbClr val="14304F"/>
          </a:solidFill>
          <a:ln w="12700">
            <a:solidFill>
              <a:srgbClr val="14304F"/>
            </a:solidFill>
            <a:prstDash val="solid"/>
          </a:ln>
        </p:spPr>
      </p:sp>
      <p:sp>
        <p:nvSpPr>
          <p:cNvPr id="8" name="Text 6"/>
          <p:cNvSpPr txBox="1"/>
          <p:nvPr/>
        </p:nvSpPr>
        <p:spPr>
          <a:xfrm>
            <a:off x="3429000" y="1417320"/>
            <a:ext cx="2286000" cy="594360"/>
          </a:xfrm>
          <a:prstGeom prst="rect">
            <a:avLst/>
          </a:prstGeom>
          <a:noFill/>
          <a:ln/>
        </p:spPr>
        <p:txBody>
          <a:bodyPr wrap="square" lIns="0" tIns="0" rIns="0" bIns="0" rtlCol="0" anchor="ctr"/>
          <a:lstStyle/>
          <a:p>
            <a:pPr indent="0" marL="0">
              <a:buNone/>
            </a:pPr>
            <a:r>
              <a:rPr lang="en-US" sz="2600" b="1" dirty="0">
                <a:solidFill>
                  <a:srgbClr val="E8912D"/>
                </a:solidFill>
                <a:latin typeface="Arial" pitchFamily="34" charset="0"/>
                <a:ea typeface="Arial" pitchFamily="34" charset="-122"/>
                <a:cs typeface="Arial" pitchFamily="34" charset="-120"/>
              </a:rPr>
              <a:t>22 / 22</a:t>
            </a:r>
            <a:endParaRPr lang="en-US" sz="2600" dirty="0"/>
          </a:p>
        </p:txBody>
      </p:sp>
      <p:sp>
        <p:nvSpPr>
          <p:cNvPr id="9" name="Text 7"/>
          <p:cNvSpPr txBox="1"/>
          <p:nvPr/>
        </p:nvSpPr>
        <p:spPr>
          <a:xfrm>
            <a:off x="3429000" y="2011680"/>
            <a:ext cx="2286000" cy="411480"/>
          </a:xfrm>
          <a:prstGeom prst="rect">
            <a:avLst/>
          </a:prstGeom>
          <a:noFill/>
          <a:ln/>
        </p:spPr>
        <p:txBody>
          <a:bodyPr wrap="square" lIns="0" tIns="0" rIns="0" bIns="0" rtlCol="0" anchor="t"/>
          <a:lstStyle/>
          <a:p>
            <a:pPr indent="0" marL="0">
              <a:buNone/>
            </a:pPr>
            <a:r>
              <a:rPr lang="en-US" sz="1050" dirty="0">
                <a:solidFill>
                  <a:srgbClr val="C9D6E3"/>
                </a:solidFill>
                <a:latin typeface="Calibri" pitchFamily="34" charset="0"/>
                <a:ea typeface="Calibri" pitchFamily="34" charset="-122"/>
                <a:cs typeface="Calibri" pitchFamily="34" charset="-120"/>
              </a:rPr>
              <a:t>twin tests passing</a:t>
            </a:r>
            <a:endParaRPr lang="en-US" sz="1050" dirty="0"/>
          </a:p>
        </p:txBody>
      </p:sp>
      <p:sp>
        <p:nvSpPr>
          <p:cNvPr id="10" name="Shape 8"/>
          <p:cNvSpPr/>
          <p:nvPr/>
        </p:nvSpPr>
        <p:spPr>
          <a:xfrm>
            <a:off x="6035040" y="1325880"/>
            <a:ext cx="2606040" cy="1188720"/>
          </a:xfrm>
          <a:prstGeom prst="roundRect">
            <a:avLst>
              <a:gd name="adj" fmla="val 6154"/>
            </a:avLst>
          </a:prstGeom>
          <a:solidFill>
            <a:srgbClr val="14304F"/>
          </a:solidFill>
          <a:ln w="12700">
            <a:solidFill>
              <a:srgbClr val="14304F"/>
            </a:solidFill>
            <a:prstDash val="solid"/>
          </a:ln>
        </p:spPr>
      </p:sp>
      <p:sp>
        <p:nvSpPr>
          <p:cNvPr id="11" name="Text 9"/>
          <p:cNvSpPr txBox="1"/>
          <p:nvPr/>
        </p:nvSpPr>
        <p:spPr>
          <a:xfrm>
            <a:off x="6217920" y="1417320"/>
            <a:ext cx="2286000" cy="594360"/>
          </a:xfrm>
          <a:prstGeom prst="rect">
            <a:avLst/>
          </a:prstGeom>
          <a:noFill/>
          <a:ln/>
        </p:spPr>
        <p:txBody>
          <a:bodyPr wrap="square" lIns="0" tIns="0" rIns="0" bIns="0" rtlCol="0" anchor="ctr"/>
          <a:lstStyle/>
          <a:p>
            <a:pPr indent="0" marL="0">
              <a:buNone/>
            </a:pPr>
            <a:r>
              <a:rPr lang="en-US" sz="2600" b="1" dirty="0">
                <a:solidFill>
                  <a:srgbClr val="22A06B"/>
                </a:solidFill>
                <a:latin typeface="Arial" pitchFamily="34" charset="0"/>
                <a:ea typeface="Arial" pitchFamily="34" charset="-122"/>
                <a:cs typeface="Arial" pitchFamily="34" charset="-120"/>
              </a:rPr>
              <a:t>3 steps</a:t>
            </a:r>
            <a:endParaRPr lang="en-US" sz="2600" dirty="0"/>
          </a:p>
        </p:txBody>
      </p:sp>
      <p:sp>
        <p:nvSpPr>
          <p:cNvPr id="12" name="Text 10"/>
          <p:cNvSpPr txBox="1"/>
          <p:nvPr/>
        </p:nvSpPr>
        <p:spPr>
          <a:xfrm>
            <a:off x="6217920" y="2011680"/>
            <a:ext cx="2286000" cy="411480"/>
          </a:xfrm>
          <a:prstGeom prst="rect">
            <a:avLst/>
          </a:prstGeom>
          <a:noFill/>
          <a:ln/>
        </p:spPr>
        <p:txBody>
          <a:bodyPr wrap="square" lIns="0" tIns="0" rIns="0" bIns="0" rtlCol="0" anchor="t"/>
          <a:lstStyle/>
          <a:p>
            <a:pPr indent="0" marL="0">
              <a:buNone/>
            </a:pPr>
            <a:r>
              <a:rPr lang="en-US" sz="1050" dirty="0">
                <a:solidFill>
                  <a:srgbClr val="C9D6E3"/>
                </a:solidFill>
                <a:latin typeface="Calibri" pitchFamily="34" charset="0"/>
                <a:ea typeface="Calibri" pitchFamily="34" charset="-122"/>
                <a:cs typeface="Calibri" pitchFamily="34" charset="-120"/>
              </a:rPr>
              <a:t>real RESTCONF stage → commit → discard</a:t>
            </a:r>
            <a:endParaRPr lang="en-US" sz="1050" dirty="0"/>
          </a:p>
        </p:txBody>
      </p:sp>
      <p:sp>
        <p:nvSpPr>
          <p:cNvPr id="13" name="Text 11"/>
          <p:cNvSpPr txBox="1"/>
          <p:nvPr/>
        </p:nvSpPr>
        <p:spPr>
          <a:xfrm>
            <a:off x="457200" y="2834640"/>
            <a:ext cx="1645920" cy="457200"/>
          </a:xfrm>
          <a:prstGeom prst="rect">
            <a:avLst/>
          </a:prstGeom>
          <a:noFill/>
          <a:ln/>
        </p:spPr>
        <p:txBody>
          <a:bodyPr wrap="square" lIns="0" tIns="0" rIns="0" bIns="0" rtlCol="0" anchor="ctr"/>
          <a:lstStyle/>
          <a:p>
            <a:pPr indent="0" marL="0">
              <a:buNone/>
            </a:pPr>
            <a:r>
              <a:rPr lang="en-US" sz="1200" b="1" dirty="0">
                <a:solidFill>
                  <a:srgbClr val="0FA3B1"/>
                </a:solidFill>
                <a:latin typeface="Arial" pitchFamily="34" charset="0"/>
                <a:ea typeface="Arial" pitchFamily="34" charset="-122"/>
                <a:cs typeface="Arial" pitchFamily="34" charset="-120"/>
              </a:rPr>
              <a:t>Next 4 weeks</a:t>
            </a:r>
            <a:endParaRPr lang="en-US" sz="1200" dirty="0"/>
          </a:p>
        </p:txBody>
      </p:sp>
      <p:sp>
        <p:nvSpPr>
          <p:cNvPr id="14" name="Text 12"/>
          <p:cNvSpPr txBox="1"/>
          <p:nvPr/>
        </p:nvSpPr>
        <p:spPr>
          <a:xfrm>
            <a:off x="2103120" y="2834640"/>
            <a:ext cx="6583680" cy="45720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Phase 1: label mocks, fix error handling and key contract, live read-back, secrets.</a:t>
            </a:r>
            <a:endParaRPr lang="en-US" sz="1200" dirty="0"/>
          </a:p>
        </p:txBody>
      </p:sp>
      <p:sp>
        <p:nvSpPr>
          <p:cNvPr id="15" name="Text 13"/>
          <p:cNvSpPr txBox="1"/>
          <p:nvPr/>
        </p:nvSpPr>
        <p:spPr>
          <a:xfrm>
            <a:off x="457200" y="3401568"/>
            <a:ext cx="1645920" cy="457200"/>
          </a:xfrm>
          <a:prstGeom prst="rect">
            <a:avLst/>
          </a:prstGeom>
          <a:noFill/>
          <a:ln/>
        </p:spPr>
        <p:txBody>
          <a:bodyPr wrap="square" lIns="0" tIns="0" rIns="0" bIns="0" rtlCol="0" anchor="ctr"/>
          <a:lstStyle/>
          <a:p>
            <a:pPr indent="0" marL="0">
              <a:buNone/>
            </a:pPr>
            <a:r>
              <a:rPr lang="en-US" sz="1200" b="1" dirty="0">
                <a:solidFill>
                  <a:srgbClr val="0FA3B1"/>
                </a:solidFill>
                <a:latin typeface="Arial" pitchFamily="34" charset="0"/>
                <a:ea typeface="Arial" pitchFamily="34" charset="-122"/>
                <a:cs typeface="Arial" pitchFamily="34" charset="-120"/>
              </a:rPr>
              <a:t>Then</a:t>
            </a:r>
            <a:endParaRPr lang="en-US" sz="1200" dirty="0"/>
          </a:p>
        </p:txBody>
      </p:sp>
      <p:sp>
        <p:nvSpPr>
          <p:cNvPr id="16" name="Text 14"/>
          <p:cNvSpPr txBox="1"/>
          <p:nvPr/>
        </p:nvSpPr>
        <p:spPr>
          <a:xfrm>
            <a:off x="2103120" y="3401568"/>
            <a:ext cx="6583680" cy="45720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Phase 2: NDTJob what-if, KPI-based gates, telemetry, verify and rollback.</a:t>
            </a:r>
            <a:endParaRPr lang="en-US" sz="1200" dirty="0"/>
          </a:p>
        </p:txBody>
      </p:sp>
      <p:sp>
        <p:nvSpPr>
          <p:cNvPr id="17" name="Text 15"/>
          <p:cNvSpPr txBox="1"/>
          <p:nvPr/>
        </p:nvSpPr>
        <p:spPr>
          <a:xfrm>
            <a:off x="457200" y="3968496"/>
            <a:ext cx="1645920" cy="457200"/>
          </a:xfrm>
          <a:prstGeom prst="rect">
            <a:avLst/>
          </a:prstGeom>
          <a:noFill/>
          <a:ln/>
        </p:spPr>
        <p:txBody>
          <a:bodyPr wrap="square" lIns="0" tIns="0" rIns="0" bIns="0" rtlCol="0" anchor="ctr"/>
          <a:lstStyle/>
          <a:p>
            <a:pPr indent="0" marL="0">
              <a:buNone/>
            </a:pPr>
            <a:r>
              <a:rPr lang="en-US" sz="1200" b="1" dirty="0">
                <a:solidFill>
                  <a:srgbClr val="0FA3B1"/>
                </a:solidFill>
                <a:latin typeface="Arial" pitchFamily="34" charset="0"/>
                <a:ea typeface="Arial" pitchFamily="34" charset="-122"/>
                <a:cs typeface="Arial" pitchFamily="34" charset="-120"/>
              </a:rPr>
              <a:t>Ask</a:t>
            </a:r>
            <a:endParaRPr lang="en-US" sz="1200" dirty="0"/>
          </a:p>
        </p:txBody>
      </p:sp>
      <p:sp>
        <p:nvSpPr>
          <p:cNvPr id="18" name="Text 16"/>
          <p:cNvSpPr txBox="1"/>
          <p:nvPr/>
        </p:nvSpPr>
        <p:spPr>
          <a:xfrm>
            <a:off x="2103120" y="3968496"/>
            <a:ext cx="6583680" cy="45720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Lab time on cersrv-029 and the MH-T261 to measure the real loop.</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CER-Intent Digital Twin: As-Built</dc:title>
  <dc:subject>PptxGenJS Presentation</dc:subject>
  <dc:creator>PptxGenJS</dc:creator>
  <cp:lastModifiedBy>PptxGenJS</cp:lastModifiedBy>
  <cp:revision>1</cp:revision>
  <dcterms:created xsi:type="dcterms:W3CDTF">2026-09-30T13:25:25Z</dcterms:created>
  <dcterms:modified xsi:type="dcterms:W3CDTF">2026-09-30T13:25:25Z</dcterms:modified>
</cp:coreProperties>
</file>