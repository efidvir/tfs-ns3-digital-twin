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B1D33"/>
                </a:solidFill>
                <a:latin typeface="Arial"/>
              </a:defRPr>
            </a:pPr>
            <a:r>
              <a:rPr sz="1100" b="0" i="0" u="none" strike="noStrike">
                <a:solidFill>
                  <a:srgbClr val="0B1D33"/>
                </a:solidFill>
                <a:latin typeface="Arial"/>
              </a:rPr>
              <a:t>Architect strategies chosen (audit log)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Plans</c:v>
                </c:pt>
              </c:strCache>
            </c:strRef>
          </c:tx>
          <c:spPr>
            <a:solidFill>
              <a:srgbClr val="7C5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2B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MRMC Script Upgrade</c:v>
                  </c:pt>
                  <c:pt idx="1">
                    <c:v>1+1 HSB Protection</c:v>
                  </c:pt>
                  <c:pt idx="2">
                    <c:v>ACM Floor Hardening Rain</c:v>
                  </c:pt>
                  <c:pt idx="3">
                    <c:v>TX Power Adjustment</c:v>
                  </c:pt>
                  <c:pt idx="4">
                    <c:v>Network Already Efficient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22</c:v>
                </c:pt>
                <c:pt idx="1">
                  <c:v>9</c:v>
                </c:pt>
                <c:pt idx="2">
                  <c:v>6</c:v>
                </c:pt>
                <c:pt idx="3">
                  <c:v>4</c:v>
                </c:pt>
                <c:pt idx="4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2B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1A2B3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B1D33"/>
                </a:solidFill>
                <a:latin typeface="Arial"/>
              </a:defRPr>
            </a:pPr>
            <a:r>
              <a:rPr sz="1100" b="0" i="0" u="none" strike="noStrike">
                <a:solidFill>
                  <a:srgbClr val="0B1D33"/>
                </a:solidFill>
                <a:latin typeface="Arial"/>
              </a:rPr>
              <a:t>Configuration applies by backend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Succeeded</c:v>
                </c:pt>
              </c:strCache>
            </c:strRef>
          </c:tx>
          <c:spPr>
            <a:solidFill>
              <a:srgbClr val="22A06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TeraFlow</c:v>
                  </c:pt>
                  <c:pt idx="1">
                    <c:v>Simulated</c:v>
                  </c:pt>
                  <c:pt idx="2">
                    <c:v>IP50CXML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1026</c:v>
                </c:pt>
                <c:pt idx="1">
                  <c:v>80</c:v>
                </c:pt>
                <c:pt idx="2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Failed</c:v>
                </c:pt>
              </c:strCache>
            </c:strRef>
          </c:tx>
          <c:spPr>
            <a:solidFill>
              <a:srgbClr val="D6454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TeraFlow</c:v>
                  </c:pt>
                  <c:pt idx="1">
                    <c:v>Simulated</c:v>
                  </c:pt>
                  <c:pt idx="2">
                    <c:v>IP50CXML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35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2B3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6EB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B7D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B1D33"/>
                </a:solidFill>
                <a:latin typeface="Arial"/>
              </a:defRPr>
            </a:pPr>
            <a:r>
              <a:rPr sz="1100" b="0" i="0" u="none" strike="noStrike">
                <a:solidFill>
                  <a:srgbClr val="0B1D33"/>
                </a:solidFill>
                <a:latin typeface="Arial"/>
              </a:rPr>
              <a:t>Intents parsed per month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Intents</c:v>
                </c:pt>
              </c:strCache>
            </c:strRef>
          </c:tx>
          <c:spPr>
            <a:solidFill>
              <a:srgbClr val="7C5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2B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2026-04</c:v>
                  </c:pt>
                  <c:pt idx="1">
                    <c:v>2026-06</c:v>
                  </c:pt>
                  <c:pt idx="2">
                    <c:v>2026-07</c:v>
                  </c:pt>
                  <c:pt idx="3">
                    <c:v>2026-09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1</c:v>
                </c:pt>
                <c:pt idx="2">
                  <c:v>6</c:v>
                </c:pt>
                <c:pt idx="3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2B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1A2B3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0B1D33"/>
                </a:solidFill>
                <a:latin typeface="Arial"/>
              </a:defRPr>
            </a:pPr>
            <a:r>
              <a:rPr sz="1050" b="0" i="0" u="none" strike="noStrike">
                <a:solidFill>
                  <a:srgbClr val="0B1D33"/>
                </a:solidFill>
                <a:latin typeface="Arial"/>
              </a:rPr>
              <a:t>Hop-1 rate vs rain attenuation (Mbps, scenario rule)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Rate</c:v>
                </c:pt>
              </c:strCache>
            </c:strRef>
          </c:tx>
          <c:spPr>
            <a:solidFill>
              <a:srgbClr val="22A06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2B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2A06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912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8912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8912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64545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0 dB</c:v>
                  </c:pt>
                  <c:pt idx="1">
                    <c:v>&lt; 8 dB</c:v>
                  </c:pt>
                  <c:pt idx="2">
                    <c:v>8–15 dB</c:v>
                  </c:pt>
                  <c:pt idx="3">
                    <c:v>15–25 dB</c:v>
                  </c:pt>
                  <c:pt idx="4">
                    <c:v>≥ 25 dB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1000</c:v>
                </c:pt>
                <c:pt idx="1">
                  <c:v>750</c:v>
                </c:pt>
                <c:pt idx="2">
                  <c:v>500</c:v>
                </c:pt>
                <c:pt idx="3">
                  <c:v>250</c:v>
                </c:pt>
                <c:pt idx="4">
                  <c:v>100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2B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A2B3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deck documents the system as it is built, not as it was first pitched. Each capability carries one of four statuses: IMPLEMENTED (works end to end in code), PARTIAL (real code with known limits), MOCK (the UI or API returns hard-coded or simulated values), PLANNED (only in docs or slides).
Sources: code review of efidvir/cer-intent (commit f2c3fea), efidvir/tfs-ns3-digital-twin (a9ccad6) and efidvir/teraflowsdn (1e91cf2), plus the CER-Intent audit log data/audit_log.jsonl. Numbers on the operating-data slide are produced by docs/deck/audit_stats.py.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Unchanged from the earlier deck: the four parts run on timescales from microseconds (ns-3 events) to days (operator intent). The adapters described next translate protocol and time between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CER-Intent (cer-intent/run.py, cer_intent/api/server.py) serves REST and Socket.IO on :5000 and writes to TeraFlowSDN with PUT /tfs-api/device/{uuid} carrying CONFIGACTION_SET rules (cer_intent/device/adapter.py TeraFlowAdapter, device/tfs_client.py). Clients default to TERAFLOW_URL=http://localhost:8088; the TFS NBI service listens on 8080 (teraflowsdn/manifests/nbiservice.yaml), so 8088 is a local port-forward or proxy.
TeraFlowSDN is deployed with microk8s via my_deploy.sh with only context, device, pathcomp, service, nbi and webui. The Ceragon driver (DEVICEDRIVER_CERAGON = 22) pushes RESTCONF to the MH-T261 at 192.168.1.225 (manifests/ceragon_mh_t261_descriptor.json).
ns-3.45 runs on cersrv-029: tsn_simulation_runner.py SSHes to efid@cersrv-029 and parses JSON between ===TSN_METRICS_START/END===. If SSH fails, it returns constants that are still labelled as ns-3 output, hence PARTIAL.
tfs_digital_twin_api.py (:9100) computes what-if results with closed-form formulas; ns3_tfs_runtime_bridge.py (:9099) polls TFS every second and writes ns3_link_state.json, which no ns-3 program reads. Hence MOCK.
The red dashed path: the dashboard's 'physical write' is a GET of https://192.168.1.225:80/restconf/ds/ietf-datastores:candidate used as a health probe (web_dashboard.py, cer_intent/api/digital_twin_routes.py).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cer-intent: core package cer_intent/ (parser, schema, validator, yang_builder, translators, architect, device adapters, assurance, api). tfs_unity/ is a copy of the tfs-ns3-digital-twin repo; ceragon_tfs_adapter/ is an installable package; tfs_upstream_contribution/ holds the proposed TFS driver patch.
tfs-ns3-digital-twin: Python modules exist at the repo root and again in src/. Five are identical; tsn_simulation_runner.py has diverged (404 lines at root, 236 in src/). Tests: 22 pass (python -m pytest tests).
teraflowsdn: one squashed commit. Custom code is src/device/service/drivers/ceragon/ (CeragonDriver.py, client.py, templates.py, models.py, Tools.py, 51 YANG files), proto enum DEVICEDRIVER_CERAGON = 22, device type ceragon-wireless, and two descriptors in manifests/. The README calls this TFS 7.0; the code does not confirm a 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Parse (cer_intent/intent_parser.py): Google Gemini (GEMINI_MODEL, default gemini-1.5-flash) with a schema prompt and three few-shot examples; without a key it falls back to regex/keyword rules; JSON input skips parsing. Eight intent types: capacity, qos, modulation, resilience, slice, energy, sync, security (intent_schema.py, Pydantic).
2 Validate (intent_validator.py): topology and the DEVICE_CAPABILITIES hardware matrix.
3 Plan (architect/agent.py): nine rule-based skills score strategies by a heuristic confidence; the conflict resolver is a mock with time.sleep(0.1). PARTIAL because the 'AI architect' is rules, not a model.
4 Approve: POST /api/v1/intent returns 202 awaiting_approval unless always_apply; POST /intents/&lt;id&gt;/approve resumes.
5 Apply: ArchitectExecutor or legacy translators, then adapter.apply_all (TeraFlowAdapter, DirectRESTAdapter, SimulatedAdapter, IP-50C XML).
Chart: counts of 'Architect plan created: &lt;strategy&gt;' events in data/audit_log.jsonl (audit_stats.py). Quotes are verbatim inputs from the same log.
Roadmap: add pluggable parsers (on-prem Qwen, Claude) next to Gemini, and grow the skill bank to cover more transport knowledge.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numbers come from cer-intent/data/audit_log.jsonl (1,444 events, 2026-04-13 – 2026-09-23) via docs/deck/audit_stats.py.
TeraFlowAdapter: 1026 succeeded, 35 failed. Failures: 'Cannot reach TeraFlow SDN at http://localhost:8088' (32) and HTTP 500 from the NBI (3). 'Succeeded' means the TFS NBI accepted the config rule; it does not prove the radio changed, because the Ceragon driver's read-back is canned (see the hardware slide).
SimulatedAdapter 80 and IP-50C XML 2 applies are local simulations or files.
Parse-to-last-apply is measured only for the 22 intents whose applies carry the intent id; the median is 396 ms and the maximum 1076 s, because the long spans include waiting for human approval.
One drift event was recorded: 'SNR 11.9 dB on link-A-F may not sustain min modulation 64QAM' (the reconciler works on synthetic telemetry).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Deployed components: teraflowsdn/my_deploy.sh exports TFS_COMPONENTS='context device pathcomp service nbi webui'. Ports from manifests/*service.yaml: context 1010, device 2020, service 3030, pathcomp 10020, nbi 8080, webui 8004.
Not deployed but available in the tree: monitoring 7070, kpi_manager 30010, kpi_value_api/writer 30020/30030, telemetry 30050/30060, analytics 30080/30090, automation 30200, forecaster 10040, plus Kafka. These are the natural hosts for streamed KPIs and Python analytics.
The old dashboard's gRPC ports 10010/10020/10030/10040 come from mock JSON in web_dashboard.py get_tfs_microservice_state() and cer_intent/api/digital_twin_routes.py.
NBI calls: cer_intent/device/tfs_client.py and tfs_api_client.py. Writes are PUT /tfs-api/device/{uuid} with CONFIGACTION_SET custom rules; slices go to POST /tfs-api/context/admin/slices. The dashboard's POST /tfs-api/device/{uuid}/config is not a TFS endpoint.
Ceragon: proto/context.proto DEVICEDRIVER_CERAGON = 22; src/device/service/drivers/__init__.py registers it (needs LOAD_ALL_DEVICE_DRIVERS); descriptor manifests/ceragon_mh_t261_descriptor.json. The WebUI device form has no Ceragon checkbox, so devices are added by descriptor.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Scenario: tfs-ns3-digital-twin/simulation/tsn_wifi_ceragon.cc (ns-3.45). Two stations to two 802.11n APs (HtMcs7), then C0 -60 GHz 1 Gbps 0.15 ms- C1 -10 Gbps 0.02 ms- C2 -80 GHz 10 Gbps 0.10 ms- C3 to the sink.
Traffic: TSN flow 128 B at 1.024 Mbps (one packet per ms) with ToS 0xC0, mapped to PfifoFast band 0 and Wi-Fi AC_VO. There is no 802.1Q VLAN/PCP tagging in the simulation; the 'PCP 6' label in the old deck comes from dashboard mock JSON. Best effort: 1400 B at 150 Mbps times the surge factor.
Rain: rainLossDb steps hop-1 rate to 750/500/250/100 Mbps at the 8/15/25 dB thresholds; this is a rule, not an ACM model. FlowMonitor results are printed as JSON between ===TSN_METRICS_START/END=== and parsed by tsn_simulation_runner.py over SSH (efid@cersrv-029, 25 s timeout). The Wi-Fi contention, retry and airtime numbers in that JSON are hard-coded.
Fallback: if SSH fails the runner returns constants (0.93 ms TSN with QoS, 6.83 / 8.12 ms without) and still labels them as ns-3 output. MOCK.
Second path: tfs_topology_to_ns3.py generates a C++ program from the TFS topology (one point-to-point link per TFS link, /30 subnets, optional 500 Mbps OnOff traffic, NetAnim). It produces no metrics yet.
The simulation resolution governor (simulation_resolution_governor.py) picks a tier and scales node counts; its per-tier latencies (75, 350, 650, 1150, 35 ms) are constants, not measurements.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teraflowsdn/src/device/service/drivers/ceragon/client.py: stage_candidate() PATCHes /restconf/ds/ietf-datastores:candidate; on failure apply_* calls discard_candidate() (POST /restconf/operations/ietf-netconf:discard-changes); otherwise commit_candidate() POSTs /restconf/operations/ietf-netconf:commit. Payloads come from templates.py: radio-bridge-tg:radio, ietf-interfaces sub-interfaces for VLAN slices, radio-bridge-tg-acm:acm-configuration for the ACM floor. CeragonDriver.SetConfig routes by resource key (/radio, /frequency, /operating_parameters, /slice, /vlan, /modulation, /acm, /rain).
Gaps: there is no verification after commit and no rollback of a committed change. get_device_state() (lines 95-195) returns hard-coded values (60.48 GHz, SNR 28.5, RSSI -42) and discards the live ietf-interfaces GET. SubscribeState/UnsubscribeState/DeleteConfig return True without doing anything.
Key mismatch: CER-Intent sends /interface[name=...]/modulation with min/max modulation, while the driver's modulation branch reads mrmc_script_id, tx_frequency and tx_power_dbm. Most intents therefore change nothing on the radio.
The old deck's 'two-phase commit with automatic rollback', the four pre-flight gates and the RESTCONF wire log came from static JSON in web_dashboard.py and cer_intent/api/digital_twin_routes.py (which also label the device 'siklu-radio').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Today: cer_intent/assurance/telemetry_simulator.py generates sinusoidal load and SNR every 5 s; assurance/reconciler.py checks every 10 s (capacity below 80% of target with utilisation above 90%, latency more than 5 ms over target, SNR below 12 dB) and sets DRIFT plus a Socket.IO intent_drift event. It never re-applies; REMEDIATED is never set. The architect receives empty telemetry because app.telemetry_snapshot is never set.
Target: every candidate change becomes an ns-3 what-if job, the pre-flight gates are computed from its KPIs instead of constant PASS strings, the driver commits, live telemetry verifies the result, and a committed change is rolled back if KPIs regress. The old '~1.9–2.2 s end-to-end' figure is not backed by any log; measure the real loop time once it exists.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RFC 8040: teraflowsdn/src/device/service/drivers/ceragon/client.py and cer-intent/ceragon_tfs_adapter. RFC 7950: 51 YANG files in drivers/ceragon/schemas/yang (radio-bridge-tg-*, IEEE 802.1Q, IETF, Clixon). RFC 8345: TFS has an ietf_network NBI plugin (src/nbi/service/ietf_network) but CER-Intent reads TFS's own topology_details JSON instead.
RFC 6241: cer_intent/yang_builder.py builds NETCONF XML; ncclient is a dependency but never used to send it.
TMF921: CER-Intent's intent model is a custom Pydantic schema; tfs_digital_twin_api.py POST /api/v1/tmf/tmf921/intent stores the payload and returns 'acknowledged' with no TMF resource model or lifecycle. TMF639 is a minimal GET projection.
TS 28.561: only the NDTI states (NULL, INITIALIZING, SYNCHRONIZED, UPDATING, EXECUTING_EXPERIMENT, TERMINATED) in tfs_digital_twin_api.py; the NdtJob model exists only in generate_deck.py. CAPIF: a static JSON descriptor without OAuth or mTLS.
Y.3090 is a label on /dti/sync; Y.3092 and Q.5040 appear only in slides and a commit message. YANG-Push and gNMI are claimed in docs only. P.838: approximate k and alpha at 60 GHz in formulas.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Where the TFS to ns-3 link should go. Job control: 3GPP TS 28.561 models each what-if as an NDTJob managed through TS 28.532 REST operations (ITU-T Y.3092 NDT-m). State sync: TFS already ships KPI manager, telemetry and Kafka components that are not yet deployed; YANG-Push (RFC 8641) or gNMI would feed them from the radios (Y.3092 NDT-p). Shared models: TFS's ietf_network NBI plugin exposes RFC 8345 topology, which the ns-3 generator could read instead of TFS's own JSON.
Emerging: 3GPP Release 20 NDT phase 2 (study TR 28.883), ITU-T Q.SDTN (SG11, under study, target around December 2026), Y.3093/Y.3094, IRTF NMRG drafts, O-RAN nGRG digital-twin research.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tsn_simulation_runner.py returns constants when SSH fails and labels them 'ns-3.45-discrete-event (Simulation Engine)'.
2. The run-loop POSTs to /tfs-api/device/{uuid}/config (not a TFS endpoint) and sets applied_to_tfs = True on exception (cer_intent/api/digital_twin_routes.py, web_dashboard.py). The TFS status check counts HTTP 404/500 as ONLINE.
3. CER-Intent sends /interface[name=...]/modulation {min,max}; the driver reads mrmc_script_id, tx_frequency, tx_power_dbm and /device/operating_parameters frequency_mhz, tx_power_dbm.
4. ceragon/client.py get_device_state() returns hard-coded MH-T261 values.
5. Descriptors and defaults use admin/admin over HTTP; requests use verify=False; the restconf-wire endpoint echoes credentials; CORS * and Flask debug on by default.
6. SubscribeState/UnsubscribeState return True.
7. telemetry_simulator.py is sinusoidal; reconciler never re-applies.
8. validate_and_close_loop passes target_ghz (64.8) as frequency_mhz and 2000 as channel_id.
9. No tests for cer_intent/ (only ceragon_tfs_adapter and the driver patch have tests).
10. Root and src/ copies (tsn_simulation_runner diverged), tfs_unity/ vendored copy, c:\CER_Intent paths in several modules, ns-3 host hard-coded to efid@cersrv-029.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1 closes the high-risk gaps in the gap register so the demo shows only real or labelled data.
Phase 2 turns the what-if into a real job: expose ns-3 runs through a TS 28.561-style NDTJob API, compute the pre-flight gates from the simulated KPIs, stream radio telemetry into TFS's KPI/telemetry/Kafka components, verify after commit and roll back on regression. Add pluggable intent parsers next to Gemini: an on-prem Qwen model for air-gapped sites and Claude via the Anthropic API, selected by configuration with the regex parser as the last fallback. Then measure the true end-to-end loop time.
Phase 3: expand the architect's skill bank well beyond today's nine skills to cover transport knowledge (ACM and MRMC planning, rain and multipath fade margins, XPIC and space diversity, 1+1 HSB and ring protection, LAG and multi-band aggregation, QoS and slicing, synchronisation, energy saving, capacity planning). Feed the ns-3 generator from RFC 8345 topology, split twin interfaces per Y.3092, and wrap scenarios as ns3-ai Gymnasium environments so RL agents (for example the MARL-RIC MAPPO policy) train and are gated per TS 28.105 and Y.3181 before deployment.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today: the intent pipeline with Gemini and rule parsing, the TFS NBI integration, the ns-3.45 TSN scenario over SSH, the TFS to ns-3 generator and the Ceragon RESTCONF stage/commit/discard driver. The gap register lists what is mocked. The roadmap turns the demo into a working closed loop.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image" Target="../media/image-4-13.png"/><Relationship Id="rId14" Type="http://schemas.openxmlformats.org/officeDocument/2006/relationships/image" Target="../media/image-4-14.png"/><Relationship Id="rId15" Type="http://schemas.openxmlformats.org/officeDocument/2006/relationships/image" Target="../media/image-4-15.png"/><Relationship Id="rId16" Type="http://schemas.openxmlformats.org/officeDocument/2006/relationships/image" Target="../media/image-4-16.png"/><Relationship Id="rId17" Type="http://schemas.openxmlformats.org/officeDocument/2006/relationships/image" Target="../media/image-4-17.png"/><Relationship Id="rId18" Type="http://schemas.openxmlformats.org/officeDocument/2006/relationships/image" Target="../media/image-4-18.png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chart" Target="/ppt/charts/chart1.xml"/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7772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FA3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TELECOM DIGITAL TWIN · AS-BUILT REVIEW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CER-Intent Digital Twin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5740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what works today, and the roadmap for TeraFlowSDN, ns-3 and Ceragon microwave hardware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960120" cy="201168"/>
          </a:xfrm>
          <a:prstGeom prst="roundRect">
            <a:avLst>
              <a:gd name="adj" fmla="val 50000"/>
            </a:avLst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017520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IMPLEMENTED</a:t>
            </a:r>
            <a:endParaRPr lang="en-US" sz="7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30175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end to end in code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3310128"/>
            <a:ext cx="960120" cy="201168"/>
          </a:xfrm>
          <a:prstGeom prst="roundRect">
            <a:avLst>
              <a:gd name="adj" fmla="val 50000"/>
            </a:avLst>
          </a:prstGeom>
          <a:solidFill>
            <a:srgbClr val="E8912D"/>
          </a:solidFill>
          <a:ln w="12700">
            <a:solidFill>
              <a:srgbClr val="E8912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310128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PARTIAL</a:t>
            </a:r>
            <a:endParaRPr lang="en-US" sz="7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331012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code, with limits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3602736"/>
            <a:ext cx="960120" cy="201168"/>
          </a:xfrm>
          <a:prstGeom prst="roundRect">
            <a:avLst>
              <a:gd name="adj" fmla="val 50000"/>
            </a:avLst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602736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MOCK</a:t>
            </a:r>
            <a:endParaRPr lang="en-US" sz="700" dirty="0"/>
          </a:p>
        </p:txBody>
      </p:sp>
      <p:sp>
        <p:nvSpPr>
          <p:cNvPr id="13" name="Text 11"/>
          <p:cNvSpPr txBox="1"/>
          <p:nvPr/>
        </p:nvSpPr>
        <p:spPr>
          <a:xfrm>
            <a:off x="1645920" y="360273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hard-coded or simulated output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895344"/>
            <a:ext cx="96012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9AA7B4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54864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5A6B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7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389534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or docs only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5262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cer-intent @f2c3fea · tfs-ns3-digital-twin @a9ccad6 · teraflowsdn @1e91cf2 · September 2026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583680" y="1051560"/>
            <a:ext cx="0" cy="2743200"/>
          </a:xfrm>
          <a:prstGeom prst="line">
            <a:avLst/>
          </a:prstGeom>
          <a:noFill/>
          <a:ln w="25400">
            <a:solidFill>
              <a:srgbClr val="3A5575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6309360" y="777240"/>
            <a:ext cx="548640" cy="5486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914400"/>
            <a:ext cx="274320" cy="27432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022592" y="82296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CER-Intent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022592" y="106984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→ config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6309360" y="1691640"/>
            <a:ext cx="548640" cy="548640"/>
          </a:xfrm>
          <a:prstGeom prst="ellipse">
            <a:avLst/>
          </a:prstGeom>
          <a:solidFill>
            <a:srgbClr val="0FA3B1"/>
          </a:solidFill>
          <a:ln w="12700">
            <a:solidFill>
              <a:srgbClr val="0FA3B1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828800"/>
            <a:ext cx="274320" cy="274320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7022592" y="173736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TeraFlowSDN</a:t>
            </a:r>
            <a:endParaRPr lang="en-US" sz="1300" dirty="0"/>
          </a:p>
        </p:txBody>
      </p:sp>
      <p:sp>
        <p:nvSpPr>
          <p:cNvPr id="26" name="Text 22"/>
          <p:cNvSpPr txBox="1"/>
          <p:nvPr/>
        </p:nvSpPr>
        <p:spPr>
          <a:xfrm>
            <a:off x="7022592" y="198424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SDN controller</a:t>
            </a:r>
            <a:endParaRPr lang="en-US" sz="1050" dirty="0"/>
          </a:p>
        </p:txBody>
      </p:sp>
      <p:sp>
        <p:nvSpPr>
          <p:cNvPr id="27" name="Shape 23"/>
          <p:cNvSpPr/>
          <p:nvPr/>
        </p:nvSpPr>
        <p:spPr>
          <a:xfrm>
            <a:off x="6309360" y="2606040"/>
            <a:ext cx="548640" cy="548640"/>
          </a:xfrm>
          <a:prstGeom prst="ellipse">
            <a:avLst/>
          </a:prstGeom>
          <a:solidFill>
            <a:srgbClr val="E8912D"/>
          </a:solidFill>
          <a:ln w="12700">
            <a:solidFill>
              <a:srgbClr val="E8912D"/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2743200"/>
            <a:ext cx="274320" cy="274320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7022592" y="265176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ns-3.45</a:t>
            </a:r>
            <a:endParaRPr lang="en-US" sz="1300" dirty="0"/>
          </a:p>
        </p:txBody>
      </p:sp>
      <p:sp>
        <p:nvSpPr>
          <p:cNvPr id="30" name="Text 25"/>
          <p:cNvSpPr txBox="1"/>
          <p:nvPr/>
        </p:nvSpPr>
        <p:spPr>
          <a:xfrm>
            <a:off x="7022592" y="289864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discrete-event twin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6309360" y="3520440"/>
            <a:ext cx="548640" cy="548640"/>
          </a:xfrm>
          <a:prstGeom prst="ellipse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3657600"/>
            <a:ext cx="274320" cy="274320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7022592" y="356616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Ceragon MH-T261</a:t>
            </a:r>
            <a:endParaRPr lang="en-US" sz="1300" dirty="0"/>
          </a:p>
        </p:txBody>
      </p:sp>
      <p:sp>
        <p:nvSpPr>
          <p:cNvPr id="34" name="Text 28"/>
          <p:cNvSpPr txBox="1"/>
          <p:nvPr/>
        </p:nvSpPr>
        <p:spPr>
          <a:xfrm>
            <a:off x="7022592" y="381304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GHz radio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FA3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D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components, four languages, four clocks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564978" y="1234440"/>
            <a:ext cx="0" cy="2880360"/>
          </a:xfrm>
          <a:prstGeom prst="line">
            <a:avLst/>
          </a:prstGeom>
          <a:noFill/>
          <a:ln w="9525">
            <a:solidFill>
              <a:srgbClr val="D5DD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199218" y="41605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µs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924753" y="1234440"/>
            <a:ext cx="0" cy="2880360"/>
          </a:xfrm>
          <a:prstGeom prst="line">
            <a:avLst/>
          </a:prstGeom>
          <a:noFill/>
          <a:ln w="9525">
            <a:solidFill>
              <a:srgbClr val="D5DDE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58993" y="41605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84529" y="1234440"/>
            <a:ext cx="0" cy="2880360"/>
          </a:xfrm>
          <a:prstGeom prst="line">
            <a:avLst/>
          </a:prstGeom>
          <a:noFill/>
          <a:ln w="9525">
            <a:solidFill>
              <a:srgbClr val="D5DD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18769" y="41605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090492" y="1234440"/>
            <a:ext cx="0" cy="2880360"/>
          </a:xfrm>
          <a:prstGeom prst="line">
            <a:avLst/>
          </a:prstGeom>
          <a:noFill/>
          <a:ln w="9525">
            <a:solidFill>
              <a:srgbClr val="D5DD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724732" y="41605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896454" y="1234440"/>
            <a:ext cx="0" cy="2880360"/>
          </a:xfrm>
          <a:prstGeom prst="line">
            <a:avLst/>
          </a:prstGeom>
          <a:noFill/>
          <a:ln w="9525">
            <a:solidFill>
              <a:srgbClr val="D5DD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530694" y="41605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522047" y="1234440"/>
            <a:ext cx="0" cy="2880360"/>
          </a:xfrm>
          <a:prstGeom prst="line">
            <a:avLst/>
          </a:prstGeom>
          <a:noFill/>
          <a:ln w="9525">
            <a:solidFill>
              <a:srgbClr val="D5DDE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156287" y="41605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day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429000" y="4114800"/>
            <a:ext cx="5257800" cy="0"/>
          </a:xfrm>
          <a:prstGeom prst="line">
            <a:avLst/>
          </a:prstGeom>
          <a:noFill/>
          <a:ln w="12700">
            <a:solidFill>
              <a:srgbClr val="5A6B7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429000" y="4407408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timescale (log)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1417320"/>
            <a:ext cx="457200" cy="45720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" y="1531620"/>
            <a:ext cx="228600" cy="22860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51560" y="13990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2B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Intent (CER-Intent)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1051560" y="165506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language / JSON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7090492" y="1481328"/>
            <a:ext cx="1431555" cy="329184"/>
          </a:xfrm>
          <a:prstGeom prst="roundRect">
            <a:avLst>
              <a:gd name="adj" fmla="val 22222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090492" y="1481328"/>
            <a:ext cx="14315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 – days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457200" y="2103120"/>
            <a:ext cx="457200" cy="457200"/>
          </a:xfrm>
          <a:prstGeom prst="ellipse">
            <a:avLst/>
          </a:prstGeom>
          <a:solidFill>
            <a:srgbClr val="0FA3B1"/>
          </a:solidFill>
          <a:ln w="12700">
            <a:solidFill>
              <a:srgbClr val="0FA3B1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2217420"/>
            <a:ext cx="228600" cy="228600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1051560" y="20848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2B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SDN (TeraFlowSDN)</a:t>
            </a:r>
            <a:endParaRPr lang="en-US" sz="1250" dirty="0"/>
          </a:p>
        </p:txBody>
      </p:sp>
      <p:sp>
        <p:nvSpPr>
          <p:cNvPr id="27" name="Text 23"/>
          <p:cNvSpPr txBox="1"/>
          <p:nvPr/>
        </p:nvSpPr>
        <p:spPr>
          <a:xfrm>
            <a:off x="1051560" y="234086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NBI · gRPC services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6148552" y="2167128"/>
            <a:ext cx="941940" cy="329184"/>
          </a:xfrm>
          <a:prstGeom prst="roundRect">
            <a:avLst>
              <a:gd name="adj" fmla="val 22222"/>
            </a:avLst>
          </a:prstGeom>
          <a:solidFill>
            <a:srgbClr val="0FA3B1"/>
          </a:solidFill>
          <a:ln w="12700">
            <a:solidFill>
              <a:srgbClr val="0FA3B1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148552" y="2167128"/>
            <a:ext cx="9419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seconds</a:t>
            </a:r>
            <a:endParaRPr lang="en-US" sz="1050" dirty="0"/>
          </a:p>
        </p:txBody>
      </p:sp>
      <p:sp>
        <p:nvSpPr>
          <p:cNvPr id="30" name="Shape 26"/>
          <p:cNvSpPr/>
          <p:nvPr/>
        </p:nvSpPr>
        <p:spPr>
          <a:xfrm>
            <a:off x="457200" y="2788920"/>
            <a:ext cx="457200" cy="457200"/>
          </a:xfrm>
          <a:prstGeom prst="ellipse">
            <a:avLst/>
          </a:prstGeom>
          <a:solidFill>
            <a:srgbClr val="E8912D"/>
          </a:solidFill>
          <a:ln w="12700">
            <a:solidFill>
              <a:srgbClr val="E8912D"/>
            </a:solidFill>
            <a:prstDash val="solid"/>
          </a:ln>
        </p:spPr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903220"/>
            <a:ext cx="228600" cy="228600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1051560" y="27706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2B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Simulator (ns-3.45)</a:t>
            </a:r>
            <a:endParaRPr lang="en-US" sz="1250" dirty="0"/>
          </a:p>
        </p:txBody>
      </p:sp>
      <p:sp>
        <p:nvSpPr>
          <p:cNvPr id="33" name="Text 28"/>
          <p:cNvSpPr txBox="1"/>
          <p:nvPr/>
        </p:nvSpPr>
        <p:spPr>
          <a:xfrm>
            <a:off x="1051560" y="302666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event queue</a:t>
            </a:r>
            <a:endParaRPr lang="en-US" sz="1050" dirty="0"/>
          </a:p>
        </p:txBody>
      </p:sp>
      <p:sp>
        <p:nvSpPr>
          <p:cNvPr id="34" name="Shape 29"/>
          <p:cNvSpPr/>
          <p:nvPr/>
        </p:nvSpPr>
        <p:spPr>
          <a:xfrm>
            <a:off x="3564978" y="2852928"/>
            <a:ext cx="1359776" cy="329184"/>
          </a:xfrm>
          <a:prstGeom prst="roundRect">
            <a:avLst>
              <a:gd name="adj" fmla="val 22222"/>
            </a:avLst>
          </a:prstGeom>
          <a:solidFill>
            <a:srgbClr val="E8912D"/>
          </a:solidFill>
          <a:ln w="12700">
            <a:solidFill>
              <a:srgbClr val="E8912D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3564978" y="2852928"/>
            <a:ext cx="1359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microseconds</a:t>
            </a:r>
            <a:endParaRPr lang="en-US" sz="1050" dirty="0"/>
          </a:p>
        </p:txBody>
      </p:sp>
      <p:sp>
        <p:nvSpPr>
          <p:cNvPr id="36" name="Shape 31"/>
          <p:cNvSpPr/>
          <p:nvPr/>
        </p:nvSpPr>
        <p:spPr>
          <a:xfrm>
            <a:off x="457200" y="3474720"/>
            <a:ext cx="457200" cy="457200"/>
          </a:xfrm>
          <a:prstGeom prst="ellipse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pic>
        <p:nvPicPr>
          <p:cNvPr id="3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3589020"/>
            <a:ext cx="228600" cy="228600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1051560" y="3456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2B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Radio (MH-T261)</a:t>
            </a:r>
            <a:endParaRPr lang="en-US" sz="1250" dirty="0"/>
          </a:p>
        </p:txBody>
      </p:sp>
      <p:sp>
        <p:nvSpPr>
          <p:cNvPr id="39" name="Text 33"/>
          <p:cNvSpPr txBox="1"/>
          <p:nvPr/>
        </p:nvSpPr>
        <p:spPr>
          <a:xfrm>
            <a:off x="1051560" y="371246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RESTCONF · PHY</a:t>
            </a:r>
            <a:endParaRPr lang="en-US" sz="1050" dirty="0"/>
          </a:p>
        </p:txBody>
      </p:sp>
      <p:sp>
        <p:nvSpPr>
          <p:cNvPr id="40" name="Shape 34"/>
          <p:cNvSpPr/>
          <p:nvPr/>
        </p:nvSpPr>
        <p:spPr>
          <a:xfrm>
            <a:off x="4018236" y="3538728"/>
            <a:ext cx="906517" cy="329184"/>
          </a:xfrm>
          <a:prstGeom prst="roundRect">
            <a:avLst>
              <a:gd name="adj" fmla="val 22222"/>
            </a:avLst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4018236" y="3538728"/>
            <a:ext cx="90651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sub-ms</a:t>
            </a:r>
            <a:endParaRPr lang="en-US" sz="1050" dirty="0"/>
          </a:p>
        </p:txBody>
      </p:sp>
      <p:sp>
        <p:nvSpPr>
          <p:cNvPr id="42" name="Shape 36"/>
          <p:cNvSpPr/>
          <p:nvPr/>
        </p:nvSpPr>
        <p:spPr>
          <a:xfrm>
            <a:off x="457200" y="4434840"/>
            <a:ext cx="2788920" cy="457200"/>
          </a:xfrm>
          <a:prstGeom prst="roundRect">
            <a:avLst>
              <a:gd name="adj" fmla="val 16000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566928" y="443484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Adapters </a:t>
            </a:r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 both the protocol and the clock between neighbours.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FA3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AS-BUILT ARCHITECTURE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D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actually wired together today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23774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9050">
            <a:solidFill>
              <a:srgbClr val="7C5C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362456"/>
            <a:ext cx="365760" cy="36576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453896"/>
            <a:ext cx="182880" cy="1828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05840" y="132588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2B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CER-Intent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156362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+ Socket.IO :5000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parser · architect · reconciler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1856232" y="1993392"/>
            <a:ext cx="868680" cy="201168"/>
          </a:xfrm>
          <a:prstGeom prst="roundRect">
            <a:avLst>
              <a:gd name="adj" fmla="val 50000"/>
            </a:avLst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856232" y="1993392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IMPLEMENTED</a:t>
            </a:r>
            <a:endParaRPr lang="en-US" sz="700" dirty="0"/>
          </a:p>
        </p:txBody>
      </p:sp>
      <p:sp>
        <p:nvSpPr>
          <p:cNvPr id="11" name="Shape 8"/>
          <p:cNvSpPr/>
          <p:nvPr/>
        </p:nvSpPr>
        <p:spPr>
          <a:xfrm>
            <a:off x="3383280" y="1234440"/>
            <a:ext cx="23774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9050">
            <a:solidFill>
              <a:srgbClr val="0FA3B1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493008" y="1362456"/>
            <a:ext cx="365760" cy="365760"/>
          </a:xfrm>
          <a:prstGeom prst="ellipse">
            <a:avLst/>
          </a:prstGeom>
          <a:solidFill>
            <a:srgbClr val="0FA3B1"/>
          </a:solidFill>
          <a:ln w="12700">
            <a:solidFill>
              <a:srgbClr val="0FA3B1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448" y="1453896"/>
            <a:ext cx="182880" cy="18288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931920" y="132588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2B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TeraFlowSDN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3931920" y="156362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microk8s · NBI :8080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use localhost:8088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4782312" y="1993392"/>
            <a:ext cx="868680" cy="201168"/>
          </a:xfrm>
          <a:prstGeom prst="roundRect">
            <a:avLst>
              <a:gd name="adj" fmla="val 50000"/>
            </a:avLst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782312" y="1993392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IMPLEMENTED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6309360" y="1234440"/>
            <a:ext cx="23774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9050">
            <a:solidFill>
              <a:srgbClr val="22A06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419088" y="1362456"/>
            <a:ext cx="365760" cy="365760"/>
          </a:xfrm>
          <a:prstGeom prst="ellipse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28" y="1453896"/>
            <a:ext cx="182880" cy="18288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858000" y="132588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2B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Ceragon MH-T261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6858000" y="156362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192.168.1.225 · RESTCONF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ctu-96</a:t>
            </a:r>
            <a:endParaRPr lang="en-US" sz="900" dirty="0"/>
          </a:p>
        </p:txBody>
      </p:sp>
      <p:sp>
        <p:nvSpPr>
          <p:cNvPr id="23" name="Shape 18"/>
          <p:cNvSpPr/>
          <p:nvPr/>
        </p:nvSpPr>
        <p:spPr>
          <a:xfrm>
            <a:off x="7708392" y="1993392"/>
            <a:ext cx="868680" cy="201168"/>
          </a:xfrm>
          <a:prstGeom prst="roundRect">
            <a:avLst>
              <a:gd name="adj" fmla="val 50000"/>
            </a:avLst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7708392" y="1993392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IMPLEMENTED</a:t>
            </a:r>
            <a:endParaRPr lang="en-US" sz="700" dirty="0"/>
          </a:p>
        </p:txBody>
      </p:sp>
      <p:sp>
        <p:nvSpPr>
          <p:cNvPr id="25" name="Shape 20"/>
          <p:cNvSpPr/>
          <p:nvPr/>
        </p:nvSpPr>
        <p:spPr>
          <a:xfrm>
            <a:off x="457200" y="3063240"/>
            <a:ext cx="23774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9050">
            <a:solidFill>
              <a:srgbClr val="E8912D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566928" y="3191256"/>
            <a:ext cx="365760" cy="365760"/>
          </a:xfrm>
          <a:prstGeom prst="ellipse">
            <a:avLst/>
          </a:prstGeom>
          <a:solidFill>
            <a:srgbClr val="E8912D"/>
          </a:solidFill>
          <a:ln w="12700">
            <a:solidFill>
              <a:srgbClr val="E8912D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282696"/>
            <a:ext cx="182880" cy="182880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1005840" y="315468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2B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ns-3.45 on cersrv-029</a:t>
            </a:r>
            <a:endParaRPr lang="en-US" sz="1100" dirty="0"/>
          </a:p>
        </p:txBody>
      </p:sp>
      <p:sp>
        <p:nvSpPr>
          <p:cNvPr id="29" name="Text 23"/>
          <p:cNvSpPr txBox="1"/>
          <p:nvPr/>
        </p:nvSpPr>
        <p:spPr>
          <a:xfrm>
            <a:off x="1005840" y="339242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tsn_wifi_ceragon scenario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SSH + JSON markers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1856232" y="3822192"/>
            <a:ext cx="868680" cy="201168"/>
          </a:xfrm>
          <a:prstGeom prst="roundRect">
            <a:avLst>
              <a:gd name="adj" fmla="val 50000"/>
            </a:avLst>
          </a:prstGeom>
          <a:solidFill>
            <a:srgbClr val="E8912D"/>
          </a:solidFill>
          <a:ln w="12700">
            <a:solidFill>
              <a:srgbClr val="E8912D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1856232" y="3822192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PARTIAL</a:t>
            </a:r>
            <a:endParaRPr lang="en-US" sz="700" dirty="0"/>
          </a:p>
        </p:txBody>
      </p:sp>
      <p:sp>
        <p:nvSpPr>
          <p:cNvPr id="32" name="Shape 26"/>
          <p:cNvSpPr/>
          <p:nvPr/>
        </p:nvSpPr>
        <p:spPr>
          <a:xfrm>
            <a:off x="3383280" y="3063240"/>
            <a:ext cx="23774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9050">
            <a:solidFill>
              <a:srgbClr val="14304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12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3493008" y="3191256"/>
            <a:ext cx="365760" cy="365760"/>
          </a:xfrm>
          <a:prstGeom prst="ellipse">
            <a:avLst/>
          </a:prstGeom>
          <a:solidFill>
            <a:srgbClr val="14304F"/>
          </a:solidFill>
          <a:ln w="12700">
            <a:solidFill>
              <a:srgbClr val="14304F"/>
            </a:solidFill>
            <a:prstDash val="solid"/>
          </a:ln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84448" y="3282696"/>
            <a:ext cx="182880" cy="18288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3931920" y="315468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2B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Twin API + bridge</a:t>
            </a:r>
            <a:endParaRPr lang="en-US" sz="1100" dirty="0"/>
          </a:p>
        </p:txBody>
      </p:sp>
      <p:sp>
        <p:nvSpPr>
          <p:cNvPr id="36" name="Text 29"/>
          <p:cNvSpPr txBox="1"/>
          <p:nvPr/>
        </p:nvSpPr>
        <p:spPr>
          <a:xfrm>
            <a:off x="3931920" y="339242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:9100 what-if = formulas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:9099 bridge output unused</a:t>
            </a:r>
            <a:endParaRPr lang="en-US" sz="900" dirty="0"/>
          </a:p>
        </p:txBody>
      </p:sp>
      <p:sp>
        <p:nvSpPr>
          <p:cNvPr id="37" name="Shape 30"/>
          <p:cNvSpPr/>
          <p:nvPr/>
        </p:nvSpPr>
        <p:spPr>
          <a:xfrm>
            <a:off x="4782312" y="3822192"/>
            <a:ext cx="868680" cy="201168"/>
          </a:xfrm>
          <a:prstGeom prst="roundRect">
            <a:avLst>
              <a:gd name="adj" fmla="val 50000"/>
            </a:avLst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4782312" y="3822192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MOCK</a:t>
            </a:r>
            <a:endParaRPr lang="en-US" sz="700" dirty="0"/>
          </a:p>
        </p:txBody>
      </p:sp>
      <p:sp>
        <p:nvSpPr>
          <p:cNvPr id="39" name="Shape 32"/>
          <p:cNvSpPr/>
          <p:nvPr/>
        </p:nvSpPr>
        <p:spPr>
          <a:xfrm>
            <a:off x="2834640" y="1645920"/>
            <a:ext cx="548640" cy="0"/>
          </a:xfrm>
          <a:prstGeom prst="line">
            <a:avLst/>
          </a:prstGeom>
          <a:noFill/>
          <a:ln w="22225">
            <a:solidFill>
              <a:srgbClr val="0B1D33"/>
            </a:solidFill>
            <a:prstDash val="solid"/>
            <a:headEnd type="none"/>
            <a:tailEnd type="triangle"/>
          </a:ln>
        </p:spPr>
      </p:sp>
      <p:sp>
        <p:nvSpPr>
          <p:cNvPr id="40" name="Text 33"/>
          <p:cNvSpPr txBox="1"/>
          <p:nvPr/>
        </p:nvSpPr>
        <p:spPr>
          <a:xfrm>
            <a:off x="2697480" y="141732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1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device</a:t>
            </a:r>
            <a:endParaRPr lang="en-US" sz="850" dirty="0"/>
          </a:p>
        </p:txBody>
      </p:sp>
      <p:sp>
        <p:nvSpPr>
          <p:cNvPr id="41" name="Shape 34"/>
          <p:cNvSpPr/>
          <p:nvPr/>
        </p:nvSpPr>
        <p:spPr>
          <a:xfrm>
            <a:off x="5760720" y="1645920"/>
            <a:ext cx="548640" cy="0"/>
          </a:xfrm>
          <a:prstGeom prst="line">
            <a:avLst/>
          </a:prstGeom>
          <a:noFill/>
          <a:ln w="22225">
            <a:solidFill>
              <a:srgbClr val="0B1D33"/>
            </a:solidFill>
            <a:prstDash val="solid"/>
            <a:headEnd type="none"/>
            <a:tailEnd type="triangle"/>
          </a:ln>
        </p:spPr>
      </p:sp>
      <p:sp>
        <p:nvSpPr>
          <p:cNvPr id="42" name="Text 35"/>
          <p:cNvSpPr txBox="1"/>
          <p:nvPr/>
        </p:nvSpPr>
        <p:spPr>
          <a:xfrm>
            <a:off x="5623560" y="141732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1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 22</a:t>
            </a:r>
            <a:endParaRPr lang="en-US" sz="850" dirty="0"/>
          </a:p>
        </p:txBody>
      </p:sp>
      <p:sp>
        <p:nvSpPr>
          <p:cNvPr id="43" name="Shape 36"/>
          <p:cNvSpPr/>
          <p:nvPr/>
        </p:nvSpPr>
        <p:spPr>
          <a:xfrm>
            <a:off x="1645920" y="2286000"/>
            <a:ext cx="0" cy="320040"/>
          </a:xfrm>
          <a:prstGeom prst="line">
            <a:avLst/>
          </a:prstGeom>
          <a:noFill/>
          <a:ln w="15875">
            <a:solidFill>
              <a:srgbClr val="D64545"/>
            </a:solidFill>
            <a:prstDash val="dash"/>
          </a:ln>
        </p:spPr>
      </p:sp>
      <p:sp>
        <p:nvSpPr>
          <p:cNvPr id="44" name="Shape 37"/>
          <p:cNvSpPr/>
          <p:nvPr/>
        </p:nvSpPr>
        <p:spPr>
          <a:xfrm>
            <a:off x="1645920" y="2606040"/>
            <a:ext cx="5852160" cy="0"/>
          </a:xfrm>
          <a:prstGeom prst="line">
            <a:avLst/>
          </a:prstGeom>
          <a:noFill/>
          <a:ln w="15875">
            <a:solidFill>
              <a:srgbClr val="D64545"/>
            </a:solidFill>
            <a:prstDash val="dash"/>
          </a:ln>
        </p:spPr>
      </p:sp>
      <p:sp>
        <p:nvSpPr>
          <p:cNvPr id="45" name="Shape 38"/>
          <p:cNvSpPr/>
          <p:nvPr/>
        </p:nvSpPr>
        <p:spPr>
          <a:xfrm flipV="1">
            <a:off x="7498080" y="2286000"/>
            <a:ext cx="0" cy="320040"/>
          </a:xfrm>
          <a:prstGeom prst="line">
            <a:avLst/>
          </a:prstGeom>
          <a:noFill/>
          <a:ln w="22225">
            <a:solidFill>
              <a:srgbClr val="D64545"/>
            </a:solidFill>
            <a:prstDash val="dash"/>
            <a:headEnd type="none"/>
            <a:tailEnd type="triangle"/>
          </a:ln>
        </p:spPr>
      </p:sp>
      <p:sp>
        <p:nvSpPr>
          <p:cNvPr id="46" name="Text 39"/>
          <p:cNvSpPr txBox="1"/>
          <p:nvPr/>
        </p:nvSpPr>
        <p:spPr>
          <a:xfrm>
            <a:off x="3931920" y="265176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GET of candidate datastore (health probe only)</a:t>
            </a:r>
            <a:endParaRPr lang="en-US" sz="850" dirty="0"/>
          </a:p>
        </p:txBody>
      </p:sp>
      <p:sp>
        <p:nvSpPr>
          <p:cNvPr id="47" name="Shape 40"/>
          <p:cNvSpPr/>
          <p:nvPr/>
        </p:nvSpPr>
        <p:spPr>
          <a:xfrm>
            <a:off x="1097280" y="2286000"/>
            <a:ext cx="0" cy="777240"/>
          </a:xfrm>
          <a:prstGeom prst="line">
            <a:avLst/>
          </a:prstGeom>
          <a:noFill/>
          <a:ln w="22225">
            <a:solidFill>
              <a:srgbClr val="E8912D"/>
            </a:solidFill>
            <a:prstDash val="solid"/>
            <a:headEnd type="none"/>
            <a:tailEnd type="triangle"/>
          </a:ln>
        </p:spPr>
      </p:sp>
      <p:sp>
        <p:nvSpPr>
          <p:cNvPr id="48" name="Text 41"/>
          <p:cNvSpPr txBox="1"/>
          <p:nvPr/>
        </p:nvSpPr>
        <p:spPr>
          <a:xfrm>
            <a:off x="182880" y="2715768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89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SSH run</a:t>
            </a:r>
            <a:endParaRPr lang="en-US" sz="850" dirty="0"/>
          </a:p>
        </p:txBody>
      </p:sp>
      <p:sp>
        <p:nvSpPr>
          <p:cNvPr id="49" name="Shape 42"/>
          <p:cNvSpPr/>
          <p:nvPr/>
        </p:nvSpPr>
        <p:spPr>
          <a:xfrm flipV="1">
            <a:off x="4572000" y="2286000"/>
            <a:ext cx="0" cy="777240"/>
          </a:xfrm>
          <a:prstGeom prst="line">
            <a:avLst/>
          </a:prstGeom>
          <a:noFill/>
          <a:ln w="22225">
            <a:solidFill>
              <a:srgbClr val="5A6B7D"/>
            </a:solidFill>
            <a:prstDash val="dash"/>
            <a:headEnd type="none"/>
            <a:tailEnd type="triangle"/>
          </a:ln>
        </p:spPr>
      </p:sp>
      <p:sp>
        <p:nvSpPr>
          <p:cNvPr id="50" name="Text 43"/>
          <p:cNvSpPr txBox="1"/>
          <p:nvPr/>
        </p:nvSpPr>
        <p:spPr>
          <a:xfrm>
            <a:off x="4617720" y="285292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 1 s</a:t>
            </a:r>
            <a:endParaRPr lang="en-US" sz="850" dirty="0"/>
          </a:p>
        </p:txBody>
      </p:sp>
      <p:sp>
        <p:nvSpPr>
          <p:cNvPr id="51" name="Shape 44"/>
          <p:cNvSpPr/>
          <p:nvPr/>
        </p:nvSpPr>
        <p:spPr>
          <a:xfrm>
            <a:off x="6309360" y="3063240"/>
            <a:ext cx="2377440" cy="1051560"/>
          </a:xfrm>
          <a:prstGeom prst="roundRect">
            <a:avLst>
              <a:gd name="adj" fmla="val 695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52" name="Text 45"/>
          <p:cNvSpPr txBox="1"/>
          <p:nvPr/>
        </p:nvSpPr>
        <p:spPr>
          <a:xfrm>
            <a:off x="6446520" y="31546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solid arrows move real configuration. The twin API and bridge are not yet in the loop.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FA3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MAP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D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repositories, one system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2651760" cy="3520440"/>
          </a:xfrm>
          <a:prstGeom prst="roundRect">
            <a:avLst>
              <a:gd name="adj" fmla="val 2759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" y="1399032"/>
            <a:ext cx="457200" cy="45720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092" y="1513332"/>
            <a:ext cx="228600" cy="228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88720" y="13990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1D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cer-intent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165506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Python files · 9.1k lines (core)</a:t>
            </a:r>
            <a:endParaRPr lang="en-US" sz="9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203704"/>
            <a:ext cx="146304" cy="14630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96112" y="21488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parser, schema, validator</a:t>
            </a:r>
            <a:endParaRPr lang="en-US" sz="105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615184"/>
            <a:ext cx="146304" cy="14630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96112" y="25603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architect with 9 skills</a:t>
            </a:r>
            <a:endParaRPr lang="en-US" sz="105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026664"/>
            <a:ext cx="146304" cy="14630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896112" y="29718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TFS + RESTCONF + XML adapters</a:t>
            </a:r>
            <a:endParaRPr lang="en-US" sz="105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438144"/>
            <a:ext cx="146304" cy="146304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896112" y="33832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Reconciler, audit log, dashboards</a:t>
            </a:r>
            <a:endParaRPr lang="en-US" sz="1050" dirty="0"/>
          </a:p>
        </p:txBody>
      </p:sp>
      <p:sp>
        <p:nvSpPr>
          <p:cNvPr id="17" name="Shape 10"/>
          <p:cNvSpPr/>
          <p:nvPr/>
        </p:nvSpPr>
        <p:spPr>
          <a:xfrm>
            <a:off x="594360" y="3977640"/>
            <a:ext cx="2377440" cy="594360"/>
          </a:xfrm>
          <a:prstGeom prst="roundRect">
            <a:avLst>
              <a:gd name="adj" fmla="val 9231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" y="4160520"/>
            <a:ext cx="201168" cy="201168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005840" y="397764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Vendors a copy of the twin repo in tfs_unity/</a:t>
            </a:r>
            <a:endParaRPr lang="en-US" sz="950" dirty="0"/>
          </a:p>
        </p:txBody>
      </p:sp>
      <p:sp>
        <p:nvSpPr>
          <p:cNvPr id="20" name="Shape 12"/>
          <p:cNvSpPr/>
          <p:nvPr/>
        </p:nvSpPr>
        <p:spPr>
          <a:xfrm>
            <a:off x="3246120" y="1234440"/>
            <a:ext cx="2651760" cy="3520440"/>
          </a:xfrm>
          <a:prstGeom prst="roundRect">
            <a:avLst>
              <a:gd name="adj" fmla="val 2759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1" name="Shape 13"/>
          <p:cNvSpPr/>
          <p:nvPr/>
        </p:nvSpPr>
        <p:spPr>
          <a:xfrm>
            <a:off x="3410712" y="1399032"/>
            <a:ext cx="457200" cy="457200"/>
          </a:xfrm>
          <a:prstGeom prst="ellipse">
            <a:avLst/>
          </a:prstGeom>
          <a:solidFill>
            <a:srgbClr val="E8912D"/>
          </a:solidFill>
          <a:ln w="12700">
            <a:solidFill>
              <a:srgbClr val="E8912D"/>
            </a:solidFill>
            <a:prstDash val="solid"/>
          </a:ln>
        </p:spPr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25012" y="1513332"/>
            <a:ext cx="228600" cy="22860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3977640" y="13990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1D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tfs-ns3-digital-twin</a:t>
            </a:r>
            <a:endParaRPr lang="en-US" sz="1300" dirty="0"/>
          </a:p>
        </p:txBody>
      </p:sp>
      <p:sp>
        <p:nvSpPr>
          <p:cNvPr id="24" name="Text 15"/>
          <p:cNvSpPr txBox="1"/>
          <p:nvPr/>
        </p:nvSpPr>
        <p:spPr>
          <a:xfrm>
            <a:off x="3977640" y="165506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Python files · 8.7k lines · 22/22 tests</a:t>
            </a:r>
            <a:endParaRPr lang="en-US" sz="900" dirty="0"/>
          </a:p>
        </p:txBody>
      </p:sp>
      <p:pic>
        <p:nvPicPr>
          <p:cNvPr id="2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47288" y="2203704"/>
            <a:ext cx="146304" cy="146304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3685032" y="21488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TFS → ns-3 C++ generator</a:t>
            </a:r>
            <a:endParaRPr lang="en-US" sz="1050" dirty="0"/>
          </a:p>
        </p:txBody>
      </p:sp>
      <p:pic>
        <p:nvPicPr>
          <p:cNvPr id="2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47288" y="2615184"/>
            <a:ext cx="146304" cy="146304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3685032" y="25603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ns-3.45 TSN / 60 GHz scenario</a:t>
            </a:r>
            <a:endParaRPr lang="en-US" sz="1050" dirty="0"/>
          </a:p>
        </p:txBody>
      </p:sp>
      <p:pic>
        <p:nvPicPr>
          <p:cNvPr id="2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47288" y="3026664"/>
            <a:ext cx="146304" cy="146304"/>
          </a:xfrm>
          <a:prstGeom prst="rect">
            <a:avLst/>
          </a:prstGeom>
        </p:spPr>
      </p:pic>
      <p:sp>
        <p:nvSpPr>
          <p:cNvPr id="30" name="Text 18"/>
          <p:cNvSpPr txBox="1"/>
          <p:nvPr/>
        </p:nvSpPr>
        <p:spPr>
          <a:xfrm>
            <a:off x="3685032" y="29718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Twin API :9100, bridge :9099</a:t>
            </a:r>
            <a:endParaRPr lang="en-US" sz="1050" dirty="0"/>
          </a:p>
        </p:txBody>
      </p:sp>
      <p:pic>
        <p:nvPicPr>
          <p:cNvPr id="3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47288" y="3438144"/>
            <a:ext cx="146304" cy="146304"/>
          </a:xfrm>
          <a:prstGeom prst="rect">
            <a:avLst/>
          </a:prstGeom>
        </p:spPr>
      </p:pic>
      <p:sp>
        <p:nvSpPr>
          <p:cNvPr id="32" name="Text 19"/>
          <p:cNvSpPr txBox="1"/>
          <p:nvPr/>
        </p:nvSpPr>
        <p:spPr>
          <a:xfrm>
            <a:off x="3685032" y="33832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Fidelity governor, web dashboard</a:t>
            </a:r>
            <a:endParaRPr lang="en-US" sz="1050" dirty="0"/>
          </a:p>
        </p:txBody>
      </p:sp>
      <p:sp>
        <p:nvSpPr>
          <p:cNvPr id="33" name="Shape 20"/>
          <p:cNvSpPr/>
          <p:nvPr/>
        </p:nvSpPr>
        <p:spPr>
          <a:xfrm>
            <a:off x="3383280" y="3977640"/>
            <a:ext cx="2377440" cy="594360"/>
          </a:xfrm>
          <a:prstGeom prst="roundRect">
            <a:avLst>
              <a:gd name="adj" fmla="val 9231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pic>
        <p:nvPicPr>
          <p:cNvPr id="34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93008" y="4160520"/>
            <a:ext cx="201168" cy="201168"/>
          </a:xfrm>
          <a:prstGeom prst="rect">
            <a:avLst/>
          </a:prstGeom>
        </p:spPr>
      </p:pic>
      <p:sp>
        <p:nvSpPr>
          <p:cNvPr id="35" name="Text 21"/>
          <p:cNvSpPr txBox="1"/>
          <p:nvPr/>
        </p:nvSpPr>
        <p:spPr>
          <a:xfrm>
            <a:off x="3794760" y="397764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duplicated at root and in src/</a:t>
            </a:r>
            <a:endParaRPr lang="en-US" sz="950" dirty="0"/>
          </a:p>
        </p:txBody>
      </p:sp>
      <p:sp>
        <p:nvSpPr>
          <p:cNvPr id="36" name="Shape 22"/>
          <p:cNvSpPr/>
          <p:nvPr/>
        </p:nvSpPr>
        <p:spPr>
          <a:xfrm>
            <a:off x="6035040" y="1234440"/>
            <a:ext cx="2651760" cy="3520440"/>
          </a:xfrm>
          <a:prstGeom prst="roundRect">
            <a:avLst>
              <a:gd name="adj" fmla="val 2759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37" name="Shape 23"/>
          <p:cNvSpPr/>
          <p:nvPr/>
        </p:nvSpPr>
        <p:spPr>
          <a:xfrm>
            <a:off x="6199632" y="1399032"/>
            <a:ext cx="457200" cy="457200"/>
          </a:xfrm>
          <a:prstGeom prst="ellipse">
            <a:avLst/>
          </a:prstGeom>
          <a:solidFill>
            <a:srgbClr val="0FA3B1"/>
          </a:solidFill>
          <a:ln w="12700">
            <a:solidFill>
              <a:srgbClr val="0FA3B1"/>
            </a:solidFill>
            <a:prstDash val="solid"/>
          </a:ln>
        </p:spPr>
      </p:sp>
      <p:pic>
        <p:nvPicPr>
          <p:cNvPr id="3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13932" y="1513332"/>
            <a:ext cx="228600" cy="228600"/>
          </a:xfrm>
          <a:prstGeom prst="rect">
            <a:avLst/>
          </a:prstGeom>
        </p:spPr>
      </p:pic>
      <p:sp>
        <p:nvSpPr>
          <p:cNvPr id="39" name="Text 24"/>
          <p:cNvSpPr txBox="1"/>
          <p:nvPr/>
        </p:nvSpPr>
        <p:spPr>
          <a:xfrm>
            <a:off x="6766560" y="13990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1D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teraflowsdn</a:t>
            </a:r>
            <a:endParaRPr lang="en-US" sz="1300" dirty="0"/>
          </a:p>
        </p:txBody>
      </p:sp>
      <p:sp>
        <p:nvSpPr>
          <p:cNvPr id="40" name="Text 25"/>
          <p:cNvSpPr txBox="1"/>
          <p:nvPr/>
        </p:nvSpPr>
        <p:spPr>
          <a:xfrm>
            <a:off x="6766560" y="165506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 TFS + Ceragon driver (881 lines)</a:t>
            </a:r>
            <a:endParaRPr lang="en-US" sz="900" dirty="0"/>
          </a:p>
        </p:txBody>
      </p:sp>
      <p:pic>
        <p:nvPicPr>
          <p:cNvPr id="4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236208" y="2203704"/>
            <a:ext cx="146304" cy="146304"/>
          </a:xfrm>
          <a:prstGeom prst="rect">
            <a:avLst/>
          </a:prstGeom>
        </p:spPr>
      </p:pic>
      <p:sp>
        <p:nvSpPr>
          <p:cNvPr id="42" name="Text 26"/>
          <p:cNvSpPr txBox="1"/>
          <p:nvPr/>
        </p:nvSpPr>
        <p:spPr>
          <a:xfrm>
            <a:off x="6473952" y="21488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CeragonDriver, driver enum 22</a:t>
            </a:r>
            <a:endParaRPr lang="en-US" sz="1050" dirty="0"/>
          </a:p>
        </p:txBody>
      </p:sp>
      <p:pic>
        <p:nvPicPr>
          <p:cNvPr id="43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36208" y="2615184"/>
            <a:ext cx="146304" cy="146304"/>
          </a:xfrm>
          <a:prstGeom prst="rect">
            <a:avLst/>
          </a:prstGeom>
        </p:spPr>
      </p:pic>
      <p:sp>
        <p:nvSpPr>
          <p:cNvPr id="44" name="Text 27"/>
          <p:cNvSpPr txBox="1"/>
          <p:nvPr/>
        </p:nvSpPr>
        <p:spPr>
          <a:xfrm>
            <a:off x="6473952" y="25603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RESTCONF client: stage → commit</a:t>
            </a:r>
            <a:endParaRPr lang="en-US" sz="1050" dirty="0"/>
          </a:p>
        </p:txBody>
      </p:sp>
      <p:pic>
        <p:nvPicPr>
          <p:cNvPr id="45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36208" y="3026664"/>
            <a:ext cx="146304" cy="146304"/>
          </a:xfrm>
          <a:prstGeom prst="rect">
            <a:avLst/>
          </a:prstGeom>
        </p:spPr>
      </p:pic>
      <p:sp>
        <p:nvSpPr>
          <p:cNvPr id="46" name="Text 28"/>
          <p:cNvSpPr txBox="1"/>
          <p:nvPr/>
        </p:nvSpPr>
        <p:spPr>
          <a:xfrm>
            <a:off x="6473952" y="29718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YANG models (radio-bridge-tg)</a:t>
            </a:r>
            <a:endParaRPr lang="en-US" sz="1050" dirty="0"/>
          </a:p>
        </p:txBody>
      </p:sp>
      <p:pic>
        <p:nvPicPr>
          <p:cNvPr id="47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236208" y="3438144"/>
            <a:ext cx="146304" cy="146304"/>
          </a:xfrm>
          <a:prstGeom prst="rect">
            <a:avLst/>
          </a:prstGeom>
        </p:spPr>
      </p:pic>
      <p:sp>
        <p:nvSpPr>
          <p:cNvPr id="48" name="Text 29"/>
          <p:cNvSpPr txBox="1"/>
          <p:nvPr/>
        </p:nvSpPr>
        <p:spPr>
          <a:xfrm>
            <a:off x="6473952" y="33832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MH-T261 and IP-50C descriptors</a:t>
            </a:r>
            <a:endParaRPr lang="en-US" sz="1050" dirty="0"/>
          </a:p>
        </p:txBody>
      </p:sp>
      <p:sp>
        <p:nvSpPr>
          <p:cNvPr id="49" name="Shape 30"/>
          <p:cNvSpPr/>
          <p:nvPr/>
        </p:nvSpPr>
        <p:spPr>
          <a:xfrm>
            <a:off x="6172200" y="3977640"/>
            <a:ext cx="2377440" cy="594360"/>
          </a:xfrm>
          <a:prstGeom prst="roundRect">
            <a:avLst>
              <a:gd name="adj" fmla="val 9231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pic>
        <p:nvPicPr>
          <p:cNvPr id="50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281928" y="4160520"/>
            <a:ext cx="201168" cy="201168"/>
          </a:xfrm>
          <a:prstGeom prst="rect">
            <a:avLst/>
          </a:prstGeom>
        </p:spPr>
      </p:pic>
      <p:sp>
        <p:nvSpPr>
          <p:cNvPr id="51" name="Text 31"/>
          <p:cNvSpPr txBox="1"/>
          <p:nvPr/>
        </p:nvSpPr>
        <p:spPr>
          <a:xfrm>
            <a:off x="6583680" y="397764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 history squashed; version label unverified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FA3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INTENT LAYER · CER-INTENT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D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a sentence to device configuration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572768" cy="1234440"/>
          </a:xfrm>
          <a:prstGeom prst="roundRect">
            <a:avLst>
              <a:gd name="adj" fmla="val 5926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1298448"/>
            <a:ext cx="384048" cy="384048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" y="1394460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42416" y="133502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D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Parse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585216" y="1737360"/>
            <a:ext cx="1344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1.5 Flash, regex fallback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85216" y="2103120"/>
            <a:ext cx="868680" cy="201168"/>
          </a:xfrm>
          <a:prstGeom prst="roundRect">
            <a:avLst>
              <a:gd name="adj" fmla="val 50000"/>
            </a:avLst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85216" y="2103120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IMPLEMENTED</a:t>
            </a:r>
            <a:endParaRPr lang="en-US" sz="700" dirty="0"/>
          </a:p>
        </p:txBody>
      </p:sp>
      <p:sp>
        <p:nvSpPr>
          <p:cNvPr id="11" name="Shape 8"/>
          <p:cNvSpPr/>
          <p:nvPr/>
        </p:nvSpPr>
        <p:spPr>
          <a:xfrm>
            <a:off x="2029968" y="1801368"/>
            <a:ext cx="91440" cy="0"/>
          </a:xfrm>
          <a:prstGeom prst="line">
            <a:avLst/>
          </a:prstGeom>
          <a:noFill/>
          <a:ln w="22225">
            <a:solidFill>
              <a:srgbClr val="0B1D33"/>
            </a:solidFill>
            <a:prstDash val="solid"/>
            <a:headEnd type="none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2121408" y="1188720"/>
            <a:ext cx="1572768" cy="1234440"/>
          </a:xfrm>
          <a:prstGeom prst="roundRect">
            <a:avLst>
              <a:gd name="adj" fmla="val 5926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249424" y="1298448"/>
            <a:ext cx="384048" cy="384048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5436" y="1394460"/>
            <a:ext cx="192024" cy="19202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706624" y="133502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D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Validate</a:t>
            </a:r>
            <a:endParaRPr 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2249424" y="1737360"/>
            <a:ext cx="1344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topology + capability matrix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2249424" y="2103120"/>
            <a:ext cx="868680" cy="201168"/>
          </a:xfrm>
          <a:prstGeom prst="roundRect">
            <a:avLst>
              <a:gd name="adj" fmla="val 50000"/>
            </a:avLst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2249424" y="2103120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IMPLEMENTED</a:t>
            </a:r>
            <a:endParaRPr lang="en-US" sz="700" dirty="0"/>
          </a:p>
        </p:txBody>
      </p:sp>
      <p:sp>
        <p:nvSpPr>
          <p:cNvPr id="19" name="Shape 15"/>
          <p:cNvSpPr/>
          <p:nvPr/>
        </p:nvSpPr>
        <p:spPr>
          <a:xfrm>
            <a:off x="3694176" y="1801368"/>
            <a:ext cx="91440" cy="0"/>
          </a:xfrm>
          <a:prstGeom prst="line">
            <a:avLst/>
          </a:prstGeom>
          <a:noFill/>
          <a:ln w="22225">
            <a:solidFill>
              <a:srgbClr val="0B1D33"/>
            </a:solidFill>
            <a:prstDash val="solid"/>
            <a:headEnd type="none"/>
            <a:tailEnd type="triangle"/>
          </a:ln>
        </p:spPr>
      </p:sp>
      <p:sp>
        <p:nvSpPr>
          <p:cNvPr id="20" name="Shape 16"/>
          <p:cNvSpPr/>
          <p:nvPr/>
        </p:nvSpPr>
        <p:spPr>
          <a:xfrm>
            <a:off x="3785616" y="1188720"/>
            <a:ext cx="1572768" cy="1234440"/>
          </a:xfrm>
          <a:prstGeom prst="roundRect">
            <a:avLst>
              <a:gd name="adj" fmla="val 5926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3913632" y="1298448"/>
            <a:ext cx="384048" cy="384048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9644" y="1394460"/>
            <a:ext cx="192024" cy="192024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4370832" y="133502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D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Plan</a:t>
            </a:r>
            <a:endParaRPr lang="en-US" sz="1150" dirty="0"/>
          </a:p>
        </p:txBody>
      </p:sp>
      <p:sp>
        <p:nvSpPr>
          <p:cNvPr id="24" name="Text 19"/>
          <p:cNvSpPr txBox="1"/>
          <p:nvPr/>
        </p:nvSpPr>
        <p:spPr>
          <a:xfrm>
            <a:off x="3913632" y="1737360"/>
            <a:ext cx="1344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rule-based skills</a:t>
            </a:r>
            <a:endParaRPr lang="en-US" sz="950" dirty="0"/>
          </a:p>
        </p:txBody>
      </p:sp>
      <p:sp>
        <p:nvSpPr>
          <p:cNvPr id="25" name="Shape 20"/>
          <p:cNvSpPr/>
          <p:nvPr/>
        </p:nvSpPr>
        <p:spPr>
          <a:xfrm>
            <a:off x="3913632" y="2103120"/>
            <a:ext cx="868680" cy="201168"/>
          </a:xfrm>
          <a:prstGeom prst="roundRect">
            <a:avLst>
              <a:gd name="adj" fmla="val 50000"/>
            </a:avLst>
          </a:prstGeom>
          <a:solidFill>
            <a:srgbClr val="E8912D"/>
          </a:solidFill>
          <a:ln w="12700">
            <a:solidFill>
              <a:srgbClr val="E8912D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3913632" y="2103120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PARTIAL</a:t>
            </a:r>
            <a:endParaRPr lang="en-US" sz="700" dirty="0"/>
          </a:p>
        </p:txBody>
      </p:sp>
      <p:sp>
        <p:nvSpPr>
          <p:cNvPr id="27" name="Shape 22"/>
          <p:cNvSpPr/>
          <p:nvPr/>
        </p:nvSpPr>
        <p:spPr>
          <a:xfrm>
            <a:off x="5358384" y="1801368"/>
            <a:ext cx="91440" cy="0"/>
          </a:xfrm>
          <a:prstGeom prst="line">
            <a:avLst/>
          </a:prstGeom>
          <a:noFill/>
          <a:ln w="22225">
            <a:solidFill>
              <a:srgbClr val="0B1D33"/>
            </a:solidFill>
            <a:prstDash val="solid"/>
            <a:headEnd type="none"/>
            <a:tailEnd type="triangle"/>
          </a:ln>
        </p:spPr>
      </p:sp>
      <p:sp>
        <p:nvSpPr>
          <p:cNvPr id="28" name="Shape 23"/>
          <p:cNvSpPr/>
          <p:nvPr/>
        </p:nvSpPr>
        <p:spPr>
          <a:xfrm>
            <a:off x="5449824" y="1188720"/>
            <a:ext cx="1572768" cy="1234440"/>
          </a:xfrm>
          <a:prstGeom prst="roundRect">
            <a:avLst>
              <a:gd name="adj" fmla="val 5926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5577840" y="1298448"/>
            <a:ext cx="384048" cy="384048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3852" y="1394460"/>
            <a:ext cx="192024" cy="192024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6035040" y="133502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D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Approve</a:t>
            </a:r>
            <a:endParaRPr lang="en-US" sz="1150" dirty="0"/>
          </a:p>
        </p:txBody>
      </p:sp>
      <p:sp>
        <p:nvSpPr>
          <p:cNvPr id="32" name="Text 26"/>
          <p:cNvSpPr txBox="1"/>
          <p:nvPr/>
        </p:nvSpPr>
        <p:spPr>
          <a:xfrm>
            <a:off x="5577840" y="1737360"/>
            <a:ext cx="1344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 (HTTP 202)</a:t>
            </a:r>
            <a:endParaRPr lang="en-US" sz="950" dirty="0"/>
          </a:p>
        </p:txBody>
      </p:sp>
      <p:sp>
        <p:nvSpPr>
          <p:cNvPr id="33" name="Shape 27"/>
          <p:cNvSpPr/>
          <p:nvPr/>
        </p:nvSpPr>
        <p:spPr>
          <a:xfrm>
            <a:off x="5577840" y="2103120"/>
            <a:ext cx="868680" cy="201168"/>
          </a:xfrm>
          <a:prstGeom prst="roundRect">
            <a:avLst>
              <a:gd name="adj" fmla="val 50000"/>
            </a:avLst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5577840" y="2103120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IMPLEMENTED</a:t>
            </a:r>
            <a:endParaRPr lang="en-US" sz="700" dirty="0"/>
          </a:p>
        </p:txBody>
      </p:sp>
      <p:sp>
        <p:nvSpPr>
          <p:cNvPr id="35" name="Shape 29"/>
          <p:cNvSpPr/>
          <p:nvPr/>
        </p:nvSpPr>
        <p:spPr>
          <a:xfrm>
            <a:off x="7022592" y="1801368"/>
            <a:ext cx="91440" cy="0"/>
          </a:xfrm>
          <a:prstGeom prst="line">
            <a:avLst/>
          </a:prstGeom>
          <a:noFill/>
          <a:ln w="22225">
            <a:solidFill>
              <a:srgbClr val="0B1D33"/>
            </a:solidFill>
            <a:prstDash val="solid"/>
            <a:headEnd type="none"/>
            <a:tailEnd type="triangle"/>
          </a:ln>
        </p:spPr>
      </p:sp>
      <p:sp>
        <p:nvSpPr>
          <p:cNvPr id="36" name="Shape 30"/>
          <p:cNvSpPr/>
          <p:nvPr/>
        </p:nvSpPr>
        <p:spPr>
          <a:xfrm>
            <a:off x="7114032" y="1188720"/>
            <a:ext cx="1572768" cy="1234440"/>
          </a:xfrm>
          <a:prstGeom prst="roundRect">
            <a:avLst>
              <a:gd name="adj" fmla="val 5926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37" name="Shape 31"/>
          <p:cNvSpPr/>
          <p:nvPr/>
        </p:nvSpPr>
        <p:spPr>
          <a:xfrm>
            <a:off x="7242048" y="1298448"/>
            <a:ext cx="384048" cy="384048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pic>
        <p:nvPicPr>
          <p:cNvPr id="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38060" y="1394460"/>
            <a:ext cx="192024" cy="192024"/>
          </a:xfrm>
          <a:prstGeom prst="rect">
            <a:avLst/>
          </a:prstGeom>
        </p:spPr>
      </p:pic>
      <p:sp>
        <p:nvSpPr>
          <p:cNvPr id="39" name="Text 32"/>
          <p:cNvSpPr txBox="1"/>
          <p:nvPr/>
        </p:nvSpPr>
        <p:spPr>
          <a:xfrm>
            <a:off x="7699248" y="133502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D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 Apply</a:t>
            </a:r>
            <a:endParaRPr lang="en-US" sz="1150" dirty="0"/>
          </a:p>
        </p:txBody>
      </p:sp>
      <p:sp>
        <p:nvSpPr>
          <p:cNvPr id="40" name="Text 33"/>
          <p:cNvSpPr txBox="1"/>
          <p:nvPr/>
        </p:nvSpPr>
        <p:spPr>
          <a:xfrm>
            <a:off x="7242048" y="1737360"/>
            <a:ext cx="1344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TFS · RESTCONF · simulated</a:t>
            </a:r>
            <a:endParaRPr lang="en-US" sz="950" dirty="0"/>
          </a:p>
        </p:txBody>
      </p:sp>
      <p:sp>
        <p:nvSpPr>
          <p:cNvPr id="41" name="Shape 34"/>
          <p:cNvSpPr/>
          <p:nvPr/>
        </p:nvSpPr>
        <p:spPr>
          <a:xfrm>
            <a:off x="7242048" y="2103120"/>
            <a:ext cx="868680" cy="201168"/>
          </a:xfrm>
          <a:prstGeom prst="roundRect">
            <a:avLst>
              <a:gd name="adj" fmla="val 50000"/>
            </a:avLst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42" name="Text 35"/>
          <p:cNvSpPr txBox="1"/>
          <p:nvPr/>
        </p:nvSpPr>
        <p:spPr>
          <a:xfrm>
            <a:off x="7242048" y="2103120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IMPLEMENTED</a:t>
            </a:r>
            <a:endParaRPr lang="en-US" sz="700" dirty="0"/>
          </a:p>
        </p:txBody>
      </p:sp>
      <p:graphicFrame>
        <p:nvGraphicFramePr>
          <p:cNvPr id="43" name="Chart 0" descr=""/>
          <p:cNvGraphicFramePr/>
          <p:nvPr/>
        </p:nvGraphicFramePr>
        <p:xfrm>
          <a:off x="365760" y="2606040"/>
          <a:ext cx="484632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4" name="Shape 36"/>
          <p:cNvSpPr/>
          <p:nvPr/>
        </p:nvSpPr>
        <p:spPr>
          <a:xfrm>
            <a:off x="5486400" y="2651760"/>
            <a:ext cx="3200400" cy="2148840"/>
          </a:xfrm>
          <a:prstGeom prst="roundRect">
            <a:avLst>
              <a:gd name="adj" fmla="val 3404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45" name="Text 37"/>
          <p:cNvSpPr txBox="1"/>
          <p:nvPr/>
        </p:nvSpPr>
        <p:spPr>
          <a:xfrm>
            <a:off x="5669280" y="274320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B1D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operator inputs</a:t>
            </a:r>
            <a:endParaRPr lang="en-US" sz="1100" dirty="0"/>
          </a:p>
        </p:txBody>
      </p:sp>
      <p:sp>
        <p:nvSpPr>
          <p:cNvPr id="46" name="Shape 38"/>
          <p:cNvSpPr/>
          <p:nvPr/>
        </p:nvSpPr>
        <p:spPr>
          <a:xfrm>
            <a:off x="5623560" y="3063240"/>
            <a:ext cx="2926080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Text 39"/>
          <p:cNvSpPr txBox="1"/>
          <p:nvPr/>
        </p:nvSpPr>
        <p:spPr>
          <a:xfrm>
            <a:off x="5715000" y="306324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“Increase capacity on link-A-B to 5 Gbps for eMBB slice”</a:t>
            </a:r>
            <a:endParaRPr lang="en-US" sz="950" dirty="0"/>
          </a:p>
        </p:txBody>
      </p:sp>
      <p:sp>
        <p:nvSpPr>
          <p:cNvPr id="48" name="Shape 40"/>
          <p:cNvSpPr/>
          <p:nvPr/>
        </p:nvSpPr>
        <p:spPr>
          <a:xfrm>
            <a:off x="5623560" y="3630168"/>
            <a:ext cx="2926080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1"/>
          <p:cNvSpPr txBox="1"/>
          <p:nvPr/>
        </p:nvSpPr>
        <p:spPr>
          <a:xfrm>
            <a:off x="5715000" y="363016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“Set ACM range 64QAM to 2048QAM on sector-south links”</a:t>
            </a:r>
            <a:endParaRPr lang="en-US" sz="950" dirty="0"/>
          </a:p>
        </p:txBody>
      </p:sp>
      <p:sp>
        <p:nvSpPr>
          <p:cNvPr id="50" name="Shape 42"/>
          <p:cNvSpPr/>
          <p:nvPr/>
        </p:nvSpPr>
        <p:spPr>
          <a:xfrm>
            <a:off x="5623560" y="4197096"/>
            <a:ext cx="2926080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3"/>
          <p:cNvSpPr txBox="1"/>
          <p:nvPr/>
        </p:nvSpPr>
        <p:spPr>
          <a:xfrm>
            <a:off x="5715000" y="4197096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“Create slice slice-uran-6g with 1 Gbps on Ceragon MH-T261”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FA3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DATA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D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audit log shows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965960" cy="914400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243584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A3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intents parsed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560320" y="1188720"/>
            <a:ext cx="1965960" cy="914400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24912" y="1243584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A3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1,143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2724912" y="175564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applies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1965960" cy="914400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28032" y="1243584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A3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96.7%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828032" y="175564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 by TeraFlowSDN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766560" y="1188720"/>
            <a:ext cx="1965960" cy="914400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31152" y="1243584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A3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6931152" y="175564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devices configured</a:t>
            </a:r>
            <a:endParaRPr lang="en-US" sz="105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365760" y="2286000"/>
          <a:ext cx="420624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7" name="Chart 1" descr=""/>
          <p:cNvGraphicFramePr/>
          <p:nvPr/>
        </p:nvGraphicFramePr>
        <p:xfrm>
          <a:off x="4754880" y="2286000"/>
          <a:ext cx="4023360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4846320" y="42062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→ last apply: median 396 ms</a:t>
            </a:r>
            <a:pPr indent="0" marL="0">
              <a:buNone/>
            </a:pPr>
            <a:r>
              <a:rPr lang="en-US" sz="10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 = 22, 13 under 1 s). 2026-04-13 – 2026-09-23.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FA3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TERAFLOWSDN INTEGRATION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D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Deployed components and the calls we use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22A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(my_deploy.sh)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1280160" cy="411480"/>
          </a:xfrm>
          <a:prstGeom prst="roundRect">
            <a:avLst>
              <a:gd name="adj" fmla="val 13333"/>
            </a:avLst>
          </a:prstGeom>
          <a:solidFill>
            <a:srgbClr val="DDF3E8"/>
          </a:solidFill>
          <a:ln w="12700">
            <a:solidFill>
              <a:srgbClr val="DDF3E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46304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gRPC 1010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810512" y="1463040"/>
            <a:ext cx="1280160" cy="411480"/>
          </a:xfrm>
          <a:prstGeom prst="roundRect">
            <a:avLst>
              <a:gd name="adj" fmla="val 13333"/>
            </a:avLst>
          </a:prstGeom>
          <a:solidFill>
            <a:srgbClr val="DDF3E8"/>
          </a:solidFill>
          <a:ln w="12700">
            <a:solidFill>
              <a:srgbClr val="DDF3E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901952" y="146304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gRPC 2020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163824" y="1463040"/>
            <a:ext cx="1280160" cy="411480"/>
          </a:xfrm>
          <a:prstGeom prst="roundRect">
            <a:avLst>
              <a:gd name="adj" fmla="val 13333"/>
            </a:avLst>
          </a:prstGeom>
          <a:solidFill>
            <a:srgbClr val="DDF3E8"/>
          </a:solidFill>
          <a:ln w="12700">
            <a:solidFill>
              <a:srgbClr val="DDF3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55264" y="146304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gRPC 3030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1280160" cy="411480"/>
          </a:xfrm>
          <a:prstGeom prst="roundRect">
            <a:avLst>
              <a:gd name="adj" fmla="val 13333"/>
            </a:avLst>
          </a:prstGeom>
          <a:solidFill>
            <a:srgbClr val="DDF3E8"/>
          </a:solidFill>
          <a:ln w="12700">
            <a:solidFill>
              <a:srgbClr val="DDF3E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196596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pathcomp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gRPC 10020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810512" y="1965960"/>
            <a:ext cx="1280160" cy="411480"/>
          </a:xfrm>
          <a:prstGeom prst="roundRect">
            <a:avLst>
              <a:gd name="adj" fmla="val 13333"/>
            </a:avLst>
          </a:prstGeom>
          <a:solidFill>
            <a:srgbClr val="DDF3E8"/>
          </a:solidFill>
          <a:ln w="12700">
            <a:solidFill>
              <a:srgbClr val="DDF3E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901952" y="196596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nbi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8080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163824" y="1965960"/>
            <a:ext cx="1280160" cy="411480"/>
          </a:xfrm>
          <a:prstGeom prst="roundRect">
            <a:avLst>
              <a:gd name="adj" fmla="val 13333"/>
            </a:avLst>
          </a:prstGeom>
          <a:solidFill>
            <a:srgbClr val="DDF3E8"/>
          </a:solidFill>
          <a:ln w="12700">
            <a:solidFill>
              <a:srgbClr val="DDF3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255264" y="196596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webui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8004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260604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DEPLOYED (telemetry · analytics · ML)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2880360"/>
            <a:ext cx="128016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9AA7B4"/>
            </a:solidFill>
            <a:prstDash val="dash"/>
          </a:ln>
        </p:spPr>
      </p:sp>
      <p:sp>
        <p:nvSpPr>
          <p:cNvPr id="19" name="Text 17"/>
          <p:cNvSpPr txBox="1"/>
          <p:nvPr/>
        </p:nvSpPr>
        <p:spPr>
          <a:xfrm>
            <a:off x="548640" y="288036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gRPC 7070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810512" y="2880360"/>
            <a:ext cx="128016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9AA7B4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1901952" y="288036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kpi_manager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gRPC 30010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163824" y="2880360"/>
            <a:ext cx="128016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9AA7B4"/>
            </a:solidFill>
            <a:prstDash val="dash"/>
          </a:ln>
        </p:spPr>
      </p:sp>
      <p:sp>
        <p:nvSpPr>
          <p:cNvPr id="23" name="Text 21"/>
          <p:cNvSpPr txBox="1"/>
          <p:nvPr/>
        </p:nvSpPr>
        <p:spPr>
          <a:xfrm>
            <a:off x="3255264" y="288036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gRPC 30050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3383280"/>
            <a:ext cx="128016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9AA7B4"/>
            </a:solidFill>
            <a:prstDash val="dash"/>
          </a:ln>
        </p:spPr>
      </p:sp>
      <p:sp>
        <p:nvSpPr>
          <p:cNvPr id="25" name="Text 23"/>
          <p:cNvSpPr txBox="1"/>
          <p:nvPr/>
        </p:nvSpPr>
        <p:spPr>
          <a:xfrm>
            <a:off x="548640" y="338328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gRPC 30080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1810512" y="3383280"/>
            <a:ext cx="128016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9AA7B4"/>
            </a:solidFill>
            <a:prstDash val="dash"/>
          </a:ln>
        </p:spPr>
      </p:sp>
      <p:sp>
        <p:nvSpPr>
          <p:cNvPr id="27" name="Text 25"/>
          <p:cNvSpPr txBox="1"/>
          <p:nvPr/>
        </p:nvSpPr>
        <p:spPr>
          <a:xfrm>
            <a:off x="1901952" y="338328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gRPC 30200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63824" y="3383280"/>
            <a:ext cx="128016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9AA7B4"/>
            </a:solidFill>
            <a:prstDash val="dash"/>
          </a:ln>
        </p:spPr>
      </p:sp>
      <p:sp>
        <p:nvSpPr>
          <p:cNvPr id="29" name="Text 27"/>
          <p:cNvSpPr txBox="1"/>
          <p:nvPr/>
        </p:nvSpPr>
        <p:spPr>
          <a:xfrm>
            <a:off x="3255264" y="338328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forecaster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gRPC 10040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39776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10010–10040 ports shown in the old dashboard are mock values.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846320" y="1188720"/>
            <a:ext cx="3840480" cy="3611880"/>
          </a:xfrm>
          <a:prstGeom prst="roundRect">
            <a:avLst>
              <a:gd name="adj" fmla="val 2025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029200" y="129844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B1D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NBI calls used by CER-Intent and the twin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029200" y="1700784"/>
            <a:ext cx="502920" cy="237744"/>
          </a:xfrm>
          <a:prstGeom prst="roundRect">
            <a:avLst>
              <a:gd name="adj" fmla="val 19231"/>
            </a:avLst>
          </a:prstGeom>
          <a:solidFill>
            <a:srgbClr val="0FA3B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029200" y="1700784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5623560" y="1664208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/tfs-api/contexts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5029200" y="2066544"/>
            <a:ext cx="502920" cy="237744"/>
          </a:xfrm>
          <a:prstGeom prst="roundRect">
            <a:avLst>
              <a:gd name="adj" fmla="val 19231"/>
            </a:avLst>
          </a:prstGeom>
          <a:solidFill>
            <a:srgbClr val="0FA3B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029200" y="2066544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5623560" y="2029968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/tfs-api/context/admin/topology_details/admin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029200" y="2432304"/>
            <a:ext cx="502920" cy="237744"/>
          </a:xfrm>
          <a:prstGeom prst="roundRect">
            <a:avLst>
              <a:gd name="adj" fmla="val 19231"/>
            </a:avLst>
          </a:prstGeom>
          <a:solidFill>
            <a:srgbClr val="0FA3B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029200" y="2432304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800" dirty="0"/>
          </a:p>
        </p:txBody>
      </p:sp>
      <p:sp>
        <p:nvSpPr>
          <p:cNvPr id="41" name="Text 39"/>
          <p:cNvSpPr txBox="1"/>
          <p:nvPr/>
        </p:nvSpPr>
        <p:spPr>
          <a:xfrm>
            <a:off x="5623560" y="2395728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/tfs-api/devices · /links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029200" y="2798064"/>
            <a:ext cx="502920" cy="237744"/>
          </a:xfrm>
          <a:prstGeom prst="roundRect">
            <a:avLst>
              <a:gd name="adj" fmla="val 19231"/>
            </a:avLst>
          </a:prstGeom>
          <a:solidFill>
            <a:srgbClr val="0B1D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029200" y="2798064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</a:t>
            </a:r>
            <a:endParaRPr lang="en-US" sz="800" dirty="0"/>
          </a:p>
        </p:txBody>
      </p:sp>
      <p:sp>
        <p:nvSpPr>
          <p:cNvPr id="44" name="Text 42"/>
          <p:cNvSpPr txBox="1"/>
          <p:nvPr/>
        </p:nvSpPr>
        <p:spPr>
          <a:xfrm>
            <a:off x="5623560" y="2761488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/tfs-api/device/{uuid}  (config rules)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029200" y="3163824"/>
            <a:ext cx="502920" cy="237744"/>
          </a:xfrm>
          <a:prstGeom prst="roundRect">
            <a:avLst>
              <a:gd name="adj" fmla="val 19231"/>
            </a:avLst>
          </a:prstGeom>
          <a:solidFill>
            <a:srgbClr val="0B1D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029200" y="3163824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800" dirty="0"/>
          </a:p>
        </p:txBody>
      </p:sp>
      <p:sp>
        <p:nvSpPr>
          <p:cNvPr id="47" name="Text 45"/>
          <p:cNvSpPr txBox="1"/>
          <p:nvPr/>
        </p:nvSpPr>
        <p:spPr>
          <a:xfrm>
            <a:off x="5623560" y="3127248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/tfs-api/context/admin/slices</a:t>
            </a:r>
            <a:endParaRPr lang="en-US" sz="850" dirty="0"/>
          </a:p>
        </p:txBody>
      </p:sp>
      <p:sp>
        <p:nvSpPr>
          <p:cNvPr id="48" name="Text 46"/>
          <p:cNvSpPr txBox="1"/>
          <p:nvPr/>
        </p:nvSpPr>
        <p:spPr>
          <a:xfrm>
            <a:off x="5029200" y="356616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B1D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Ceragon device in TFS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5029200" y="381304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DEVICEDRIVER_CERAGON = 22 · type microwave-radio-system · ceragon-mh-t261-ctu-96 @ 192.168.1.225:80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5029200" y="4389120"/>
            <a:ext cx="868680" cy="201168"/>
          </a:xfrm>
          <a:prstGeom prst="roundRect">
            <a:avLst>
              <a:gd name="adj" fmla="val 50000"/>
            </a:avLst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5029200" y="4389120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IMPLEMENTED</a:t>
            </a:r>
            <a:endParaRPr lang="en-US" sz="700" dirty="0"/>
          </a:p>
        </p:txBody>
      </p:sp>
      <p:sp>
        <p:nvSpPr>
          <p:cNvPr id="52" name="Text 50"/>
          <p:cNvSpPr txBox="1"/>
          <p:nvPr/>
        </p:nvSpPr>
        <p:spPr>
          <a:xfrm>
            <a:off x="5989320" y="43434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TFS Service or PathComp (CSPF) request is made yet.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FA3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SIMULATION ADAPTER · NS-3.45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D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TSN-over-microwave scenario the twin runs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9144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7C5C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258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 ×2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371600" y="1554480"/>
            <a:ext cx="548640" cy="0"/>
          </a:xfrm>
          <a:prstGeom prst="line">
            <a:avLst/>
          </a:prstGeom>
          <a:noFill/>
          <a:ln w="19050">
            <a:solidFill>
              <a:srgbClr val="5A6B7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181051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802.11n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HtMcs7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920240" y="1325880"/>
            <a:ext cx="9144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7C5C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920240" y="13258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Wi-Fi AP ×2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834640" y="1554480"/>
            <a:ext cx="548640" cy="0"/>
          </a:xfrm>
          <a:prstGeom prst="line">
            <a:avLst/>
          </a:prstGeom>
          <a:noFill/>
          <a:ln w="19050">
            <a:solidFill>
              <a:srgbClr val="5A6B7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560320" y="181051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Gbps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383280" y="1325880"/>
            <a:ext cx="9144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22A0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383280" y="13258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C0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297680" y="1554480"/>
            <a:ext cx="548640" cy="0"/>
          </a:xfrm>
          <a:prstGeom prst="line">
            <a:avLst/>
          </a:prstGeom>
          <a:noFill/>
          <a:ln w="38100">
            <a:solidFill>
              <a:srgbClr val="E8912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23360" y="181051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89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GHz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E89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Gbps · 0.15 ms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846320" y="1325880"/>
            <a:ext cx="9144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22A0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46320" y="13258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760720" y="1554480"/>
            <a:ext cx="548640" cy="0"/>
          </a:xfrm>
          <a:prstGeom prst="line">
            <a:avLst/>
          </a:prstGeom>
          <a:noFill/>
          <a:ln w="19050">
            <a:solidFill>
              <a:srgbClr val="5A6B7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0" y="181051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Gbps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0.02 ms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6309360" y="1325880"/>
            <a:ext cx="9144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22A06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09360" y="13258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C2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223760" y="1554480"/>
            <a:ext cx="548640" cy="0"/>
          </a:xfrm>
          <a:prstGeom prst="line">
            <a:avLst/>
          </a:prstGeom>
          <a:noFill/>
          <a:ln w="19050">
            <a:solidFill>
              <a:srgbClr val="5A6B7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949440" y="181051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GHz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Gbps · 0.10 ms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7772400" y="1325880"/>
            <a:ext cx="9144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22A06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0" y="13258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C3 → sink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3931920" y="109728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E89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 attenuation acts on this hop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57200" y="2377440"/>
            <a:ext cx="4023360" cy="384048"/>
          </a:xfrm>
          <a:prstGeom prst="roundRect">
            <a:avLst>
              <a:gd name="adj" fmla="val 19048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4360" y="237744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TSN flow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1645920" y="2377440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 B every 1 ms · ToS 0xC0 (AC_VO, band 0)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7200" y="2834640"/>
            <a:ext cx="4023360" cy="384048"/>
          </a:xfrm>
          <a:prstGeom prst="roundRect">
            <a:avLst>
              <a:gd name="adj" fmla="val 19048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94360" y="283464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effort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1645920" y="2834640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1400 B at 150 Mbps × surge factor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57200" y="3291840"/>
            <a:ext cx="4023360" cy="384048"/>
          </a:xfrm>
          <a:prstGeom prst="roundRect">
            <a:avLst>
              <a:gd name="adj" fmla="val 19048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94360" y="329184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1645920" y="3291840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PfifoFast (QoS on) or FIFO · 150 packets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57200" y="3749040"/>
            <a:ext cx="4023360" cy="384048"/>
          </a:xfrm>
          <a:prstGeom prst="roundRect">
            <a:avLst>
              <a:gd name="adj" fmla="val 19048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94360" y="374904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check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1645920" y="3749040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TSN mean delay &gt; 1.5 ms or loss &gt; 0.001 %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57200" y="4315968"/>
            <a:ext cx="868680" cy="201168"/>
          </a:xfrm>
          <a:prstGeom prst="roundRect">
            <a:avLst>
              <a:gd name="adj" fmla="val 50000"/>
            </a:avLst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57200" y="4315968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IMPLEMENTED</a:t>
            </a:r>
            <a:endParaRPr lang="en-US" sz="700" dirty="0"/>
          </a:p>
        </p:txBody>
      </p:sp>
      <p:sp>
        <p:nvSpPr>
          <p:cNvPr id="41" name="Text 39"/>
          <p:cNvSpPr txBox="1"/>
          <p:nvPr/>
        </p:nvSpPr>
        <p:spPr>
          <a:xfrm>
            <a:off x="1417320" y="429768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 when SSH fails: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34640" y="4315968"/>
            <a:ext cx="640080" cy="201168"/>
          </a:xfrm>
          <a:prstGeom prst="roundRect">
            <a:avLst>
              <a:gd name="adj" fmla="val 50000"/>
            </a:avLst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2834640" y="43159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MOCK</a:t>
            </a:r>
            <a:endParaRPr lang="en-US" sz="7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4663440" y="2286000"/>
          <a:ext cx="411480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FA3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HARDWARE PATH · CERAGON DRIVER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D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Stage, commit, discard: real RESTCONF, with gaps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6459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0FA3B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1615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2B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TFS device service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46304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CeragonDriver (22)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280160" y="1755648"/>
            <a:ext cx="0" cy="2697480"/>
          </a:xfrm>
          <a:prstGeom prst="line">
            <a:avLst/>
          </a:prstGeom>
          <a:noFill/>
          <a:ln w="15875">
            <a:solidFill>
              <a:srgbClr val="AAB6C2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3383280" y="1188720"/>
            <a:ext cx="16459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22A0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83280" y="121615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2B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MH-T261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146304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2A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192.168.1.225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206240" y="1755648"/>
            <a:ext cx="0" cy="2697480"/>
          </a:xfrm>
          <a:prstGeom prst="line">
            <a:avLst/>
          </a:prstGeom>
          <a:noFill/>
          <a:ln w="15875">
            <a:solidFill>
              <a:srgbClr val="AAB6C2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1325880" y="1892808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PATCH candidate datastore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280160" y="2148840"/>
            <a:ext cx="2926080" cy="0"/>
          </a:xfrm>
          <a:prstGeom prst="line">
            <a:avLst/>
          </a:prstGeom>
          <a:noFill/>
          <a:ln w="22225">
            <a:solidFill>
              <a:srgbClr val="0B1D33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1325880" y="2185416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· VLAN sub-interface · ACM floor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249631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if staging fails: discard-changes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280160" y="2752344"/>
            <a:ext cx="2926080" cy="0"/>
          </a:xfrm>
          <a:prstGeom prst="line">
            <a:avLst/>
          </a:prstGeom>
          <a:noFill/>
          <a:ln w="22225">
            <a:solidFill>
              <a:srgbClr val="D64545"/>
            </a:solidFill>
            <a:prstDash val="solid"/>
            <a:headEnd type="none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1325880" y="27889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ietf-netconf:discard-changes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3099816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A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POST ietf-netconf:commit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280160" y="3355848"/>
            <a:ext cx="2926080" cy="0"/>
          </a:xfrm>
          <a:prstGeom prst="line">
            <a:avLst/>
          </a:prstGeom>
          <a:noFill/>
          <a:ln w="22225">
            <a:solidFill>
              <a:srgbClr val="22A06B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1325880" y="3392424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→ running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37033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9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read state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flipH="1">
            <a:off x="1280160" y="3959352"/>
            <a:ext cx="2926080" cy="0"/>
          </a:xfrm>
          <a:prstGeom prst="line">
            <a:avLst/>
          </a:prstGeom>
          <a:noFill/>
          <a:ln w="22225">
            <a:solidFill>
              <a:srgbClr val="E8912D"/>
            </a:solidFill>
            <a:prstDash val="dash"/>
            <a:headEnd type="none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1325880" y="399592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canned values today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57200" y="4526280"/>
            <a:ext cx="868680" cy="201168"/>
          </a:xfrm>
          <a:prstGeom prst="roundRect">
            <a:avLst>
              <a:gd name="adj" fmla="val 50000"/>
            </a:avLst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7200" y="4526280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IMPLEMENTED</a:t>
            </a:r>
            <a:endParaRPr lang="en-US" sz="700" dirty="0"/>
          </a:p>
        </p:txBody>
      </p:sp>
      <p:sp>
        <p:nvSpPr>
          <p:cNvPr id="26" name="Text 24"/>
          <p:cNvSpPr txBox="1"/>
          <p:nvPr/>
        </p:nvSpPr>
        <p:spPr>
          <a:xfrm>
            <a:off x="1417320" y="450799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①–③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240280" y="4526280"/>
            <a:ext cx="640080" cy="201168"/>
          </a:xfrm>
          <a:prstGeom prst="roundRect">
            <a:avLst>
              <a:gd name="adj" fmla="val 50000"/>
            </a:avLst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240280" y="452628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MOCK</a:t>
            </a:r>
            <a:endParaRPr lang="en-US" sz="700" dirty="0"/>
          </a:p>
        </p:txBody>
      </p:sp>
      <p:sp>
        <p:nvSpPr>
          <p:cNvPr id="29" name="Text 27"/>
          <p:cNvSpPr txBox="1"/>
          <p:nvPr/>
        </p:nvSpPr>
        <p:spPr>
          <a:xfrm>
            <a:off x="2971800" y="450799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④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120640" y="1188720"/>
            <a:ext cx="3566160" cy="3611880"/>
          </a:xfrm>
          <a:prstGeom prst="roundRect">
            <a:avLst>
              <a:gd name="adj" fmla="val 2051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303520" y="129844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1D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yet in place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257800" y="1664208"/>
            <a:ext cx="329184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76672" y="172821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rollback after commit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5376672" y="198424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discard only runs when staging fails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589520" y="1737360"/>
            <a:ext cx="86868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9AA7B4"/>
            </a:solidFill>
            <a:prstDash val="dash"/>
          </a:ln>
        </p:spPr>
      </p:sp>
      <p:sp>
        <p:nvSpPr>
          <p:cNvPr id="36" name="Text 34"/>
          <p:cNvSpPr txBox="1"/>
          <p:nvPr/>
        </p:nvSpPr>
        <p:spPr>
          <a:xfrm>
            <a:off x="7589520" y="1737360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5A6B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5257800" y="2423160"/>
            <a:ext cx="329184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376672" y="248716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telemetry subscription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5376672" y="274320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SubscribeState returns True, streams nothing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7589520" y="2496312"/>
            <a:ext cx="86868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9AA7B4"/>
            </a:solidFill>
            <a:prstDash val="dash"/>
          </a:ln>
        </p:spPr>
      </p:sp>
      <p:sp>
        <p:nvSpPr>
          <p:cNvPr id="41" name="Text 39"/>
          <p:cNvSpPr txBox="1"/>
          <p:nvPr/>
        </p:nvSpPr>
        <p:spPr>
          <a:xfrm>
            <a:off x="7589520" y="2496312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5A6B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5257800" y="3182112"/>
            <a:ext cx="329184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376672" y="324612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keys ≠ driver keys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5376672" y="350215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min/max modulation never reaches the radio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89520" y="3255264"/>
            <a:ext cx="868680" cy="201168"/>
          </a:xfrm>
          <a:prstGeom prst="roundRect">
            <a:avLst>
              <a:gd name="adj" fmla="val 50000"/>
            </a:avLst>
          </a:prstGeom>
          <a:solidFill>
            <a:srgbClr val="E8912D"/>
          </a:solidFill>
          <a:ln w="12700">
            <a:solidFill>
              <a:srgbClr val="E8912D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589520" y="3255264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PARTIAL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5257800" y="3941064"/>
            <a:ext cx="329184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5376672" y="400507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wire log and diff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5376672" y="4261104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JSON, never sent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589520" y="4014216"/>
            <a:ext cx="868680" cy="201168"/>
          </a:xfrm>
          <a:prstGeom prst="roundRect">
            <a:avLst>
              <a:gd name="adj" fmla="val 50000"/>
            </a:avLst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589520" y="4014216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MOCK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FA3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 LOOP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D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it detects; the target loop also acts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E89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481328"/>
            <a:ext cx="1261872" cy="1143000"/>
          </a:xfrm>
          <a:prstGeom prst="roundRect">
            <a:avLst>
              <a:gd name="adj" fmla="val 6400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55448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B1D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Intent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810512"/>
            <a:ext cx="1078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parse, plan, approve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2322576"/>
            <a:ext cx="868680" cy="201168"/>
          </a:xfrm>
          <a:prstGeom prst="roundRect">
            <a:avLst>
              <a:gd name="adj" fmla="val 50000"/>
            </a:avLst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322576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IMPLEMENTED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1719072" y="2057400"/>
            <a:ext cx="109728" cy="0"/>
          </a:xfrm>
          <a:prstGeom prst="line">
            <a:avLst/>
          </a:prstGeom>
          <a:noFill/>
          <a:ln w="22225">
            <a:solidFill>
              <a:srgbClr val="0B1D33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828800" y="1481328"/>
            <a:ext cx="1261872" cy="1143000"/>
          </a:xfrm>
          <a:prstGeom prst="roundRect">
            <a:avLst>
              <a:gd name="adj" fmla="val 6400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920240" y="155448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B1D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920240" y="1810512"/>
            <a:ext cx="1078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to TFS, driver commit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920240" y="2322576"/>
            <a:ext cx="868680" cy="201168"/>
          </a:xfrm>
          <a:prstGeom prst="roundRect">
            <a:avLst>
              <a:gd name="adj" fmla="val 50000"/>
            </a:avLst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920240" y="2322576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IMPLEMENTED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3090672" y="2057400"/>
            <a:ext cx="109728" cy="0"/>
          </a:xfrm>
          <a:prstGeom prst="line">
            <a:avLst/>
          </a:prstGeom>
          <a:noFill/>
          <a:ln w="22225">
            <a:solidFill>
              <a:srgbClr val="0B1D33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200400" y="1481328"/>
            <a:ext cx="1261872" cy="1143000"/>
          </a:xfrm>
          <a:prstGeom prst="roundRect">
            <a:avLst>
              <a:gd name="adj" fmla="val 6400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291840" y="155448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B1D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Telemetry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3291840" y="1810512"/>
            <a:ext cx="1078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synthetic, every 5 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291840" y="2322576"/>
            <a:ext cx="868680" cy="201168"/>
          </a:xfrm>
          <a:prstGeom prst="roundRect">
            <a:avLst>
              <a:gd name="adj" fmla="val 50000"/>
            </a:avLst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291840" y="2322576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MOCK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4462272" y="2057400"/>
            <a:ext cx="109728" cy="0"/>
          </a:xfrm>
          <a:prstGeom prst="line">
            <a:avLst/>
          </a:prstGeom>
          <a:noFill/>
          <a:ln w="22225">
            <a:solidFill>
              <a:srgbClr val="0B1D33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4572000" y="1481328"/>
            <a:ext cx="1261872" cy="1143000"/>
          </a:xfrm>
          <a:prstGeom prst="roundRect">
            <a:avLst>
              <a:gd name="adj" fmla="val 6400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663440" y="155448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B1D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Drift check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663440" y="1810512"/>
            <a:ext cx="1078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thresholds, every 10 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663440" y="2322576"/>
            <a:ext cx="868680" cy="201168"/>
          </a:xfrm>
          <a:prstGeom prst="roundRect">
            <a:avLst>
              <a:gd name="adj" fmla="val 50000"/>
            </a:avLst>
          </a:prstGeom>
          <a:solidFill>
            <a:srgbClr val="E8912D"/>
          </a:solidFill>
          <a:ln w="12700">
            <a:solidFill>
              <a:srgbClr val="E8912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663440" y="2322576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PARTIAL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5833872" y="2057400"/>
            <a:ext cx="109728" cy="0"/>
          </a:xfrm>
          <a:prstGeom prst="line">
            <a:avLst/>
          </a:prstGeom>
          <a:noFill/>
          <a:ln w="22225">
            <a:solidFill>
              <a:srgbClr val="0B1D33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5943600" y="1481328"/>
            <a:ext cx="1261872" cy="1143000"/>
          </a:xfrm>
          <a:prstGeom prst="roundRect">
            <a:avLst>
              <a:gd name="adj" fmla="val 6400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035040" y="155448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B1D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6035040" y="1810512"/>
            <a:ext cx="1078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state + event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35040" y="2322576"/>
            <a:ext cx="868680" cy="201168"/>
          </a:xfrm>
          <a:prstGeom prst="roundRect">
            <a:avLst>
              <a:gd name="adj" fmla="val 50000"/>
            </a:avLst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035040" y="2322576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IMPLEMENTED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7205472" y="2057400"/>
            <a:ext cx="109728" cy="0"/>
          </a:xfrm>
          <a:prstGeom prst="line">
            <a:avLst/>
          </a:prstGeom>
          <a:noFill/>
          <a:ln w="22225">
            <a:solidFill>
              <a:srgbClr val="0B1D33"/>
            </a:solidFill>
            <a:prstDash val="solid"/>
            <a:headEnd type="none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7315200" y="1481328"/>
            <a:ext cx="1261872" cy="1143000"/>
          </a:xfrm>
          <a:prstGeom prst="roundRect">
            <a:avLst>
              <a:gd name="adj" fmla="val 6400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406640" y="155448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B1D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Remediate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7406640" y="1810512"/>
            <a:ext cx="1078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runs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7406640" y="2322576"/>
            <a:ext cx="86868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9AA7B4"/>
            </a:solidFill>
            <a:prstDash val="dash"/>
          </a:ln>
        </p:spPr>
      </p:sp>
      <p:sp>
        <p:nvSpPr>
          <p:cNvPr id="39" name="Text 37"/>
          <p:cNvSpPr txBox="1"/>
          <p:nvPr/>
        </p:nvSpPr>
        <p:spPr>
          <a:xfrm>
            <a:off x="7406640" y="2322576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5A6B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70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3017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22A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57200" y="3310128"/>
            <a:ext cx="1261872" cy="1143000"/>
          </a:xfrm>
          <a:prstGeom prst="roundRect">
            <a:avLst>
              <a:gd name="adj" fmla="val 6400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48640" y="338328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B1D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Intent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548640" y="3639312"/>
            <a:ext cx="1078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live telemetry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48640" y="4151376"/>
            <a:ext cx="868680" cy="201168"/>
          </a:xfrm>
          <a:prstGeom prst="roundRect">
            <a:avLst>
              <a:gd name="adj" fmla="val 50000"/>
            </a:avLst>
          </a:prstGeom>
          <a:solidFill>
            <a:srgbClr val="E8912D"/>
          </a:solidFill>
          <a:ln w="12700">
            <a:solidFill>
              <a:srgbClr val="E8912D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151376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PARTIAL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1719072" y="3886200"/>
            <a:ext cx="109728" cy="0"/>
          </a:xfrm>
          <a:prstGeom prst="line">
            <a:avLst/>
          </a:prstGeom>
          <a:noFill/>
          <a:ln w="22225">
            <a:solidFill>
              <a:srgbClr val="0B1D33"/>
            </a:solidFill>
            <a:prstDash val="solid"/>
            <a:headEnd type="none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1828800" y="3310128"/>
            <a:ext cx="1261872" cy="1143000"/>
          </a:xfrm>
          <a:prstGeom prst="roundRect">
            <a:avLst>
              <a:gd name="adj" fmla="val 6400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920240" y="338328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B1D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What-if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1920240" y="3639312"/>
            <a:ext cx="1078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ns-3 job per candidate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1920240" y="4151376"/>
            <a:ext cx="868680" cy="201168"/>
          </a:xfrm>
          <a:prstGeom prst="roundRect">
            <a:avLst>
              <a:gd name="adj" fmla="val 50000"/>
            </a:avLst>
          </a:prstGeom>
          <a:solidFill>
            <a:srgbClr val="E8912D"/>
          </a:solidFill>
          <a:ln w="12700">
            <a:solidFill>
              <a:srgbClr val="E8912D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1920240" y="4151376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PARTIAL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3090672" y="3886200"/>
            <a:ext cx="109728" cy="0"/>
          </a:xfrm>
          <a:prstGeom prst="line">
            <a:avLst/>
          </a:prstGeom>
          <a:noFill/>
          <a:ln w="22225">
            <a:solidFill>
              <a:srgbClr val="0B1D33"/>
            </a:solidFill>
            <a:prstDash val="solid"/>
            <a:headEnd type="none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3200400" y="3310128"/>
            <a:ext cx="1261872" cy="1143000"/>
          </a:xfrm>
          <a:prstGeom prst="roundRect">
            <a:avLst>
              <a:gd name="adj" fmla="val 6400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291840" y="338328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B1D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</a:t>
            </a:r>
            <a:endParaRPr lang="en-US" sz="10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3639312"/>
            <a:ext cx="1078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simulated KPIs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3291840" y="4151376"/>
            <a:ext cx="86868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9AA7B4"/>
            </a:solidFill>
            <a:prstDash val="dash"/>
          </a:ln>
        </p:spPr>
      </p:sp>
      <p:sp>
        <p:nvSpPr>
          <p:cNvPr id="57" name="Text 55"/>
          <p:cNvSpPr txBox="1"/>
          <p:nvPr/>
        </p:nvSpPr>
        <p:spPr>
          <a:xfrm>
            <a:off x="3291840" y="4151376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5A6B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4462272" y="3886200"/>
            <a:ext cx="109728" cy="0"/>
          </a:xfrm>
          <a:prstGeom prst="line">
            <a:avLst/>
          </a:prstGeom>
          <a:noFill/>
          <a:ln w="22225">
            <a:solidFill>
              <a:srgbClr val="0B1D33"/>
            </a:solidFill>
            <a:prstDash val="solid"/>
            <a:headEnd type="none"/>
            <a:tailEnd type="triangle"/>
          </a:ln>
        </p:spPr>
      </p:sp>
      <p:sp>
        <p:nvSpPr>
          <p:cNvPr id="59" name="Shape 57"/>
          <p:cNvSpPr/>
          <p:nvPr/>
        </p:nvSpPr>
        <p:spPr>
          <a:xfrm>
            <a:off x="4572000" y="3310128"/>
            <a:ext cx="1261872" cy="1143000"/>
          </a:xfrm>
          <a:prstGeom prst="roundRect">
            <a:avLst>
              <a:gd name="adj" fmla="val 6400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4663440" y="338328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B1D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</a:t>
            </a:r>
            <a:endParaRPr lang="en-US" sz="1050" dirty="0"/>
          </a:p>
        </p:txBody>
      </p:sp>
      <p:sp>
        <p:nvSpPr>
          <p:cNvPr id="61" name="Text 59"/>
          <p:cNvSpPr txBox="1"/>
          <p:nvPr/>
        </p:nvSpPr>
        <p:spPr>
          <a:xfrm>
            <a:off x="4663440" y="3639312"/>
            <a:ext cx="1078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→ commit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4663440" y="4151376"/>
            <a:ext cx="868680" cy="201168"/>
          </a:xfrm>
          <a:prstGeom prst="roundRect">
            <a:avLst>
              <a:gd name="adj" fmla="val 50000"/>
            </a:avLst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4663440" y="4151376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IMPLEMENTED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5833872" y="3886200"/>
            <a:ext cx="109728" cy="0"/>
          </a:xfrm>
          <a:prstGeom prst="line">
            <a:avLst/>
          </a:prstGeom>
          <a:noFill/>
          <a:ln w="22225">
            <a:solidFill>
              <a:srgbClr val="0B1D33"/>
            </a:solidFill>
            <a:prstDash val="solid"/>
            <a:headEnd type="none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5943600" y="3310128"/>
            <a:ext cx="1261872" cy="1143000"/>
          </a:xfrm>
          <a:prstGeom prst="roundRect">
            <a:avLst>
              <a:gd name="adj" fmla="val 6400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6035040" y="338328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B1D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</a:t>
            </a:r>
            <a:endParaRPr lang="en-US" sz="1050" dirty="0"/>
          </a:p>
        </p:txBody>
      </p:sp>
      <p:sp>
        <p:nvSpPr>
          <p:cNvPr id="67" name="Text 65"/>
          <p:cNvSpPr txBox="1"/>
          <p:nvPr/>
        </p:nvSpPr>
        <p:spPr>
          <a:xfrm>
            <a:off x="6035040" y="3639312"/>
            <a:ext cx="1078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YANG-Push read-back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6035040" y="4151376"/>
            <a:ext cx="86868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9AA7B4"/>
            </a:solidFill>
            <a:prstDash val="dash"/>
          </a:ln>
        </p:spPr>
      </p:sp>
      <p:sp>
        <p:nvSpPr>
          <p:cNvPr id="69" name="Text 67"/>
          <p:cNvSpPr txBox="1"/>
          <p:nvPr/>
        </p:nvSpPr>
        <p:spPr>
          <a:xfrm>
            <a:off x="6035040" y="4151376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5A6B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700" dirty="0"/>
          </a:p>
        </p:txBody>
      </p:sp>
      <p:sp>
        <p:nvSpPr>
          <p:cNvPr id="70" name="Shape 68"/>
          <p:cNvSpPr/>
          <p:nvPr/>
        </p:nvSpPr>
        <p:spPr>
          <a:xfrm>
            <a:off x="7205472" y="3886200"/>
            <a:ext cx="109728" cy="0"/>
          </a:xfrm>
          <a:prstGeom prst="line">
            <a:avLst/>
          </a:prstGeom>
          <a:noFill/>
          <a:ln w="22225">
            <a:solidFill>
              <a:srgbClr val="0B1D33"/>
            </a:solidFill>
            <a:prstDash val="solid"/>
            <a:headEnd type="none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7315200" y="3310128"/>
            <a:ext cx="1261872" cy="1143000"/>
          </a:xfrm>
          <a:prstGeom prst="roundRect">
            <a:avLst>
              <a:gd name="adj" fmla="val 6400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7406640" y="338328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B1D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Rollback</a:t>
            </a:r>
            <a:endParaRPr lang="en-US" sz="1050" dirty="0"/>
          </a:p>
        </p:txBody>
      </p:sp>
      <p:sp>
        <p:nvSpPr>
          <p:cNvPr id="73" name="Text 71"/>
          <p:cNvSpPr txBox="1"/>
          <p:nvPr/>
        </p:nvSpPr>
        <p:spPr>
          <a:xfrm>
            <a:off x="7406640" y="3639312"/>
            <a:ext cx="1078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KPIs regress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7406640" y="4151376"/>
            <a:ext cx="86868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9AA7B4"/>
            </a:solidFill>
            <a:prstDash val="dash"/>
          </a:ln>
        </p:spPr>
      </p:sp>
      <p:sp>
        <p:nvSpPr>
          <p:cNvPr id="75" name="Text 73"/>
          <p:cNvSpPr txBox="1"/>
          <p:nvPr/>
        </p:nvSpPr>
        <p:spPr>
          <a:xfrm>
            <a:off x="7406640" y="4151376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5A6B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FA3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D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Claimed vs implemented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3017520" y="118872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CODE DOES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7589520" y="118872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329184"/>
          </a:xfrm>
          <a:prstGeom prst="rect">
            <a:avLst/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463040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IETF RFC 8040 RESTCONF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017520" y="146304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Ceragon driver: PATCH candidate, commit, discard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7589520" y="1527048"/>
            <a:ext cx="868680" cy="201168"/>
          </a:xfrm>
          <a:prstGeom prst="roundRect">
            <a:avLst>
              <a:gd name="adj" fmla="val 50000"/>
            </a:avLst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589520" y="1527048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IMPLEMENTED</a:t>
            </a:r>
            <a:endParaRPr lang="en-US" sz="7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1792224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IETF RFC 7950 YANG 1.1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3017520" y="1792224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bundled models; payload templates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589520" y="1856232"/>
            <a:ext cx="868680" cy="201168"/>
          </a:xfrm>
          <a:prstGeom prst="roundRect">
            <a:avLst>
              <a:gd name="adj" fmla="val 50000"/>
            </a:avLst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589520" y="1856232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IMPLEMENTED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457200" y="2121408"/>
            <a:ext cx="8229600" cy="329184"/>
          </a:xfrm>
          <a:prstGeom prst="rect">
            <a:avLst/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2121408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IETF RFC 8345 topology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3017520" y="212140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TFS NBI plugin exists; not used by our code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589520" y="2185416"/>
            <a:ext cx="86868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9AA7B4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7589520" y="2185416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5A6B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7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2450592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IETF RFC 6241 NETCONF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3017520" y="2450592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XML generated by yang_builder, never sent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589520" y="2514600"/>
            <a:ext cx="868680" cy="201168"/>
          </a:xfrm>
          <a:prstGeom prst="roundRect">
            <a:avLst>
              <a:gd name="adj" fmla="val 50000"/>
            </a:avLst>
          </a:prstGeom>
          <a:solidFill>
            <a:srgbClr val="E8912D"/>
          </a:solidFill>
          <a:ln w="12700">
            <a:solidFill>
              <a:srgbClr val="E8912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589520" y="2514600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PARTIAL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457200" y="2779776"/>
            <a:ext cx="8229600" cy="329184"/>
          </a:xfrm>
          <a:prstGeom prst="rect">
            <a:avLst/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48640" y="2779776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Forum TMF921 intent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3017520" y="277977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schema; :9100 endpoint stores and acknowledges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589520" y="2843784"/>
            <a:ext cx="868680" cy="201168"/>
          </a:xfrm>
          <a:prstGeom prst="roundRect">
            <a:avLst>
              <a:gd name="adj" fmla="val 50000"/>
            </a:avLst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589520" y="2843784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MOCK</a:t>
            </a:r>
            <a:endParaRPr lang="en-US" sz="7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3108960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3GPP TS 28.561 NDT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3017520" y="310896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NDTI state enum only; no NDTJob or report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7589520" y="3172968"/>
            <a:ext cx="868680" cy="201168"/>
          </a:xfrm>
          <a:prstGeom prst="roundRect">
            <a:avLst>
              <a:gd name="adj" fmla="val 50000"/>
            </a:avLst>
          </a:prstGeom>
          <a:solidFill>
            <a:srgbClr val="E8912D"/>
          </a:solidFill>
          <a:ln w="12700">
            <a:solidFill>
              <a:srgbClr val="E8912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589520" y="3172968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PARTIAL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457200" y="3438144"/>
            <a:ext cx="8229600" cy="329184"/>
          </a:xfrm>
          <a:prstGeom prst="rect">
            <a:avLst/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48640" y="3438144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3GPP TS 29.222 CAPIF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3017520" y="3438144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discovery JSON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7589520" y="3502152"/>
            <a:ext cx="868680" cy="201168"/>
          </a:xfrm>
          <a:prstGeom prst="roundRect">
            <a:avLst>
              <a:gd name="adj" fmla="val 50000"/>
            </a:avLst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589520" y="3502152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MOCK</a:t>
            </a:r>
            <a:endParaRPr lang="en-US" sz="70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3767328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ITU-T Y.3090 / Y.3092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3017520" y="376732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on endpoints and slides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7589520" y="3831336"/>
            <a:ext cx="86868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9AA7B4"/>
            </a:solidFill>
            <a:prstDash val="dash"/>
          </a:ln>
        </p:spPr>
      </p:sp>
      <p:sp>
        <p:nvSpPr>
          <p:cNvPr id="42" name="Text 40"/>
          <p:cNvSpPr txBox="1"/>
          <p:nvPr/>
        </p:nvSpPr>
        <p:spPr>
          <a:xfrm>
            <a:off x="7589520" y="3831336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5A6B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457200" y="4096512"/>
            <a:ext cx="8229600" cy="329184"/>
          </a:xfrm>
          <a:prstGeom prst="rect">
            <a:avLst/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096512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YANG-Push / gNMI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3017520" y="4096512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claimed in docs; driver subscribes to nothing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589520" y="4160520"/>
            <a:ext cx="86868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9AA7B4"/>
            </a:solidFill>
            <a:prstDash val="dash"/>
          </a:ln>
        </p:spPr>
      </p:sp>
      <p:sp>
        <p:nvSpPr>
          <p:cNvPr id="47" name="Text 45"/>
          <p:cNvSpPr txBox="1"/>
          <p:nvPr/>
        </p:nvSpPr>
        <p:spPr>
          <a:xfrm>
            <a:off x="7589520" y="4160520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5A6B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700" dirty="0"/>
          </a:p>
        </p:txBody>
      </p:sp>
      <p:sp>
        <p:nvSpPr>
          <p:cNvPr id="48" name="Text 46"/>
          <p:cNvSpPr txBox="1"/>
          <p:nvPr/>
        </p:nvSpPr>
        <p:spPr>
          <a:xfrm>
            <a:off x="548640" y="4425696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ITU-R P.838 rain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3017520" y="442569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approximate coefficients in formulas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7589520" y="4489704"/>
            <a:ext cx="868680" cy="201168"/>
          </a:xfrm>
          <a:prstGeom prst="roundRect">
            <a:avLst>
              <a:gd name="adj" fmla="val 50000"/>
            </a:avLst>
          </a:prstGeom>
          <a:solidFill>
            <a:srgbClr val="E8912D"/>
          </a:solidFill>
          <a:ln w="12700">
            <a:solidFill>
              <a:srgbClr val="E8912D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589520" y="4489704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PARTIAL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FA3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STANDARDS STACK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D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TFS ↔ ns-3: what exists today, what is coming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2377440" y="1188720"/>
            <a:ext cx="3520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22A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NOW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035040" y="118872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E89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EMERGING · 2026–28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618488"/>
            <a:ext cx="420624" cy="420624"/>
          </a:xfrm>
          <a:prstGeom prst="ellipse">
            <a:avLst/>
          </a:prstGeom>
          <a:solidFill>
            <a:srgbClr val="14304F"/>
          </a:solidFill>
          <a:ln w="12700">
            <a:solidFill>
              <a:srgbClr val="14304F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" y="1723644"/>
            <a:ext cx="210312" cy="21031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87552" y="1581912"/>
            <a:ext cx="1325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2B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control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987552" y="182880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start, steer, stop what-if runs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377440" y="1463040"/>
            <a:ext cx="3520440" cy="329184"/>
          </a:xfrm>
          <a:prstGeom prst="roundRect">
            <a:avLst>
              <a:gd name="adj" fmla="val 16667"/>
            </a:avLst>
          </a:prstGeom>
          <a:solidFill>
            <a:srgbClr val="DDF3E8"/>
          </a:solidFill>
          <a:ln w="12700">
            <a:solidFill>
              <a:srgbClr val="DDF3E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468880" y="1463040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5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3GPP TS 28.561 NDTJob over TS 28.532 REST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035040" y="1463040"/>
            <a:ext cx="265176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8912D"/>
            </a:solidFill>
            <a:prstDash val="dash"/>
          </a:ln>
        </p:spPr>
      </p:sp>
      <p:sp>
        <p:nvSpPr>
          <p:cNvPr id="13" name="Text 10"/>
          <p:cNvSpPr txBox="1"/>
          <p:nvPr/>
        </p:nvSpPr>
        <p:spPr>
          <a:xfrm>
            <a:off x="6126480" y="1463040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3GPP Rel-20 NDT phase 2 (TR 28.883)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2377440" y="1856232"/>
            <a:ext cx="3520440" cy="329184"/>
          </a:xfrm>
          <a:prstGeom prst="roundRect">
            <a:avLst>
              <a:gd name="adj" fmla="val 1666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468880" y="1856232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ITU-T Y.3092 NDT-m interface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035040" y="1856232"/>
            <a:ext cx="265176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8912D"/>
            </a:solidFill>
            <a:prstDash val="dash"/>
          </a:ln>
        </p:spPr>
      </p:sp>
      <p:sp>
        <p:nvSpPr>
          <p:cNvPr id="17" name="Text 14"/>
          <p:cNvSpPr txBox="1"/>
          <p:nvPr/>
        </p:nvSpPr>
        <p:spPr>
          <a:xfrm>
            <a:off x="6126480" y="1856232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ITU-T Q.SDTN twin signalling protocol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457200" y="2295144"/>
            <a:ext cx="8229600" cy="0"/>
          </a:xfrm>
          <a:prstGeom prst="line">
            <a:avLst/>
          </a:prstGeom>
          <a:noFill/>
          <a:ln w="9525">
            <a:solidFill>
              <a:srgbClr val="D5DDE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57200" y="2532888"/>
            <a:ext cx="420624" cy="420624"/>
          </a:xfrm>
          <a:prstGeom prst="ellipse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" y="2638044"/>
            <a:ext cx="210312" cy="210312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987552" y="2496312"/>
            <a:ext cx="1325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2B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sync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987552" y="274320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topology, RF state, KPIs</a:t>
            </a:r>
            <a:endParaRPr lang="en-US" sz="900" dirty="0"/>
          </a:p>
        </p:txBody>
      </p:sp>
      <p:sp>
        <p:nvSpPr>
          <p:cNvPr id="23" name="Shape 19"/>
          <p:cNvSpPr/>
          <p:nvPr/>
        </p:nvSpPr>
        <p:spPr>
          <a:xfrm>
            <a:off x="2377440" y="2377440"/>
            <a:ext cx="3520440" cy="329184"/>
          </a:xfrm>
          <a:prstGeom prst="roundRect">
            <a:avLst>
              <a:gd name="adj" fmla="val 16667"/>
            </a:avLst>
          </a:prstGeom>
          <a:solidFill>
            <a:srgbClr val="DDF3E8"/>
          </a:solidFill>
          <a:ln w="12700">
            <a:solidFill>
              <a:srgbClr val="DDF3E8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2468880" y="2377440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5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TFS NBI + KPI/telemetry components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6035040" y="2377440"/>
            <a:ext cx="265176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8912D"/>
            </a:solidFill>
            <a:prstDash val="dash"/>
          </a:ln>
        </p:spPr>
      </p:sp>
      <p:sp>
        <p:nvSpPr>
          <p:cNvPr id="26" name="Text 22"/>
          <p:cNvSpPr txBox="1"/>
          <p:nvPr/>
        </p:nvSpPr>
        <p:spPr>
          <a:xfrm>
            <a:off x="6126480" y="2377440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Rel-20 NDT data collection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2377440" y="2770632"/>
            <a:ext cx="3520440" cy="329184"/>
          </a:xfrm>
          <a:prstGeom prst="roundRect">
            <a:avLst>
              <a:gd name="adj" fmla="val 1666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2468880" y="2770632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YANG-Push (RFC 8641) · gNMI · Y.3092 NDT-p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6035040" y="2770632"/>
            <a:ext cx="265176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8912D"/>
            </a:solidFill>
            <a:prstDash val="dash"/>
          </a:ln>
        </p:spPr>
      </p:sp>
      <p:sp>
        <p:nvSpPr>
          <p:cNvPr id="30" name="Text 26"/>
          <p:cNvSpPr txBox="1"/>
          <p:nvPr/>
        </p:nvSpPr>
        <p:spPr>
          <a:xfrm>
            <a:off x="6126480" y="2770632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IRTF NMRG twin interface drafts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457200" y="3209544"/>
            <a:ext cx="8229600" cy="0"/>
          </a:xfrm>
          <a:prstGeom prst="line">
            <a:avLst/>
          </a:prstGeom>
          <a:noFill/>
          <a:ln w="9525">
            <a:solidFill>
              <a:srgbClr val="D5DDE5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457200" y="3447288"/>
            <a:ext cx="420624" cy="420624"/>
          </a:xfrm>
          <a:prstGeom prst="ellipse">
            <a:avLst/>
          </a:prstGeom>
          <a:solidFill>
            <a:srgbClr val="0FA3B1"/>
          </a:solidFill>
          <a:ln w="12700">
            <a:solidFill>
              <a:srgbClr val="0FA3B1"/>
            </a:solidFill>
            <a:prstDash val="solid"/>
          </a:ln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" y="3552444"/>
            <a:ext cx="210312" cy="210312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987552" y="3410712"/>
            <a:ext cx="1325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2B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models</a:t>
            </a:r>
            <a:endParaRPr lang="en-US" sz="1150" dirty="0"/>
          </a:p>
        </p:txBody>
      </p:sp>
      <p:sp>
        <p:nvSpPr>
          <p:cNvPr id="35" name="Text 30"/>
          <p:cNvSpPr txBox="1"/>
          <p:nvPr/>
        </p:nvSpPr>
        <p:spPr>
          <a:xfrm>
            <a:off x="987552" y="365760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graph and data mean</a:t>
            </a:r>
            <a:endParaRPr lang="en-US" sz="900" dirty="0"/>
          </a:p>
        </p:txBody>
      </p:sp>
      <p:sp>
        <p:nvSpPr>
          <p:cNvPr id="36" name="Shape 31"/>
          <p:cNvSpPr/>
          <p:nvPr/>
        </p:nvSpPr>
        <p:spPr>
          <a:xfrm>
            <a:off x="2377440" y="3291840"/>
            <a:ext cx="3520440" cy="329184"/>
          </a:xfrm>
          <a:prstGeom prst="roundRect">
            <a:avLst>
              <a:gd name="adj" fmla="val 16667"/>
            </a:avLst>
          </a:prstGeom>
          <a:solidFill>
            <a:srgbClr val="DDF3E8"/>
          </a:solidFill>
          <a:ln w="12700">
            <a:solidFill>
              <a:srgbClr val="DDF3E8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2468880" y="3291840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5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IETF RFC 8345 topology (TFS ietf_network NBI)</a:t>
            </a:r>
            <a:endParaRPr lang="en-US" sz="950" dirty="0"/>
          </a:p>
        </p:txBody>
      </p:sp>
      <p:sp>
        <p:nvSpPr>
          <p:cNvPr id="38" name="Shape 33"/>
          <p:cNvSpPr/>
          <p:nvPr/>
        </p:nvSpPr>
        <p:spPr>
          <a:xfrm>
            <a:off x="6035040" y="3291840"/>
            <a:ext cx="265176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8912D"/>
            </a:solidFill>
            <a:prstDash val="dash"/>
          </a:ln>
        </p:spPr>
      </p:sp>
      <p:sp>
        <p:nvSpPr>
          <p:cNvPr id="39" name="Text 34"/>
          <p:cNvSpPr txBox="1"/>
          <p:nvPr/>
        </p:nvSpPr>
        <p:spPr>
          <a:xfrm>
            <a:off x="6126480" y="3291840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Multi-twin collaboration (TR 28.883)</a:t>
            </a:r>
            <a:endParaRPr lang="en-US" sz="950" dirty="0"/>
          </a:p>
        </p:txBody>
      </p:sp>
      <p:sp>
        <p:nvSpPr>
          <p:cNvPr id="40" name="Shape 35"/>
          <p:cNvSpPr/>
          <p:nvPr/>
        </p:nvSpPr>
        <p:spPr>
          <a:xfrm>
            <a:off x="2377440" y="3685032"/>
            <a:ext cx="3520440" cy="329184"/>
          </a:xfrm>
          <a:prstGeom prst="roundRect">
            <a:avLst>
              <a:gd name="adj" fmla="val 1666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2468880" y="3685032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ITU-T Y.3093 data · Y.3094 model domain</a:t>
            </a:r>
            <a:endParaRPr lang="en-US" sz="950" dirty="0"/>
          </a:p>
        </p:txBody>
      </p:sp>
      <p:sp>
        <p:nvSpPr>
          <p:cNvPr id="42" name="Shape 37"/>
          <p:cNvSpPr/>
          <p:nvPr/>
        </p:nvSpPr>
        <p:spPr>
          <a:xfrm>
            <a:off x="6035040" y="3685032"/>
            <a:ext cx="265176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8912D"/>
            </a:solidFill>
            <a:prstDash val="dash"/>
          </a:ln>
        </p:spPr>
      </p:sp>
      <p:sp>
        <p:nvSpPr>
          <p:cNvPr id="43" name="Text 38"/>
          <p:cNvSpPr txBox="1"/>
          <p:nvPr/>
        </p:nvSpPr>
        <p:spPr>
          <a:xfrm>
            <a:off x="6126480" y="3685032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O-RAN nGRG digital-twin research</a:t>
            </a:r>
            <a:endParaRPr lang="en-US" sz="950" dirty="0"/>
          </a:p>
        </p:txBody>
      </p:sp>
      <p:sp>
        <p:nvSpPr>
          <p:cNvPr id="44" name="Shape 39"/>
          <p:cNvSpPr/>
          <p:nvPr/>
        </p:nvSpPr>
        <p:spPr>
          <a:xfrm>
            <a:off x="457200" y="4224528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0B1D33"/>
          </a:solidFill>
          <a:ln w="12700">
            <a:solidFill>
              <a:srgbClr val="0B1D33"/>
            </a:solidFill>
            <a:prstDash val="solid"/>
          </a:ln>
        </p:spPr>
      </p:sp>
      <p:sp>
        <p:nvSpPr>
          <p:cNvPr id="45" name="Text 40"/>
          <p:cNvSpPr txBox="1"/>
          <p:nvPr/>
        </p:nvSpPr>
        <p:spPr>
          <a:xfrm>
            <a:off x="640080" y="4224528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Frameworks: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ITU-T Y.3090  ·  ETSI GR ZSM 015  ·  IRTF NMRG twin architecture</a:t>
            </a:r>
            <a:pPr indent="0" marL="0">
              <a:buNone/>
            </a:pPr>
            <a:r>
              <a:rPr lang="en-US" sz="1050" b="1" dirty="0">
                <a:solidFill>
                  <a:srgbClr val="6FD3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★ = our recommended stack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FA3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 REGISTER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D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ten gaps, ranked by risk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18872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118872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333756"/>
          </a:xfrm>
          <a:prstGeom prst="rect">
            <a:avLst/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27048"/>
            <a:ext cx="594360" cy="201168"/>
          </a:xfrm>
          <a:prstGeom prst="roundRect">
            <a:avLst>
              <a:gd name="adj" fmla="val 50000"/>
            </a:avLst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52704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7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1463040"/>
            <a:ext cx="402336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Fallback constants labelled as ns-3 results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486400" y="1463040"/>
            <a:ext cx="315468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tsn_simulation_runner.py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548640" y="1860804"/>
            <a:ext cx="594360" cy="201168"/>
          </a:xfrm>
          <a:prstGeom prst="roundRect">
            <a:avLst>
              <a:gd name="adj" fmla="val 50000"/>
            </a:avLst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1860804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7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1796796"/>
            <a:ext cx="402336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Failed TFS write reported as success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0" y="1796796"/>
            <a:ext cx="315468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digital_twin_routes.py · web_dashboard.py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57200" y="2130552"/>
            <a:ext cx="8229600" cy="333756"/>
          </a:xfrm>
          <a:prstGeom prst="rect">
            <a:avLst/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2194560"/>
            <a:ext cx="594360" cy="201168"/>
          </a:xfrm>
          <a:prstGeom prst="roundRect">
            <a:avLst>
              <a:gd name="adj" fmla="val 50000"/>
            </a:avLst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2194560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7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2130552"/>
            <a:ext cx="402336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Intent keys don't match driver keys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0" y="2130552"/>
            <a:ext cx="315468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adapter.py ↔ CeragonDriver.py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48640" y="2528316"/>
            <a:ext cx="594360" cy="201168"/>
          </a:xfrm>
          <a:prstGeom prst="roundRect">
            <a:avLst>
              <a:gd name="adj" fmla="val 50000"/>
            </a:avLst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2528316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700" dirty="0"/>
          </a:p>
        </p:txBody>
      </p:sp>
      <p:sp>
        <p:nvSpPr>
          <p:cNvPr id="23" name="Text 21"/>
          <p:cNvSpPr txBox="1"/>
          <p:nvPr/>
        </p:nvSpPr>
        <p:spPr>
          <a:xfrm>
            <a:off x="1417320" y="2464308"/>
            <a:ext cx="402336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Device state is canned, not read back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0" y="2464308"/>
            <a:ext cx="315468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ceragon/client.py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2798064"/>
            <a:ext cx="8229600" cy="333756"/>
          </a:xfrm>
          <a:prstGeom prst="rect">
            <a:avLst/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2862072"/>
            <a:ext cx="594360" cy="201168"/>
          </a:xfrm>
          <a:prstGeom prst="roundRect">
            <a:avLst>
              <a:gd name="adj" fmla="val 50000"/>
            </a:avLst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2862072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1417320" y="2798064"/>
            <a:ext cx="402336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admin/admin, verify=False, creds in wire log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0" y="2798064"/>
            <a:ext cx="315468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descriptors · clients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48640" y="3195828"/>
            <a:ext cx="594360" cy="201168"/>
          </a:xfrm>
          <a:prstGeom prst="roundRect">
            <a:avLst>
              <a:gd name="adj" fmla="val 50000"/>
            </a:avLst>
          </a:prstGeom>
          <a:solidFill>
            <a:srgbClr val="E8912D"/>
          </a:solidFill>
          <a:ln w="12700">
            <a:solidFill>
              <a:srgbClr val="E8912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8640" y="31958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</a:t>
            </a:r>
            <a:endParaRPr lang="en-US" sz="700" dirty="0"/>
          </a:p>
        </p:txBody>
      </p:sp>
      <p:sp>
        <p:nvSpPr>
          <p:cNvPr id="32" name="Text 30"/>
          <p:cNvSpPr txBox="1"/>
          <p:nvPr/>
        </p:nvSpPr>
        <p:spPr>
          <a:xfrm>
            <a:off x="1417320" y="3131820"/>
            <a:ext cx="402336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No telemetry subscription from radios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0" y="3131820"/>
            <a:ext cx="315468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CeragonDriver.SubscribeState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57200" y="3465576"/>
            <a:ext cx="8229600" cy="333756"/>
          </a:xfrm>
          <a:prstGeom prst="rect">
            <a:avLst/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48640" y="3529584"/>
            <a:ext cx="594360" cy="201168"/>
          </a:xfrm>
          <a:prstGeom prst="roundRect">
            <a:avLst>
              <a:gd name="adj" fmla="val 50000"/>
            </a:avLst>
          </a:prstGeom>
          <a:solidFill>
            <a:srgbClr val="E8912D"/>
          </a:solidFill>
          <a:ln w="12700">
            <a:solidFill>
              <a:srgbClr val="E8912D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48640" y="3529584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1417320" y="3465576"/>
            <a:ext cx="402336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Drift detected on synthetic data, never fixed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0" y="3465576"/>
            <a:ext cx="315468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assurance/reconciler.py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548640" y="3863340"/>
            <a:ext cx="594360" cy="201168"/>
          </a:xfrm>
          <a:prstGeom prst="roundRect">
            <a:avLst>
              <a:gd name="adj" fmla="val 50000"/>
            </a:avLst>
          </a:prstGeom>
          <a:solidFill>
            <a:srgbClr val="E8912D"/>
          </a:solidFill>
          <a:ln w="12700">
            <a:solidFill>
              <a:srgbClr val="E8912D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863340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</a:t>
            </a:r>
            <a:endParaRPr lang="en-US" sz="700" dirty="0"/>
          </a:p>
        </p:txBody>
      </p:sp>
      <p:sp>
        <p:nvSpPr>
          <p:cNvPr id="41" name="Text 39"/>
          <p:cNvSpPr txBox="1"/>
          <p:nvPr/>
        </p:nvSpPr>
        <p:spPr>
          <a:xfrm>
            <a:off x="1417320" y="3799332"/>
            <a:ext cx="402336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Retune passes GHz as frequency_mhz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5486400" y="3799332"/>
            <a:ext cx="315468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tfs_digital_twin_api.py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57200" y="4133088"/>
            <a:ext cx="8229600" cy="333756"/>
          </a:xfrm>
          <a:prstGeom prst="rect">
            <a:avLst/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48640" y="4197096"/>
            <a:ext cx="594360" cy="201168"/>
          </a:xfrm>
          <a:prstGeom prst="roundRect">
            <a:avLst>
              <a:gd name="adj" fmla="val 50000"/>
            </a:avLst>
          </a:prstGeom>
          <a:solidFill>
            <a:srgbClr val="E8912D"/>
          </a:solidFill>
          <a:ln w="12700">
            <a:solidFill>
              <a:srgbClr val="E8912D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197096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</a:t>
            </a:r>
            <a:endParaRPr lang="en-US" sz="700" dirty="0"/>
          </a:p>
        </p:txBody>
      </p:sp>
      <p:sp>
        <p:nvSpPr>
          <p:cNvPr id="46" name="Text 44"/>
          <p:cNvSpPr txBox="1"/>
          <p:nvPr/>
        </p:nvSpPr>
        <p:spPr>
          <a:xfrm>
            <a:off x="1417320" y="4133088"/>
            <a:ext cx="402336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Core cer_intent package has no tests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5486400" y="4133088"/>
            <a:ext cx="315468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cer_intent/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48640" y="4530852"/>
            <a:ext cx="594360" cy="201168"/>
          </a:xfrm>
          <a:prstGeom prst="roundRect">
            <a:avLst>
              <a:gd name="adj" fmla="val 50000"/>
            </a:avLst>
          </a:prstGeom>
          <a:solidFill>
            <a:srgbClr val="9AA7B4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48640" y="4530852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</a:t>
            </a:r>
            <a:endParaRPr lang="en-US" sz="700" dirty="0"/>
          </a:p>
        </p:txBody>
      </p:sp>
      <p:sp>
        <p:nvSpPr>
          <p:cNvPr id="50" name="Text 48"/>
          <p:cNvSpPr txBox="1"/>
          <p:nvPr/>
        </p:nvSpPr>
        <p:spPr>
          <a:xfrm>
            <a:off x="1417320" y="4466844"/>
            <a:ext cx="402336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Duplicated modules, Windows paths, fixed host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5486400" y="4466844"/>
            <a:ext cx="315468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 · src/ · tfs_unity/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FA3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D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phases from demo to working twin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651760" cy="3611880"/>
          </a:xfrm>
          <a:prstGeom prst="roundRect">
            <a:avLst>
              <a:gd name="adj" fmla="val 2759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" y="1335024"/>
            <a:ext cx="420624" cy="420624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" y="1440180"/>
            <a:ext cx="210312" cy="210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316736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B1D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Make it truthful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1572768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676656" y="2057400"/>
            <a:ext cx="91440" cy="91440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68680" y="19659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mock and fallback output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76656" y="2395728"/>
            <a:ext cx="91440" cy="91440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68680" y="230428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Propagate TFS and driver errors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76656" y="2734056"/>
            <a:ext cx="91440" cy="91440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68680" y="2642616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key contract: intent ↔ driver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76656" y="3072384"/>
            <a:ext cx="91440" cy="91440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8680" y="298094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device read-back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76656" y="3410712"/>
            <a:ext cx="91440" cy="91440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8680" y="331927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out of repos; TLS on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76656" y="3749040"/>
            <a:ext cx="91440" cy="91440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68680" y="365760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for cer_intent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94360" y="4096512"/>
            <a:ext cx="237744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13232" y="4096512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Exit: every number on screen is real or labelled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3246120" y="1188720"/>
            <a:ext cx="2651760" cy="3611880"/>
          </a:xfrm>
          <a:prstGeom prst="roundRect">
            <a:avLst>
              <a:gd name="adj" fmla="val 2759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410712" y="1335024"/>
            <a:ext cx="420624" cy="420624"/>
          </a:xfrm>
          <a:prstGeom prst="ellipse">
            <a:avLst/>
          </a:prstGeom>
          <a:solidFill>
            <a:srgbClr val="E8912D"/>
          </a:solidFill>
          <a:ln w="12700">
            <a:solidFill>
              <a:srgbClr val="E8912D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5868" y="1440180"/>
            <a:ext cx="210312" cy="210312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3941064" y="1316736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B1D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Make the loop real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3941064" y="1572768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89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quarters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3465576" y="2057400"/>
            <a:ext cx="91440" cy="91440"/>
          </a:xfrm>
          <a:prstGeom prst="ellipse">
            <a:avLst/>
          </a:prstGeom>
          <a:solidFill>
            <a:srgbClr val="E8912D"/>
          </a:solidFill>
          <a:ln w="12700">
            <a:solidFill>
              <a:srgbClr val="E8912D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3657600" y="19659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What-if as TS 28.561 NDTJob API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3465576" y="2395728"/>
            <a:ext cx="91440" cy="91440"/>
          </a:xfrm>
          <a:prstGeom prst="ellipse">
            <a:avLst/>
          </a:prstGeom>
          <a:solidFill>
            <a:srgbClr val="E8912D"/>
          </a:solidFill>
          <a:ln w="12700">
            <a:solidFill>
              <a:srgbClr val="E8912D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3657600" y="230428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computed from ns-3 KPIs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3465576" y="2734056"/>
            <a:ext cx="91440" cy="91440"/>
          </a:xfrm>
          <a:prstGeom prst="ellipse">
            <a:avLst/>
          </a:prstGeom>
          <a:solidFill>
            <a:srgbClr val="E8912D"/>
          </a:solidFill>
          <a:ln w="12700">
            <a:solidFill>
              <a:srgbClr val="E8912D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3657600" y="2642616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Telemetry: YANG-Push → TFS KPI/Kafka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3465576" y="3072384"/>
            <a:ext cx="91440" cy="91440"/>
          </a:xfrm>
          <a:prstGeom prst="ellipse">
            <a:avLst/>
          </a:prstGeom>
          <a:solidFill>
            <a:srgbClr val="E8912D"/>
          </a:solidFill>
          <a:ln w="12700">
            <a:solidFill>
              <a:srgbClr val="E8912D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3657600" y="298094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Post-commit verify + rollback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3465576" y="3410712"/>
            <a:ext cx="91440" cy="91440"/>
          </a:xfrm>
          <a:prstGeom prst="ellipse">
            <a:avLst/>
          </a:prstGeom>
          <a:solidFill>
            <a:srgbClr val="E8912D"/>
          </a:solidFill>
          <a:ln w="12700">
            <a:solidFill>
              <a:srgbClr val="E8912D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3657600" y="331927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Pluggable parsers: Gemini · Qwen · Claude</a:t>
            </a:r>
            <a:endParaRPr lang="en-US" sz="1000" dirty="0"/>
          </a:p>
        </p:txBody>
      </p:sp>
      <p:sp>
        <p:nvSpPr>
          <p:cNvPr id="38" name="Shape 34"/>
          <p:cNvSpPr/>
          <p:nvPr/>
        </p:nvSpPr>
        <p:spPr>
          <a:xfrm>
            <a:off x="3465576" y="3749040"/>
            <a:ext cx="91440" cy="91440"/>
          </a:xfrm>
          <a:prstGeom prst="ellipse">
            <a:avLst/>
          </a:prstGeom>
          <a:solidFill>
            <a:srgbClr val="E8912D"/>
          </a:solidFill>
          <a:ln w="12700">
            <a:solidFill>
              <a:srgbClr val="E8912D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3657600" y="365760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real loop time</a:t>
            </a:r>
            <a:endParaRPr lang="en-US" sz="1000" dirty="0"/>
          </a:p>
        </p:txBody>
      </p:sp>
      <p:sp>
        <p:nvSpPr>
          <p:cNvPr id="40" name="Shape 36"/>
          <p:cNvSpPr/>
          <p:nvPr/>
        </p:nvSpPr>
        <p:spPr>
          <a:xfrm>
            <a:off x="3383280" y="4096512"/>
            <a:ext cx="237744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3502152" y="4096512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9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Exit: one storm scenario closes the loop on hardware</a:t>
            </a:r>
            <a:endParaRPr lang="en-US" sz="950" dirty="0"/>
          </a:p>
        </p:txBody>
      </p:sp>
      <p:sp>
        <p:nvSpPr>
          <p:cNvPr id="42" name="Shape 38"/>
          <p:cNvSpPr/>
          <p:nvPr/>
        </p:nvSpPr>
        <p:spPr>
          <a:xfrm>
            <a:off x="6035040" y="1188720"/>
            <a:ext cx="2651760" cy="3611880"/>
          </a:xfrm>
          <a:prstGeom prst="roundRect">
            <a:avLst>
              <a:gd name="adj" fmla="val 2759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6199632" y="1335024"/>
            <a:ext cx="420624" cy="420624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pic>
        <p:nvPicPr>
          <p:cNvPr id="4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4788" y="1440180"/>
            <a:ext cx="210312" cy="210312"/>
          </a:xfrm>
          <a:prstGeom prst="rect">
            <a:avLst/>
          </a:prstGeom>
        </p:spPr>
      </p:pic>
      <p:sp>
        <p:nvSpPr>
          <p:cNvPr id="45" name="Text 40"/>
          <p:cNvSpPr txBox="1"/>
          <p:nvPr/>
        </p:nvSpPr>
        <p:spPr>
          <a:xfrm>
            <a:off x="6729984" y="1316736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B1D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Standards &amp; AI/ML</a:t>
            </a:r>
            <a:endParaRPr lang="en-US" sz="1200" dirty="0"/>
          </a:p>
        </p:txBody>
      </p:sp>
      <p:sp>
        <p:nvSpPr>
          <p:cNvPr id="46" name="Text 41"/>
          <p:cNvSpPr txBox="1"/>
          <p:nvPr/>
        </p:nvSpPr>
        <p:spPr>
          <a:xfrm>
            <a:off x="6729984" y="1572768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7C5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2026–27</a:t>
            </a:r>
            <a:endParaRPr lang="en-US" sz="900" dirty="0"/>
          </a:p>
        </p:txBody>
      </p:sp>
      <p:sp>
        <p:nvSpPr>
          <p:cNvPr id="47" name="Shape 42"/>
          <p:cNvSpPr/>
          <p:nvPr/>
        </p:nvSpPr>
        <p:spPr>
          <a:xfrm>
            <a:off x="6254496" y="2057400"/>
            <a:ext cx="91440" cy="914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48" name="Text 43"/>
          <p:cNvSpPr txBox="1"/>
          <p:nvPr/>
        </p:nvSpPr>
        <p:spPr>
          <a:xfrm>
            <a:off x="6446520" y="19659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Expanded transport skill bank</a:t>
            </a:r>
            <a:endParaRPr lang="en-US" sz="1000" dirty="0"/>
          </a:p>
        </p:txBody>
      </p:sp>
      <p:sp>
        <p:nvSpPr>
          <p:cNvPr id="49" name="Shape 44"/>
          <p:cNvSpPr/>
          <p:nvPr/>
        </p:nvSpPr>
        <p:spPr>
          <a:xfrm>
            <a:off x="6254496" y="2395728"/>
            <a:ext cx="91440" cy="914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50" name="Text 45"/>
          <p:cNvSpPr txBox="1"/>
          <p:nvPr/>
        </p:nvSpPr>
        <p:spPr>
          <a:xfrm>
            <a:off x="6446520" y="230428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8345 topology into ns-3</a:t>
            </a:r>
            <a:endParaRPr lang="en-US" sz="1000" dirty="0"/>
          </a:p>
        </p:txBody>
      </p:sp>
      <p:sp>
        <p:nvSpPr>
          <p:cNvPr id="51" name="Shape 46"/>
          <p:cNvSpPr/>
          <p:nvPr/>
        </p:nvSpPr>
        <p:spPr>
          <a:xfrm>
            <a:off x="6254496" y="2734056"/>
            <a:ext cx="91440" cy="914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52" name="Text 47"/>
          <p:cNvSpPr txBox="1"/>
          <p:nvPr/>
        </p:nvSpPr>
        <p:spPr>
          <a:xfrm>
            <a:off x="6446520" y="2642616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Y.3092 NDT-m / NDT-p split</a:t>
            </a:r>
            <a:endParaRPr lang="en-US" sz="1000" dirty="0"/>
          </a:p>
        </p:txBody>
      </p:sp>
      <p:sp>
        <p:nvSpPr>
          <p:cNvPr id="53" name="Shape 48"/>
          <p:cNvSpPr/>
          <p:nvPr/>
        </p:nvSpPr>
        <p:spPr>
          <a:xfrm>
            <a:off x="6254496" y="3072384"/>
            <a:ext cx="91440" cy="914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54" name="Text 49"/>
          <p:cNvSpPr txBox="1"/>
          <p:nvPr/>
        </p:nvSpPr>
        <p:spPr>
          <a:xfrm>
            <a:off x="6446520" y="298094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ns3-ai Gym env for RL agents</a:t>
            </a:r>
            <a:endParaRPr lang="en-US" sz="1000" dirty="0"/>
          </a:p>
        </p:txBody>
      </p:sp>
      <p:sp>
        <p:nvSpPr>
          <p:cNvPr id="55" name="Shape 50"/>
          <p:cNvSpPr/>
          <p:nvPr/>
        </p:nvSpPr>
        <p:spPr>
          <a:xfrm>
            <a:off x="6254496" y="3410712"/>
            <a:ext cx="91440" cy="914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56" name="Text 51"/>
          <p:cNvSpPr txBox="1"/>
          <p:nvPr/>
        </p:nvSpPr>
        <p:spPr>
          <a:xfrm>
            <a:off x="6446520" y="331927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 28.105 + Y.3181 model gating</a:t>
            </a:r>
            <a:endParaRPr lang="en-US" sz="1000" dirty="0"/>
          </a:p>
        </p:txBody>
      </p:sp>
      <p:sp>
        <p:nvSpPr>
          <p:cNvPr id="57" name="Shape 52"/>
          <p:cNvSpPr/>
          <p:nvPr/>
        </p:nvSpPr>
        <p:spPr>
          <a:xfrm>
            <a:off x="6254496" y="3749040"/>
            <a:ext cx="91440" cy="914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58" name="Text 53"/>
          <p:cNvSpPr txBox="1"/>
          <p:nvPr/>
        </p:nvSpPr>
        <p:spPr>
          <a:xfrm>
            <a:off x="6446520" y="365760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Rel-20 NDT, Q.SDTN</a:t>
            </a:r>
            <a:endParaRPr lang="en-US" sz="1000" dirty="0"/>
          </a:p>
        </p:txBody>
      </p:sp>
      <p:sp>
        <p:nvSpPr>
          <p:cNvPr id="59" name="Shape 54"/>
          <p:cNvSpPr/>
          <p:nvPr/>
        </p:nvSpPr>
        <p:spPr>
          <a:xfrm>
            <a:off x="6172200" y="4096512"/>
            <a:ext cx="237744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Text 55"/>
          <p:cNvSpPr txBox="1"/>
          <p:nvPr/>
        </p:nvSpPr>
        <p:spPr>
          <a:xfrm>
            <a:off x="6291072" y="4096512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5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Exit: ML policies validated in the twin before deploy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FA3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real foundation, an honest gap list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14304F"/>
          </a:solidFill>
          <a:ln w="12700">
            <a:solidFill>
              <a:srgbClr val="1430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4173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C5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 · 1,143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0116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D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intents parsed · configs applied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246120" y="132588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14304F"/>
          </a:solidFill>
          <a:ln w="12700">
            <a:solidFill>
              <a:srgbClr val="1430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14173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9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22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20116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D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twin tests passing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035040" y="132588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14304F"/>
          </a:solidFill>
          <a:ln w="12700">
            <a:solidFill>
              <a:srgbClr val="1430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17920" y="14173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2A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steps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20116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D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RESTCONF stage → commit → discard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8346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A3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4 weeks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103120" y="283464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label mocks, fix error handling and key contract, live read-back, secrets.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40156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A3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2103120" y="3401568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2: NDTJob what-if, KPI-based gates, telemetry, verify and rollback.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3968496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A3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103120" y="3968496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time on cersrv-029 and the MH-T261 to measure the real loop.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CER-Intent Digital Twin: As-Built</dc:title>
  <dc:subject>PptxGenJS Presentation</dc:subject>
  <dc:creator>PptxGenJS</dc:creator>
  <cp:lastModifiedBy>PptxGenJS</cp:lastModifiedBy>
  <cp:revision>1</cp:revision>
  <dcterms:created xsi:type="dcterms:W3CDTF">2026-09-30T13:22:20Z</dcterms:created>
  <dcterms:modified xsi:type="dcterms:W3CDTF">2026-09-30T13:22:20Z</dcterms:modified>
</cp:coreProperties>
</file>